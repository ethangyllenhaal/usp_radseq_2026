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8" r:id="rId3"/>
    <p:sldId id="257" r:id="rId4"/>
    <p:sldId id="259" r:id="rId5"/>
    <p:sldId id="266" r:id="rId6"/>
    <p:sldId id="260" r:id="rId7"/>
    <p:sldId id="261" r:id="rId8"/>
    <p:sldId id="263" r:id="rId9"/>
    <p:sldId id="264" r:id="rId10"/>
    <p:sldId id="262" r:id="rId11"/>
    <p:sldId id="280" r:id="rId12"/>
    <p:sldId id="267" r:id="rId13"/>
    <p:sldId id="268" r:id="rId14"/>
    <p:sldId id="269" r:id="rId15"/>
    <p:sldId id="279" r:id="rId16"/>
    <p:sldId id="270" r:id="rId17"/>
    <p:sldId id="271" r:id="rId18"/>
    <p:sldId id="272" r:id="rId19"/>
    <p:sldId id="273" r:id="rId20"/>
    <p:sldId id="278" r:id="rId21"/>
    <p:sldId id="274" r:id="rId22"/>
    <p:sldId id="275" r:id="rId23"/>
    <p:sldId id="364" r:id="rId24"/>
    <p:sldId id="276" r:id="rId25"/>
    <p:sldId id="27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359" autoAdjust="0"/>
  </p:normalViewPr>
  <p:slideViewPr>
    <p:cSldViewPr snapToGrid="0">
      <p:cViewPr>
        <p:scale>
          <a:sx n="66" d="100"/>
          <a:sy n="66" d="100"/>
        </p:scale>
        <p:origin x="74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EDAD82-4A91-4FCD-8377-229631DED7F6}" type="datetimeFigureOut">
              <a:rPr lang="en-US" smtClean="0"/>
              <a:t>7/20/2026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BBE17A-011E-42C8-B886-9AAF15091A83}" type="slidenum">
              <a:rPr lang="en-US" smtClean="0"/>
              <a:t>‹#›</a:t>
            </a:fld>
            <a:endParaRPr lang="en-US"/>
          </a:p>
        </p:txBody>
      </p:sp>
    </p:spTree>
    <p:extLst>
      <p:ext uri="{BB962C8B-B14F-4D97-AF65-F5344CB8AC3E}">
        <p14:creationId xmlns:p14="http://schemas.microsoft.com/office/powerpoint/2010/main" val="2995966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Framed around my personal background, the kinds of analyses possible with different scales of sequencing. Single genes are useful for application like screening for parasites and large scale low cost analyses like parentage analysis. However, even these are being rolled into high throughput approaches, such as metabarcoding. Partial genomes, or reduced representation sequencing, are used for many of the more basic descriptive measures of how populations are related and have evolved, and these kinds of applications were the focus of my PhD work. Full genomes do offer a few key additional applications we likely won’t have time to cover here, but I am happy to discuss them further.</a:t>
            </a:r>
          </a:p>
        </p:txBody>
      </p:sp>
      <p:sp>
        <p:nvSpPr>
          <p:cNvPr id="4" name="Slide Number Placeholder 3"/>
          <p:cNvSpPr>
            <a:spLocks noGrp="1"/>
          </p:cNvSpPr>
          <p:nvPr>
            <p:ph type="sldNum" sz="quarter" idx="5"/>
          </p:nvPr>
        </p:nvSpPr>
        <p:spPr/>
        <p:txBody>
          <a:bodyPr/>
          <a:lstStyle/>
          <a:p>
            <a:fld id="{11BBE17A-011E-42C8-B886-9AAF15091A83}" type="slidenum">
              <a:rPr lang="en-US" smtClean="0"/>
              <a:t>3</a:t>
            </a:fld>
            <a:endParaRPr lang="en-US"/>
          </a:p>
        </p:txBody>
      </p:sp>
    </p:spTree>
    <p:extLst>
      <p:ext uri="{BB962C8B-B14F-4D97-AF65-F5344CB8AC3E}">
        <p14:creationId xmlns:p14="http://schemas.microsoft.com/office/powerpoint/2010/main" val="32826443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focus on analyses that are well suited for reduced representation methods, and will run most of the ones outlined here.</a:t>
            </a:r>
          </a:p>
        </p:txBody>
      </p:sp>
      <p:sp>
        <p:nvSpPr>
          <p:cNvPr id="4" name="Slide Number Placeholder 3"/>
          <p:cNvSpPr>
            <a:spLocks noGrp="1"/>
          </p:cNvSpPr>
          <p:nvPr>
            <p:ph type="sldNum" sz="quarter" idx="5"/>
          </p:nvPr>
        </p:nvSpPr>
        <p:spPr/>
        <p:txBody>
          <a:bodyPr/>
          <a:lstStyle/>
          <a:p>
            <a:fld id="{11BBE17A-011E-42C8-B886-9AAF15091A83}" type="slidenum">
              <a:rPr lang="en-US" smtClean="0"/>
              <a:t>4</a:t>
            </a:fld>
            <a:endParaRPr lang="en-US"/>
          </a:p>
        </p:txBody>
      </p:sp>
    </p:spTree>
    <p:extLst>
      <p:ext uri="{BB962C8B-B14F-4D97-AF65-F5344CB8AC3E}">
        <p14:creationId xmlns:p14="http://schemas.microsoft.com/office/powerpoint/2010/main" val="1410789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read sequencing is the common technology for many of the analyses we will discuss during this workshop. It always consistent of taking small pieces of the genome, making them readable to a sequencer, aligning or assembling those fragments, determining what variants are real, and analyzing those variants.</a:t>
            </a:r>
          </a:p>
        </p:txBody>
      </p:sp>
      <p:sp>
        <p:nvSpPr>
          <p:cNvPr id="4" name="Slide Number Placeholder 3"/>
          <p:cNvSpPr>
            <a:spLocks noGrp="1"/>
          </p:cNvSpPr>
          <p:nvPr>
            <p:ph type="sldNum" sz="quarter" idx="5"/>
          </p:nvPr>
        </p:nvSpPr>
        <p:spPr/>
        <p:txBody>
          <a:bodyPr/>
          <a:lstStyle/>
          <a:p>
            <a:fld id="{11BBE17A-011E-42C8-B886-9AAF15091A83}" type="slidenum">
              <a:rPr lang="en-US" smtClean="0"/>
              <a:t>5</a:t>
            </a:fld>
            <a:endParaRPr lang="en-US"/>
          </a:p>
        </p:txBody>
      </p:sp>
    </p:spTree>
    <p:extLst>
      <p:ext uri="{BB962C8B-B14F-4D97-AF65-F5344CB8AC3E}">
        <p14:creationId xmlns:p14="http://schemas.microsoft.com/office/powerpoint/2010/main" val="232994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Phylogenomics</a:t>
            </a:r>
            <a:r>
              <a:rPr lang="en-US" dirty="0"/>
              <a:t> can refer to the phylogeography scale questions we will discuss here, and similar methods can be applied across scales. However, where it really shines is enabling confidence in untangling evolutionary histories at deeper time scales. For reasons we’ll discuss, these applications are not where </a:t>
            </a:r>
            <a:r>
              <a:rPr lang="en-US" dirty="0" err="1"/>
              <a:t>RADseq</a:t>
            </a:r>
            <a:r>
              <a:rPr lang="en-US" dirty="0"/>
              <a:t> shines.</a:t>
            </a:r>
          </a:p>
        </p:txBody>
      </p:sp>
      <p:sp>
        <p:nvSpPr>
          <p:cNvPr id="4" name="Slide Number Placeholder 3"/>
          <p:cNvSpPr>
            <a:spLocks noGrp="1"/>
          </p:cNvSpPr>
          <p:nvPr>
            <p:ph type="sldNum" sz="quarter" idx="5"/>
          </p:nvPr>
        </p:nvSpPr>
        <p:spPr/>
        <p:txBody>
          <a:bodyPr/>
          <a:lstStyle/>
          <a:p>
            <a:fld id="{11BBE17A-011E-42C8-B886-9AAF15091A83}" type="slidenum">
              <a:rPr lang="en-US" smtClean="0"/>
              <a:t>6</a:t>
            </a:fld>
            <a:endParaRPr lang="en-US"/>
          </a:p>
        </p:txBody>
      </p:sp>
    </p:spTree>
    <p:extLst>
      <p:ext uri="{BB962C8B-B14F-4D97-AF65-F5344CB8AC3E}">
        <p14:creationId xmlns:p14="http://schemas.microsoft.com/office/powerpoint/2010/main" val="24895196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aspect </a:t>
            </a:r>
            <a:r>
              <a:rPr lang="en-US" dirty="0" err="1"/>
              <a:t>RADseq</a:t>
            </a:r>
            <a:r>
              <a:rPr lang="en-US" dirty="0"/>
              <a:t> is best suited for is documenting critical, fundamental information about how populations are connected and related. I view these phylogeographic analyses as including ones of population structure and detection of hybrids, as well as tests for longer-term gene flow.</a:t>
            </a:r>
          </a:p>
        </p:txBody>
      </p:sp>
      <p:sp>
        <p:nvSpPr>
          <p:cNvPr id="4" name="Slide Number Placeholder 3"/>
          <p:cNvSpPr>
            <a:spLocks noGrp="1"/>
          </p:cNvSpPr>
          <p:nvPr>
            <p:ph type="sldNum" sz="quarter" idx="5"/>
          </p:nvPr>
        </p:nvSpPr>
        <p:spPr/>
        <p:txBody>
          <a:bodyPr/>
          <a:lstStyle/>
          <a:p>
            <a:fld id="{11BBE17A-011E-42C8-B886-9AAF15091A83}" type="slidenum">
              <a:rPr lang="en-US" smtClean="0"/>
              <a:t>7</a:t>
            </a:fld>
            <a:endParaRPr lang="en-US"/>
          </a:p>
        </p:txBody>
      </p:sp>
    </p:spTree>
    <p:extLst>
      <p:ext uri="{BB962C8B-B14F-4D97-AF65-F5344CB8AC3E}">
        <p14:creationId xmlns:p14="http://schemas.microsoft.com/office/powerpoint/2010/main" val="366567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RADSeq</a:t>
            </a:r>
            <a:r>
              <a:rPr lang="en-US" dirty="0"/>
              <a:t> also works surprisingly well in getting broad scale senses of how divergence is distributed across the genome, with these “Manhattan” plots, named after the striking skyline of a US city. In the left example, you can see what the divergence between whistler populations is concentrated in one region on the Z chromosome. Although most RAD datasets are too small for finer scale analyses, certain choices can enable more fine scale analyses, locating fine details of peaks and allowing genome-wide association studies (with some caveats).</a:t>
            </a:r>
          </a:p>
        </p:txBody>
      </p:sp>
      <p:sp>
        <p:nvSpPr>
          <p:cNvPr id="4" name="Slide Number Placeholder 3"/>
          <p:cNvSpPr>
            <a:spLocks noGrp="1"/>
          </p:cNvSpPr>
          <p:nvPr>
            <p:ph type="sldNum" sz="quarter" idx="5"/>
          </p:nvPr>
        </p:nvSpPr>
        <p:spPr/>
        <p:txBody>
          <a:bodyPr/>
          <a:lstStyle/>
          <a:p>
            <a:fld id="{11BBE17A-011E-42C8-B886-9AAF15091A83}" type="slidenum">
              <a:rPr lang="en-US" smtClean="0"/>
              <a:t>8</a:t>
            </a:fld>
            <a:endParaRPr lang="en-US"/>
          </a:p>
        </p:txBody>
      </p:sp>
    </p:spTree>
    <p:extLst>
      <p:ext uri="{BB962C8B-B14F-4D97-AF65-F5344CB8AC3E}">
        <p14:creationId xmlns:p14="http://schemas.microsoft.com/office/powerpoint/2010/main" val="2141102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metrics of genetic diversity are also easily determined with reduced representation data. Here we looked at how island size shaped a wide array of metrics. Many of these are not accessible to </a:t>
            </a:r>
            <a:r>
              <a:rPr lang="en-US" dirty="0" err="1"/>
              <a:t>RADseq</a:t>
            </a:r>
            <a:r>
              <a:rPr lang="en-US" dirty="0"/>
              <a:t>, but the most fundamental measure is possible with RAD (and whoever chooses the white-eyes will see they get the same results).</a:t>
            </a:r>
          </a:p>
        </p:txBody>
      </p:sp>
      <p:sp>
        <p:nvSpPr>
          <p:cNvPr id="4" name="Slide Number Placeholder 3"/>
          <p:cNvSpPr>
            <a:spLocks noGrp="1"/>
          </p:cNvSpPr>
          <p:nvPr>
            <p:ph type="sldNum" sz="quarter" idx="5"/>
          </p:nvPr>
        </p:nvSpPr>
        <p:spPr/>
        <p:txBody>
          <a:bodyPr/>
          <a:lstStyle/>
          <a:p>
            <a:fld id="{11BBE17A-011E-42C8-B886-9AAF15091A83}" type="slidenum">
              <a:rPr lang="en-US" smtClean="0"/>
              <a:t>9</a:t>
            </a:fld>
            <a:endParaRPr lang="en-US"/>
          </a:p>
        </p:txBody>
      </p:sp>
    </p:spTree>
    <p:extLst>
      <p:ext uri="{BB962C8B-B14F-4D97-AF65-F5344CB8AC3E}">
        <p14:creationId xmlns:p14="http://schemas.microsoft.com/office/powerpoint/2010/main" val="38234113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 applicable to island birds (and the one analysis we won’t run here), but landscape genetics describe how diversity and divergence are distributed in a spatially explicit way. You can see here how barriers to gene flow in an African bulbul relate to decreases in genetic diversity. It also highlights that a refugial area harbors the highest diversity.</a:t>
            </a:r>
          </a:p>
        </p:txBody>
      </p:sp>
      <p:sp>
        <p:nvSpPr>
          <p:cNvPr id="4" name="Slide Number Placeholder 3"/>
          <p:cNvSpPr>
            <a:spLocks noGrp="1"/>
          </p:cNvSpPr>
          <p:nvPr>
            <p:ph type="sldNum" sz="quarter" idx="5"/>
          </p:nvPr>
        </p:nvSpPr>
        <p:spPr/>
        <p:txBody>
          <a:bodyPr/>
          <a:lstStyle/>
          <a:p>
            <a:fld id="{11BBE17A-011E-42C8-B886-9AAF15091A83}" type="slidenum">
              <a:rPr lang="en-US" smtClean="0"/>
              <a:t>10</a:t>
            </a:fld>
            <a:endParaRPr lang="en-US"/>
          </a:p>
        </p:txBody>
      </p:sp>
    </p:spTree>
    <p:extLst>
      <p:ext uri="{BB962C8B-B14F-4D97-AF65-F5344CB8AC3E}">
        <p14:creationId xmlns:p14="http://schemas.microsoft.com/office/powerpoint/2010/main" val="973997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53AFF-A782-D0CC-9C68-B3AFE1E5AF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7FE529-B849-9068-1AD0-BF0CDBD00F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45E00F-5669-E3CB-198A-7ABBB8A899BE}"/>
              </a:ext>
            </a:extLst>
          </p:cNvPr>
          <p:cNvSpPr>
            <a:spLocks noGrp="1"/>
          </p:cNvSpPr>
          <p:nvPr>
            <p:ph type="body" idx="1"/>
          </p:nvPr>
        </p:nvSpPr>
        <p:spPr/>
        <p:txBody>
          <a:bodyPr/>
          <a:lstStyle/>
          <a:p>
            <a:r>
              <a:rPr lang="en-US" dirty="0"/>
              <a:t>Short read sequencing is the common technology for many of the analyses we will discuss during this workshop. It always consistent of taking small pieces of the genome, making them readable to a sequencer, aligning or assembling those fragments, determining what variants are real, and analyzing those variants.</a:t>
            </a:r>
          </a:p>
        </p:txBody>
      </p:sp>
      <p:sp>
        <p:nvSpPr>
          <p:cNvPr id="4" name="Slide Number Placeholder 3">
            <a:extLst>
              <a:ext uri="{FF2B5EF4-FFF2-40B4-BE49-F238E27FC236}">
                <a16:creationId xmlns:a16="http://schemas.microsoft.com/office/drawing/2014/main" id="{B55FC3DC-C72A-C5EA-2A71-B66CB725A04A}"/>
              </a:ext>
            </a:extLst>
          </p:cNvPr>
          <p:cNvSpPr>
            <a:spLocks noGrp="1"/>
          </p:cNvSpPr>
          <p:nvPr>
            <p:ph type="sldNum" sz="quarter" idx="5"/>
          </p:nvPr>
        </p:nvSpPr>
        <p:spPr/>
        <p:txBody>
          <a:bodyPr/>
          <a:lstStyle/>
          <a:p>
            <a:fld id="{11BBE17A-011E-42C8-B886-9AAF15091A83}" type="slidenum">
              <a:rPr lang="en-US" smtClean="0"/>
              <a:t>11</a:t>
            </a:fld>
            <a:endParaRPr lang="en-US"/>
          </a:p>
        </p:txBody>
      </p:sp>
    </p:spTree>
    <p:extLst>
      <p:ext uri="{BB962C8B-B14F-4D97-AF65-F5344CB8AC3E}">
        <p14:creationId xmlns:p14="http://schemas.microsoft.com/office/powerpoint/2010/main" val="29637639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 genome resequencing is the most single method, randomly fragmenting the genome and aligning it to a known reference. However, it is costly and time intensive to analyze. For many reasons, it also winds up being FAR overkill for many questions (especially the most basic ones!). Restricting that to only important information is what reduced representation is all about. What are some ways to do that? Target capture is one, enriching for the focal regions and minimizing the number of other fragments that don’t many probes designed to match to targets’ genomes. Another way is to make sure you only get a subset of possible fragments.</a:t>
            </a:r>
          </a:p>
        </p:txBody>
      </p:sp>
      <p:sp>
        <p:nvSpPr>
          <p:cNvPr id="4" name="Slide Number Placeholder 3"/>
          <p:cNvSpPr>
            <a:spLocks noGrp="1"/>
          </p:cNvSpPr>
          <p:nvPr>
            <p:ph type="sldNum" sz="quarter" idx="5"/>
          </p:nvPr>
        </p:nvSpPr>
        <p:spPr/>
        <p:txBody>
          <a:bodyPr/>
          <a:lstStyle/>
          <a:p>
            <a:fld id="{11BBE17A-011E-42C8-B886-9AAF15091A83}" type="slidenum">
              <a:rPr lang="en-US" smtClean="0"/>
              <a:t>12</a:t>
            </a:fld>
            <a:endParaRPr lang="en-US"/>
          </a:p>
        </p:txBody>
      </p:sp>
    </p:spTree>
    <p:extLst>
      <p:ext uri="{BB962C8B-B14F-4D97-AF65-F5344CB8AC3E}">
        <p14:creationId xmlns:p14="http://schemas.microsoft.com/office/powerpoint/2010/main" val="41163665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RADseq</a:t>
            </a:r>
            <a:r>
              <a:rPr lang="en-US" dirty="0"/>
              <a:t> is the clever way scientists came up with to achieve these goals. It relies on enzymes that cut specific DNA sequences in specific ways, then only selecting fragments of a certain size.</a:t>
            </a:r>
          </a:p>
        </p:txBody>
      </p:sp>
      <p:sp>
        <p:nvSpPr>
          <p:cNvPr id="4" name="Slide Number Placeholder 3"/>
          <p:cNvSpPr>
            <a:spLocks noGrp="1"/>
          </p:cNvSpPr>
          <p:nvPr>
            <p:ph type="sldNum" sz="quarter" idx="5"/>
          </p:nvPr>
        </p:nvSpPr>
        <p:spPr/>
        <p:txBody>
          <a:bodyPr/>
          <a:lstStyle/>
          <a:p>
            <a:fld id="{11BBE17A-011E-42C8-B886-9AAF15091A83}" type="slidenum">
              <a:rPr lang="en-US" smtClean="0"/>
              <a:t>13</a:t>
            </a:fld>
            <a:endParaRPr lang="en-US"/>
          </a:p>
        </p:txBody>
      </p:sp>
    </p:spTree>
    <p:extLst>
      <p:ext uri="{BB962C8B-B14F-4D97-AF65-F5344CB8AC3E}">
        <p14:creationId xmlns:p14="http://schemas.microsoft.com/office/powerpoint/2010/main" val="3822422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many ways of achieving this. Two I’ll focus on are what we are using and a more “modern” version. The protocol we use involves a digest with a single enzyme, then adaptors are attached to the ends of those molecules, which are specific to a given sample. Those samples are then pooled, and all undergo additional shearing and size selection. At the end, those molecules are amplified and sequenced. The other is </a:t>
            </a:r>
            <a:r>
              <a:rPr lang="en-US" dirty="0" err="1"/>
              <a:t>ddRAD</a:t>
            </a:r>
            <a:r>
              <a:rPr lang="en-US" dirty="0"/>
              <a:t>. For that one, two enzymes are used for the digest, and their cut sites are used to attach sample-specific adapters. After those samples are combined, we pick the sizes we are interested in and amplify them.</a:t>
            </a:r>
          </a:p>
        </p:txBody>
      </p:sp>
      <p:sp>
        <p:nvSpPr>
          <p:cNvPr id="4" name="Slide Number Placeholder 3"/>
          <p:cNvSpPr>
            <a:spLocks noGrp="1"/>
          </p:cNvSpPr>
          <p:nvPr>
            <p:ph type="sldNum" sz="quarter" idx="5"/>
          </p:nvPr>
        </p:nvSpPr>
        <p:spPr/>
        <p:txBody>
          <a:bodyPr/>
          <a:lstStyle/>
          <a:p>
            <a:fld id="{11BBE17A-011E-42C8-B886-9AAF15091A83}" type="slidenum">
              <a:rPr lang="en-US" smtClean="0"/>
              <a:t>14</a:t>
            </a:fld>
            <a:endParaRPr lang="en-US"/>
          </a:p>
        </p:txBody>
      </p:sp>
    </p:spTree>
    <p:extLst>
      <p:ext uri="{BB962C8B-B14F-4D97-AF65-F5344CB8AC3E}">
        <p14:creationId xmlns:p14="http://schemas.microsoft.com/office/powerpoint/2010/main" val="33846553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DC9BF-E579-FA55-6D03-3BDAFAF183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8D86D-B807-25B4-43B3-FD24DFC5CF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517689-A2AB-0A6D-153D-F80A7455F604}"/>
              </a:ext>
            </a:extLst>
          </p:cNvPr>
          <p:cNvSpPr>
            <a:spLocks noGrp="1"/>
          </p:cNvSpPr>
          <p:nvPr>
            <p:ph type="body" idx="1"/>
          </p:nvPr>
        </p:nvSpPr>
        <p:spPr/>
        <p:txBody>
          <a:bodyPr/>
          <a:lstStyle/>
          <a:p>
            <a:r>
              <a:rPr lang="en-US" dirty="0"/>
              <a:t>There are many ways of achieving this. Two I’ll focus on are what we are using and a more “modern” version. The protocol we use involves a digest with a single enzyme, then adaptors are attached to the ends of those molecules, which are specific to a given sample. Those samples are then pooled, and all undergo additional shearing and size selection. At the end, those molecules are amplified and sequenced. The other is </a:t>
            </a:r>
            <a:r>
              <a:rPr lang="en-US" dirty="0" err="1"/>
              <a:t>ddRAD</a:t>
            </a:r>
            <a:r>
              <a:rPr lang="en-US" dirty="0"/>
              <a:t>. For that one, two enzymes are used for the digest, and their cut sites are used to attach sample-specific adapters. After those samples are combined, we pick the sizes we are interested in and amplify them.</a:t>
            </a:r>
          </a:p>
        </p:txBody>
      </p:sp>
      <p:sp>
        <p:nvSpPr>
          <p:cNvPr id="4" name="Slide Number Placeholder 3">
            <a:extLst>
              <a:ext uri="{FF2B5EF4-FFF2-40B4-BE49-F238E27FC236}">
                <a16:creationId xmlns:a16="http://schemas.microsoft.com/office/drawing/2014/main" id="{77FB054F-5DF2-1442-C1D9-643E8B46BB9C}"/>
              </a:ext>
            </a:extLst>
          </p:cNvPr>
          <p:cNvSpPr>
            <a:spLocks noGrp="1"/>
          </p:cNvSpPr>
          <p:nvPr>
            <p:ph type="sldNum" sz="quarter" idx="5"/>
          </p:nvPr>
        </p:nvSpPr>
        <p:spPr/>
        <p:txBody>
          <a:bodyPr/>
          <a:lstStyle/>
          <a:p>
            <a:fld id="{11BBE17A-011E-42C8-B886-9AAF15091A83}" type="slidenum">
              <a:rPr lang="en-US" smtClean="0"/>
              <a:t>15</a:t>
            </a:fld>
            <a:endParaRPr lang="en-US"/>
          </a:p>
        </p:txBody>
      </p:sp>
    </p:spTree>
    <p:extLst>
      <p:ext uri="{BB962C8B-B14F-4D97-AF65-F5344CB8AC3E}">
        <p14:creationId xmlns:p14="http://schemas.microsoft.com/office/powerpoint/2010/main" val="3110067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RADSeq</a:t>
            </a:r>
            <a:r>
              <a:rPr lang="en-US" dirty="0"/>
              <a:t> has a lot of benefits. It is cheap, and can allow very high quality for consistent locations in the genome. Its range of protocols also mean there is a very clear tradeoff between number of loci and number of reads per locus. This allows massive comparative datasets to be assembled. One recent one from Fiji focused on the ants that live here.</a:t>
            </a:r>
          </a:p>
        </p:txBody>
      </p:sp>
      <p:sp>
        <p:nvSpPr>
          <p:cNvPr id="4" name="Slide Number Placeholder 3"/>
          <p:cNvSpPr>
            <a:spLocks noGrp="1"/>
          </p:cNvSpPr>
          <p:nvPr>
            <p:ph type="sldNum" sz="quarter" idx="5"/>
          </p:nvPr>
        </p:nvSpPr>
        <p:spPr/>
        <p:txBody>
          <a:bodyPr/>
          <a:lstStyle/>
          <a:p>
            <a:fld id="{11BBE17A-011E-42C8-B886-9AAF15091A83}" type="slidenum">
              <a:rPr lang="en-US" smtClean="0"/>
              <a:t>16</a:t>
            </a:fld>
            <a:endParaRPr lang="en-US"/>
          </a:p>
        </p:txBody>
      </p:sp>
    </p:spTree>
    <p:extLst>
      <p:ext uri="{BB962C8B-B14F-4D97-AF65-F5344CB8AC3E}">
        <p14:creationId xmlns:p14="http://schemas.microsoft.com/office/powerpoint/2010/main" val="4692744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RADSeq</a:t>
            </a:r>
            <a:r>
              <a:rPr lang="en-US" dirty="0"/>
              <a:t> is not perfect. It cannot be used on samples with degraded quality. Additionally, it struggles at deep tine scales. Even if the regions of interest are in all species, mutations in the cut sites can result in ones being missed in select samples. The broader the taxonomic scope, the worse this problem becomes.</a:t>
            </a:r>
          </a:p>
        </p:txBody>
      </p:sp>
      <p:sp>
        <p:nvSpPr>
          <p:cNvPr id="4" name="Slide Number Placeholder 3"/>
          <p:cNvSpPr>
            <a:spLocks noGrp="1"/>
          </p:cNvSpPr>
          <p:nvPr>
            <p:ph type="sldNum" sz="quarter" idx="5"/>
          </p:nvPr>
        </p:nvSpPr>
        <p:spPr/>
        <p:txBody>
          <a:bodyPr/>
          <a:lstStyle/>
          <a:p>
            <a:fld id="{11BBE17A-011E-42C8-B886-9AAF15091A83}" type="slidenum">
              <a:rPr lang="en-US" smtClean="0"/>
              <a:t>17</a:t>
            </a:fld>
            <a:endParaRPr lang="en-US"/>
          </a:p>
        </p:txBody>
      </p:sp>
    </p:spTree>
    <p:extLst>
      <p:ext uri="{BB962C8B-B14F-4D97-AF65-F5344CB8AC3E}">
        <p14:creationId xmlns:p14="http://schemas.microsoft.com/office/powerpoint/2010/main" val="8292267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C9D79-0EE7-6380-35E5-EFC93125AF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346F8-DC78-F5C2-5EEA-4AEA2C9F3F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BFDB10-5212-00F5-8A4B-F9E439CC9A38}"/>
              </a:ext>
            </a:extLst>
          </p:cNvPr>
          <p:cNvSpPr>
            <a:spLocks noGrp="1"/>
          </p:cNvSpPr>
          <p:nvPr>
            <p:ph type="body" idx="1"/>
          </p:nvPr>
        </p:nvSpPr>
        <p:spPr/>
        <p:txBody>
          <a:bodyPr/>
          <a:lstStyle/>
          <a:p>
            <a:r>
              <a:rPr lang="en-US" dirty="0"/>
              <a:t>We’re going to start in the Solomon Islands, an archipelago east of Australia. It is an idea natural laboratory for studying evolution, in part due to its unique geography. It has these four island groups, denoted by different colors. Some of these groups, like </a:t>
            </a:r>
            <a:r>
              <a:rPr lang="en-US" dirty="0" err="1"/>
              <a:t>Bukida</a:t>
            </a:r>
            <a:r>
              <a:rPr lang="en-US" dirty="0"/>
              <a:t> in green, are made up of current colorful islands, that were connected by land exposed during the last ice age in gray.</a:t>
            </a:r>
          </a:p>
        </p:txBody>
      </p:sp>
      <p:sp>
        <p:nvSpPr>
          <p:cNvPr id="4" name="Slide Number Placeholder 3">
            <a:extLst>
              <a:ext uri="{FF2B5EF4-FFF2-40B4-BE49-F238E27FC236}">
                <a16:creationId xmlns:a16="http://schemas.microsoft.com/office/drawing/2014/main" id="{C922CF15-3E3E-B96A-6015-5A810078D3EC}"/>
              </a:ext>
            </a:extLst>
          </p:cNvPr>
          <p:cNvSpPr>
            <a:spLocks noGrp="1"/>
          </p:cNvSpPr>
          <p:nvPr>
            <p:ph type="sldNum" sz="quarter" idx="5"/>
          </p:nvPr>
        </p:nvSpPr>
        <p:spPr/>
        <p:txBody>
          <a:bodyPr/>
          <a:lstStyle/>
          <a:p>
            <a:fld id="{0C2678B2-3A41-4506-B187-ED2BBAF1BAEE}" type="slidenum">
              <a:rPr lang="en-US" smtClean="0"/>
              <a:t>23</a:t>
            </a:fld>
            <a:endParaRPr lang="en-US"/>
          </a:p>
        </p:txBody>
      </p:sp>
    </p:spTree>
    <p:extLst>
      <p:ext uri="{BB962C8B-B14F-4D97-AF65-F5344CB8AC3E}">
        <p14:creationId xmlns:p14="http://schemas.microsoft.com/office/powerpoint/2010/main" val="3788300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03C9C-2ED6-07E2-5187-63CCB8E968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1D277A-038B-673F-4627-ADF83DE4C0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642BEB-104C-39ED-7273-6BDF73559F7D}"/>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5" name="Footer Placeholder 4">
            <a:extLst>
              <a:ext uri="{FF2B5EF4-FFF2-40B4-BE49-F238E27FC236}">
                <a16:creationId xmlns:a16="http://schemas.microsoft.com/office/drawing/2014/main" id="{FBAF42A1-DB42-5F71-7EDA-C82442E0D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023A78-E333-71CD-2D41-FCA8444F3211}"/>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3319228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97225-767F-C323-5C43-E544A73C38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482BBC-A2A3-E886-0002-300022D493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ABD229-AF2F-0677-327E-8DAF0AE5F1CF}"/>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5" name="Footer Placeholder 4">
            <a:extLst>
              <a:ext uri="{FF2B5EF4-FFF2-40B4-BE49-F238E27FC236}">
                <a16:creationId xmlns:a16="http://schemas.microsoft.com/office/drawing/2014/main" id="{89189CE4-29FC-FC2B-3B3C-9F22D1AB70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30D58C-9177-8E3B-7CD7-CC6F2EB40AEC}"/>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2337965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200DE-C7AC-CEE1-5C67-BAF1E4B3EC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A99492-F707-0AF1-90A2-0D010D1BFD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498528-6399-C1CC-1E0F-750B84AB49E4}"/>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5" name="Footer Placeholder 4">
            <a:extLst>
              <a:ext uri="{FF2B5EF4-FFF2-40B4-BE49-F238E27FC236}">
                <a16:creationId xmlns:a16="http://schemas.microsoft.com/office/drawing/2014/main" id="{16E49D72-0B87-711C-2F2B-F736FE0D67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5FE287-9188-0985-0DD5-FCBE672614FC}"/>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507478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78880-F7AB-A1AF-BA71-32BC25F003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DBECC1-A04F-BE53-BAE3-287D478DD0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8F2504-8519-1D66-087A-D6410690B7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3E88D8-4C57-2D0B-FBE1-0C4D3A16F52B}"/>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6" name="Footer Placeholder 5">
            <a:extLst>
              <a:ext uri="{FF2B5EF4-FFF2-40B4-BE49-F238E27FC236}">
                <a16:creationId xmlns:a16="http://schemas.microsoft.com/office/drawing/2014/main" id="{79D8E72A-5DC1-BE0E-DD96-81577DFFEB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5A0AF2-98A4-2E7D-BC56-365F78FBEEF4}"/>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3685689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68984-04BA-5449-9B81-A909A0FBCE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051707-BFD4-6B46-E020-7F1BE906BB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9B8FA0-FBD2-C0DC-57EF-56268657D6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BC8736-2EAD-0683-5FFF-93AD48D030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C52C8A-01FC-253F-1170-AC3F51B8CB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AA93B8-9E72-3054-6CCD-85CCB4139829}"/>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8" name="Footer Placeholder 7">
            <a:extLst>
              <a:ext uri="{FF2B5EF4-FFF2-40B4-BE49-F238E27FC236}">
                <a16:creationId xmlns:a16="http://schemas.microsoft.com/office/drawing/2014/main" id="{0079AFD3-5A50-72DC-3B44-B15257DF7F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C6A861-2F50-63FB-41E4-20BCF707153F}"/>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1215093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DEE4F-DDD0-3508-D3FD-23721D711F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BCA520-90D2-5900-2CE8-8297A56E197F}"/>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4" name="Footer Placeholder 3">
            <a:extLst>
              <a:ext uri="{FF2B5EF4-FFF2-40B4-BE49-F238E27FC236}">
                <a16:creationId xmlns:a16="http://schemas.microsoft.com/office/drawing/2014/main" id="{E790712D-2C92-E280-8039-56B32AAFEF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E1E025-E056-74C6-D982-FADD49F6E512}"/>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3809149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700ADF-7189-4746-5A27-5534D9BC4BC0}"/>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3" name="Footer Placeholder 2">
            <a:extLst>
              <a:ext uri="{FF2B5EF4-FFF2-40B4-BE49-F238E27FC236}">
                <a16:creationId xmlns:a16="http://schemas.microsoft.com/office/drawing/2014/main" id="{333677B9-E138-21A2-28C3-23E66257A0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7513E7-BD02-0CC6-2312-A81C6CD18560}"/>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2861756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324B5-B629-E352-2A5C-A65764C332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D223BE-33E6-0EEF-B15C-D85FFEA182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EB9F4E-9B72-2DFB-F832-4CCCE235C0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5FD08E-23DC-D49B-6243-34BE241CEBD9}"/>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6" name="Footer Placeholder 5">
            <a:extLst>
              <a:ext uri="{FF2B5EF4-FFF2-40B4-BE49-F238E27FC236}">
                <a16:creationId xmlns:a16="http://schemas.microsoft.com/office/drawing/2014/main" id="{6AC684A2-5407-A704-920F-6B8B94194A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FACE16-2690-3C6D-FCA4-C3E7AA72402F}"/>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2980896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8B66A-737B-CBDE-519F-387170E2AD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77FBC2-B41F-501A-708B-F32B24FA76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E3E5A01-1E6C-775F-E6D0-D65B75A423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07599-0952-FB31-3856-C45A37800023}"/>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6" name="Footer Placeholder 5">
            <a:extLst>
              <a:ext uri="{FF2B5EF4-FFF2-40B4-BE49-F238E27FC236}">
                <a16:creationId xmlns:a16="http://schemas.microsoft.com/office/drawing/2014/main" id="{93112A0D-C317-E1A4-EABA-1FDF1F3802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8A2969-6900-ADA2-9316-D9A2945E1353}"/>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464660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86A61-148E-387F-5384-06C3FAA6B8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7D8F97-629D-244A-1A23-1DBABEDABC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9599E9-2437-4F8D-6202-FD0DBCD984A0}"/>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5" name="Footer Placeholder 4">
            <a:extLst>
              <a:ext uri="{FF2B5EF4-FFF2-40B4-BE49-F238E27FC236}">
                <a16:creationId xmlns:a16="http://schemas.microsoft.com/office/drawing/2014/main" id="{B34D7D28-26E7-CF93-4879-24F3238A90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23F103-F0C1-095C-A68F-81CD223A4E84}"/>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1852872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69002C-7B52-4611-B2BF-C1BF37DF3E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2D7E27-91D1-BD36-1CE2-232F9A1D00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C7D49C-FBFA-8F27-ADE4-2B725E15148C}"/>
              </a:ext>
            </a:extLst>
          </p:cNvPr>
          <p:cNvSpPr>
            <a:spLocks noGrp="1"/>
          </p:cNvSpPr>
          <p:nvPr>
            <p:ph type="dt" sz="half" idx="10"/>
          </p:nvPr>
        </p:nvSpPr>
        <p:spPr/>
        <p:txBody>
          <a:bodyPr/>
          <a:lstStyle/>
          <a:p>
            <a:fld id="{5F8D886E-E654-4DF1-A3A6-2277A53517B0}" type="datetimeFigureOut">
              <a:rPr lang="en-US" smtClean="0"/>
              <a:t>7/20/2026</a:t>
            </a:fld>
            <a:endParaRPr lang="en-US"/>
          </a:p>
        </p:txBody>
      </p:sp>
      <p:sp>
        <p:nvSpPr>
          <p:cNvPr id="5" name="Footer Placeholder 4">
            <a:extLst>
              <a:ext uri="{FF2B5EF4-FFF2-40B4-BE49-F238E27FC236}">
                <a16:creationId xmlns:a16="http://schemas.microsoft.com/office/drawing/2014/main" id="{D4696545-C681-2F33-6F91-FF65A9C0A9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20622C-1851-4647-7DB2-1675CABF79E6}"/>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2390989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B45A00-E370-A361-4157-93A5BEA919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066534-883C-7F46-5FE7-D1017D4C54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DCD54F-879E-01CE-4AA2-15688F79AC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8D886E-E654-4DF1-A3A6-2277A53517B0}" type="datetimeFigureOut">
              <a:rPr lang="en-US" smtClean="0"/>
              <a:t>7/20/2026</a:t>
            </a:fld>
            <a:endParaRPr lang="en-US"/>
          </a:p>
        </p:txBody>
      </p:sp>
      <p:sp>
        <p:nvSpPr>
          <p:cNvPr id="5" name="Footer Placeholder 4">
            <a:extLst>
              <a:ext uri="{FF2B5EF4-FFF2-40B4-BE49-F238E27FC236}">
                <a16:creationId xmlns:a16="http://schemas.microsoft.com/office/drawing/2014/main" id="{09C1E8BD-15BC-B84B-9F33-6B985724EE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C1E012D-9AEF-ECEB-9F79-C10A55537F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8C4012-88BB-4B98-8AE4-2BB8371F6952}" type="slidenum">
              <a:rPr lang="en-US" smtClean="0"/>
              <a:t>‹#›</a:t>
            </a:fld>
            <a:endParaRPr lang="en-US"/>
          </a:p>
        </p:txBody>
      </p:sp>
    </p:spTree>
    <p:extLst>
      <p:ext uri="{BB962C8B-B14F-4D97-AF65-F5344CB8AC3E}">
        <p14:creationId xmlns:p14="http://schemas.microsoft.com/office/powerpoint/2010/main" val="2186575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jpeg"/><Relationship Id="rId3" Type="http://schemas.openxmlformats.org/officeDocument/2006/relationships/image" Target="../media/image2.jpeg"/><Relationship Id="rId7" Type="http://schemas.openxmlformats.org/officeDocument/2006/relationships/image" Target="../media/image6.png"/><Relationship Id="rId12" Type="http://schemas.openxmlformats.org/officeDocument/2006/relationships/image" Target="../media/image11.jp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sv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1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19.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5.svg"/></Relationships>
</file>

<file path=ppt/slides/_rels/slide24.xml.rels><?xml version="1.0" encoding="UTF-8" standalone="yes"?>
<Relationships xmlns="http://schemas.openxmlformats.org/package/2006/relationships"><Relationship Id="rId8" Type="http://schemas.openxmlformats.org/officeDocument/2006/relationships/image" Target="../media/image41.jpeg"/><Relationship Id="rId13" Type="http://schemas.openxmlformats.org/officeDocument/2006/relationships/image" Target="../media/image45.jpeg"/><Relationship Id="rId3" Type="http://schemas.openxmlformats.org/officeDocument/2006/relationships/image" Target="../media/image36.jpeg"/><Relationship Id="rId7" Type="http://schemas.openxmlformats.org/officeDocument/2006/relationships/image" Target="../media/image40.jpeg"/><Relationship Id="rId12" Type="http://schemas.openxmlformats.org/officeDocument/2006/relationships/image" Target="../media/image11.jp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39.jpeg"/><Relationship Id="rId11" Type="http://schemas.openxmlformats.org/officeDocument/2006/relationships/image" Target="../media/image44.jpeg"/><Relationship Id="rId5" Type="http://schemas.openxmlformats.org/officeDocument/2006/relationships/image" Target="../media/image38.jpeg"/><Relationship Id="rId10" Type="http://schemas.openxmlformats.org/officeDocument/2006/relationships/image" Target="../media/image43.jpeg"/><Relationship Id="rId4" Type="http://schemas.openxmlformats.org/officeDocument/2006/relationships/image" Target="../media/image37.jpeg"/><Relationship Id="rId9" Type="http://schemas.openxmlformats.org/officeDocument/2006/relationships/image" Target="../media/image42.jpeg"/></Relationships>
</file>

<file path=ppt/slides/_rels/slide25.xml.rels><?xml version="1.0" encoding="UTF-8" standalone="yes"?>
<Relationships xmlns="http://schemas.openxmlformats.org/package/2006/relationships"><Relationship Id="rId8" Type="http://schemas.openxmlformats.org/officeDocument/2006/relationships/image" Target="../media/image41.jpeg"/><Relationship Id="rId13" Type="http://schemas.openxmlformats.org/officeDocument/2006/relationships/image" Target="../media/image45.jpeg"/><Relationship Id="rId3" Type="http://schemas.openxmlformats.org/officeDocument/2006/relationships/image" Target="../media/image36.jpeg"/><Relationship Id="rId7" Type="http://schemas.openxmlformats.org/officeDocument/2006/relationships/image" Target="../media/image40.jpeg"/><Relationship Id="rId12" Type="http://schemas.openxmlformats.org/officeDocument/2006/relationships/image" Target="../media/image11.jp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39.jpeg"/><Relationship Id="rId11" Type="http://schemas.openxmlformats.org/officeDocument/2006/relationships/image" Target="../media/image44.jpeg"/><Relationship Id="rId5" Type="http://schemas.openxmlformats.org/officeDocument/2006/relationships/image" Target="../media/image38.jpeg"/><Relationship Id="rId10" Type="http://schemas.openxmlformats.org/officeDocument/2006/relationships/image" Target="../media/image43.jpeg"/><Relationship Id="rId4" Type="http://schemas.openxmlformats.org/officeDocument/2006/relationships/image" Target="../media/image37.jpeg"/><Relationship Id="rId9" Type="http://schemas.openxmlformats.org/officeDocument/2006/relationships/image" Target="../media/image4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9B03F-C091-E144-388E-E639BA357483}"/>
              </a:ext>
            </a:extLst>
          </p:cNvPr>
          <p:cNvSpPr>
            <a:spLocks noGrp="1"/>
          </p:cNvSpPr>
          <p:nvPr>
            <p:ph type="ctrTitle"/>
          </p:nvPr>
        </p:nvSpPr>
        <p:spPr/>
        <p:txBody>
          <a:bodyPr>
            <a:normAutofit/>
          </a:bodyPr>
          <a:lstStyle/>
          <a:p>
            <a:r>
              <a:rPr lang="en-US" sz="7200" dirty="0">
                <a:latin typeface="Aharoni" panose="02010803020104030203" pitchFamily="2" charset="-79"/>
                <a:cs typeface="Aharoni" panose="02010803020104030203" pitchFamily="2" charset="-79"/>
              </a:rPr>
              <a:t>Introduction and</a:t>
            </a:r>
            <a:br>
              <a:rPr lang="en-US" sz="7200" dirty="0">
                <a:latin typeface="Aharoni" panose="02010803020104030203" pitchFamily="2" charset="-79"/>
                <a:cs typeface="Aharoni" panose="02010803020104030203" pitchFamily="2" charset="-79"/>
              </a:rPr>
            </a:br>
            <a:r>
              <a:rPr lang="en-US" sz="7200" dirty="0">
                <a:latin typeface="Aharoni" panose="02010803020104030203" pitchFamily="2" charset="-79"/>
                <a:cs typeface="Aharoni" panose="02010803020104030203" pitchFamily="2" charset="-79"/>
              </a:rPr>
              <a:t>genomics basics</a:t>
            </a:r>
          </a:p>
        </p:txBody>
      </p:sp>
      <p:sp>
        <p:nvSpPr>
          <p:cNvPr id="3" name="Subtitle 2">
            <a:extLst>
              <a:ext uri="{FF2B5EF4-FFF2-40B4-BE49-F238E27FC236}">
                <a16:creationId xmlns:a16="http://schemas.microsoft.com/office/drawing/2014/main" id="{7FBA0D4C-299D-E73D-F102-E7B2B50F1816}"/>
              </a:ext>
            </a:extLst>
          </p:cNvPr>
          <p:cNvSpPr>
            <a:spLocks noGrp="1"/>
          </p:cNvSpPr>
          <p:nvPr>
            <p:ph type="subTitle" idx="1"/>
          </p:nvPr>
        </p:nvSpPr>
        <p:spPr/>
        <p:txBody>
          <a:bodyPr/>
          <a:lstStyle/>
          <a:p>
            <a:r>
              <a:rPr lang="en-US" dirty="0">
                <a:latin typeface="Abadi" panose="020B0604020104020204" pitchFamily="34" charset="0"/>
              </a:rPr>
              <a:t>USP </a:t>
            </a:r>
            <a:r>
              <a:rPr lang="en-US" dirty="0" err="1">
                <a:latin typeface="Abadi" panose="020B0604020104020204" pitchFamily="34" charset="0"/>
              </a:rPr>
              <a:t>RADseq</a:t>
            </a:r>
            <a:r>
              <a:rPr lang="en-US" dirty="0">
                <a:latin typeface="Abadi" panose="020B0604020104020204" pitchFamily="34" charset="0"/>
              </a:rPr>
              <a:t> Workshop</a:t>
            </a:r>
          </a:p>
          <a:p>
            <a:r>
              <a:rPr lang="en-US" dirty="0">
                <a:latin typeface="Abadi" panose="020B0604020104020204" pitchFamily="34" charset="0"/>
              </a:rPr>
              <a:t>July 2026</a:t>
            </a:r>
          </a:p>
        </p:txBody>
      </p:sp>
    </p:spTree>
    <p:extLst>
      <p:ext uri="{BB962C8B-B14F-4D97-AF65-F5344CB8AC3E}">
        <p14:creationId xmlns:p14="http://schemas.microsoft.com/office/powerpoint/2010/main" val="1286170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9F25A-3C00-E0C5-79B3-5234E319D52F}"/>
            </a:ext>
          </a:extLst>
        </p:cNvPr>
        <p:cNvGrpSpPr/>
        <p:nvPr/>
      </p:nvGrpSpPr>
      <p:grpSpPr>
        <a:xfrm>
          <a:off x="0" y="0"/>
          <a:ext cx="0" cy="0"/>
          <a:chOff x="0" y="0"/>
          <a:chExt cx="0" cy="0"/>
        </a:xfrm>
      </p:grpSpPr>
      <p:pic>
        <p:nvPicPr>
          <p:cNvPr id="37" name="Picture 36" descr="Newcurators">
            <a:extLst>
              <a:ext uri="{FF2B5EF4-FFF2-40B4-BE49-F238E27FC236}">
                <a16:creationId xmlns:a16="http://schemas.microsoft.com/office/drawing/2014/main" id="{67FEF710-27D2-98B2-9FD8-9A009278DD01}"/>
              </a:ext>
            </a:extLst>
          </p:cNvPr>
          <p:cNvPicPr>
            <a:picLocks noChangeAspect="1"/>
          </p:cNvPicPr>
          <p:nvPr/>
        </p:nvPicPr>
        <p:blipFill>
          <a:blip r:embed="rId2"/>
          <a:stretch>
            <a:fillRect/>
          </a:stretch>
        </p:blipFill>
        <p:spPr>
          <a:xfrm>
            <a:off x="7828356" y="289542"/>
            <a:ext cx="4255074" cy="2393137"/>
          </a:xfrm>
          <a:prstGeom prst="rect">
            <a:avLst/>
          </a:prstGeom>
        </p:spPr>
      </p:pic>
      <p:sp>
        <p:nvSpPr>
          <p:cNvPr id="2" name="Title 1">
            <a:extLst>
              <a:ext uri="{FF2B5EF4-FFF2-40B4-BE49-F238E27FC236}">
                <a16:creationId xmlns:a16="http://schemas.microsoft.com/office/drawing/2014/main" id="{11916718-F129-E215-3873-EA6C582BAAC2}"/>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Brief history of me</a:t>
            </a:r>
          </a:p>
        </p:txBody>
      </p:sp>
      <p:pic>
        <p:nvPicPr>
          <p:cNvPr id="6" name="Picture 5" descr="The Field Museum | ForestGEO">
            <a:extLst>
              <a:ext uri="{FF2B5EF4-FFF2-40B4-BE49-F238E27FC236}">
                <a16:creationId xmlns:a16="http://schemas.microsoft.com/office/drawing/2014/main" id="{32E9BDAB-594C-38D0-D3D1-CA0B88B243C6}"/>
              </a:ext>
            </a:extLst>
          </p:cNvPr>
          <p:cNvPicPr>
            <a:picLocks noChangeAspect="1"/>
          </p:cNvPicPr>
          <p:nvPr/>
        </p:nvPicPr>
        <p:blipFill>
          <a:blip r:embed="rId3"/>
          <a:stretch>
            <a:fillRect/>
          </a:stretch>
        </p:blipFill>
        <p:spPr>
          <a:xfrm>
            <a:off x="294967" y="3202138"/>
            <a:ext cx="3087329" cy="1543665"/>
          </a:xfrm>
          <a:prstGeom prst="rect">
            <a:avLst/>
          </a:prstGeom>
        </p:spPr>
      </p:pic>
      <p:pic>
        <p:nvPicPr>
          <p:cNvPr id="7" name="Picture 6" descr="University of Rochester - WUN">
            <a:extLst>
              <a:ext uri="{FF2B5EF4-FFF2-40B4-BE49-F238E27FC236}">
                <a16:creationId xmlns:a16="http://schemas.microsoft.com/office/drawing/2014/main" id="{5770D5CA-BD6C-6122-F5A0-8F9784BB1B59}"/>
              </a:ext>
            </a:extLst>
          </p:cNvPr>
          <p:cNvPicPr>
            <a:picLocks noChangeAspect="1"/>
          </p:cNvPicPr>
          <p:nvPr/>
        </p:nvPicPr>
        <p:blipFill>
          <a:blip r:embed="rId4"/>
          <a:stretch>
            <a:fillRect/>
          </a:stretch>
        </p:blipFill>
        <p:spPr>
          <a:xfrm>
            <a:off x="850153" y="5094199"/>
            <a:ext cx="1976956" cy="1551910"/>
          </a:xfrm>
          <a:prstGeom prst="rect">
            <a:avLst/>
          </a:prstGeom>
        </p:spPr>
      </p:pic>
      <p:cxnSp>
        <p:nvCxnSpPr>
          <p:cNvPr id="9" name="Straight Arrow Connector 8">
            <a:extLst>
              <a:ext uri="{FF2B5EF4-FFF2-40B4-BE49-F238E27FC236}">
                <a16:creationId xmlns:a16="http://schemas.microsoft.com/office/drawing/2014/main" id="{67D93A3F-BC6C-CE9B-4428-CD5CD6DB2198}"/>
              </a:ext>
            </a:extLst>
          </p:cNvPr>
          <p:cNvCxnSpPr>
            <a:cxnSpLocks/>
          </p:cNvCxnSpPr>
          <p:nvPr/>
        </p:nvCxnSpPr>
        <p:spPr>
          <a:xfrm>
            <a:off x="1403554" y="4565904"/>
            <a:ext cx="0" cy="439532"/>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55D29FB0-ACCA-C21F-24DD-39ECAFE36C92}"/>
              </a:ext>
            </a:extLst>
          </p:cNvPr>
          <p:cNvCxnSpPr>
            <a:cxnSpLocks/>
          </p:cNvCxnSpPr>
          <p:nvPr/>
        </p:nvCxnSpPr>
        <p:spPr>
          <a:xfrm flipV="1">
            <a:off x="2236105" y="4547316"/>
            <a:ext cx="0" cy="45812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12" name="Arrow: Right 11">
            <a:extLst>
              <a:ext uri="{FF2B5EF4-FFF2-40B4-BE49-F238E27FC236}">
                <a16:creationId xmlns:a16="http://schemas.microsoft.com/office/drawing/2014/main" id="{5AAECCAB-1E9A-7AE3-9279-AD33E43FDB50}"/>
              </a:ext>
            </a:extLst>
          </p:cNvPr>
          <p:cNvSpPr/>
          <p:nvPr/>
        </p:nvSpPr>
        <p:spPr>
          <a:xfrm>
            <a:off x="3311685" y="4166782"/>
            <a:ext cx="1012723" cy="720109"/>
          </a:xfrm>
          <a:prstGeom prst="rightArrow">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group of birds on a shelf&#10;&#10;Description automatically generated">
            <a:extLst>
              <a:ext uri="{FF2B5EF4-FFF2-40B4-BE49-F238E27FC236}">
                <a16:creationId xmlns:a16="http://schemas.microsoft.com/office/drawing/2014/main" id="{0E214D26-D210-75FA-4AC3-204CC1E51385}"/>
              </a:ext>
            </a:extLst>
          </p:cNvPr>
          <p:cNvPicPr>
            <a:picLocks noChangeAspect="1"/>
          </p:cNvPicPr>
          <p:nvPr/>
        </p:nvPicPr>
        <p:blipFill>
          <a:blip r:embed="rId5">
            <a:extLst>
              <a:ext uri="{28A0092B-C50C-407E-A947-70E740481C1C}">
                <a14:useLocalDpi xmlns:a14="http://schemas.microsoft.com/office/drawing/2010/main" val="0"/>
              </a:ext>
            </a:extLst>
          </a:blip>
          <a:srcRect l="7914" t="31838" r="6651" b="26034"/>
          <a:stretch>
            <a:fillRect/>
          </a:stretch>
        </p:blipFill>
        <p:spPr>
          <a:xfrm>
            <a:off x="3916367" y="5453777"/>
            <a:ext cx="3584402" cy="1325564"/>
          </a:xfrm>
          <a:prstGeom prst="rect">
            <a:avLst/>
          </a:prstGeom>
        </p:spPr>
      </p:pic>
      <p:pic>
        <p:nvPicPr>
          <p:cNvPr id="17" name="Picture 16">
            <a:extLst>
              <a:ext uri="{FF2B5EF4-FFF2-40B4-BE49-F238E27FC236}">
                <a16:creationId xmlns:a16="http://schemas.microsoft.com/office/drawing/2014/main" id="{C038B1F6-9D78-9A06-2C7C-D7D4FD3913E0}"/>
              </a:ext>
            </a:extLst>
          </p:cNvPr>
          <p:cNvPicPr>
            <a:picLocks noChangeAspect="1"/>
          </p:cNvPicPr>
          <p:nvPr/>
        </p:nvPicPr>
        <p:blipFill>
          <a:blip r:embed="rId6">
            <a:extLst>
              <a:ext uri="{28A0092B-C50C-407E-A947-70E740481C1C}">
                <a14:useLocalDpi xmlns:a14="http://schemas.microsoft.com/office/drawing/2010/main" val="0"/>
              </a:ext>
            </a:extLst>
          </a:blip>
          <a:srcRect t="16422"/>
          <a:stretch>
            <a:fillRect/>
          </a:stretch>
        </p:blipFill>
        <p:spPr>
          <a:xfrm>
            <a:off x="47698" y="1704442"/>
            <a:ext cx="3263988" cy="1495870"/>
          </a:xfrm>
          <a:prstGeom prst="rect">
            <a:avLst/>
          </a:prstGeom>
        </p:spPr>
      </p:pic>
      <p:pic>
        <p:nvPicPr>
          <p:cNvPr id="21" name="Picture 2">
            <a:extLst>
              <a:ext uri="{FF2B5EF4-FFF2-40B4-BE49-F238E27FC236}">
                <a16:creationId xmlns:a16="http://schemas.microsoft.com/office/drawing/2014/main" id="{6408F01E-7398-4309-6478-BF3519A5812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81544" y="3570514"/>
            <a:ext cx="1883263" cy="188326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Visual Identity | The Texas Tech Brand | Texas Tech">
            <a:extLst>
              <a:ext uri="{FF2B5EF4-FFF2-40B4-BE49-F238E27FC236}">
                <a16:creationId xmlns:a16="http://schemas.microsoft.com/office/drawing/2014/main" id="{BEEA1D43-5493-8A90-5D3F-B3B15B95D849}"/>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15686"/>
          <a:stretch>
            <a:fillRect/>
          </a:stretch>
        </p:blipFill>
        <p:spPr bwMode="auto">
          <a:xfrm>
            <a:off x="8469305" y="3674671"/>
            <a:ext cx="1509506" cy="172402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SLiM">
            <a:extLst>
              <a:ext uri="{FF2B5EF4-FFF2-40B4-BE49-F238E27FC236}">
                <a16:creationId xmlns:a16="http://schemas.microsoft.com/office/drawing/2014/main" id="{AE3D4AD2-6001-3BBD-AAD0-9339B70ECCA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28815" y="5522199"/>
            <a:ext cx="1188720" cy="118872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The University of New Mexico | AACSB Accredited">
            <a:extLst>
              <a:ext uri="{FF2B5EF4-FFF2-40B4-BE49-F238E27FC236}">
                <a16:creationId xmlns:a16="http://schemas.microsoft.com/office/drawing/2014/main" id="{2F2A49E1-8DEB-378E-B736-2F85D589B175}"/>
              </a:ext>
            </a:extLst>
          </p:cNvPr>
          <p:cNvPicPr>
            <a:picLocks noChangeAspect="1"/>
          </p:cNvPicPr>
          <p:nvPr/>
        </p:nvPicPr>
        <p:blipFill>
          <a:blip r:embed="rId10"/>
          <a:stretch>
            <a:fillRect/>
          </a:stretch>
        </p:blipFill>
        <p:spPr>
          <a:xfrm>
            <a:off x="4384593" y="3446309"/>
            <a:ext cx="2647950" cy="1724025"/>
          </a:xfrm>
          <a:prstGeom prst="rect">
            <a:avLst/>
          </a:prstGeom>
        </p:spPr>
      </p:pic>
      <p:pic>
        <p:nvPicPr>
          <p:cNvPr id="27" name="Picture 26" descr="Museum of Southwestern Biology | The University of New Mexico">
            <a:extLst>
              <a:ext uri="{FF2B5EF4-FFF2-40B4-BE49-F238E27FC236}">
                <a16:creationId xmlns:a16="http://schemas.microsoft.com/office/drawing/2014/main" id="{C451FCF8-BC20-469B-4487-B806DE944BEB}"/>
              </a:ext>
            </a:extLst>
          </p:cNvPr>
          <p:cNvPicPr>
            <a:picLocks noChangeAspect="1"/>
          </p:cNvPicPr>
          <p:nvPr/>
        </p:nvPicPr>
        <p:blipFill>
          <a:blip r:embed="rId11"/>
          <a:stretch>
            <a:fillRect/>
          </a:stretch>
        </p:blipFill>
        <p:spPr>
          <a:xfrm>
            <a:off x="4532230" y="1507408"/>
            <a:ext cx="2352675" cy="1924050"/>
          </a:xfrm>
          <a:prstGeom prst="rect">
            <a:avLst/>
          </a:prstGeom>
        </p:spPr>
      </p:pic>
      <p:sp>
        <p:nvSpPr>
          <p:cNvPr id="29" name="Arrow: Right 28">
            <a:extLst>
              <a:ext uri="{FF2B5EF4-FFF2-40B4-BE49-F238E27FC236}">
                <a16:creationId xmlns:a16="http://schemas.microsoft.com/office/drawing/2014/main" id="{84127062-B4D9-1B3B-6010-E31A8AFB4424}"/>
              </a:ext>
            </a:extLst>
          </p:cNvPr>
          <p:cNvSpPr/>
          <p:nvPr/>
        </p:nvSpPr>
        <p:spPr>
          <a:xfrm>
            <a:off x="7252611" y="4166781"/>
            <a:ext cx="1012723" cy="720109"/>
          </a:xfrm>
          <a:prstGeom prst="rightArrow">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descr="A close up of a bird&#10;&#10;Description automatically generated with medium confidence">
            <a:extLst>
              <a:ext uri="{FF2B5EF4-FFF2-40B4-BE49-F238E27FC236}">
                <a16:creationId xmlns:a16="http://schemas.microsoft.com/office/drawing/2014/main" id="{B1452D60-158E-8C39-BA89-A170593B1471}"/>
              </a:ext>
            </a:extLst>
          </p:cNvPr>
          <p:cNvPicPr>
            <a:picLocks noChangeAspect="1"/>
          </p:cNvPicPr>
          <p:nvPr/>
        </p:nvPicPr>
        <p:blipFill>
          <a:blip r:embed="rId12">
            <a:extLst>
              <a:ext uri="{28A0092B-C50C-407E-A947-70E740481C1C}">
                <a14:useLocalDpi xmlns:a14="http://schemas.microsoft.com/office/drawing/2010/main" val="0"/>
              </a:ext>
            </a:extLst>
          </a:blip>
          <a:srcRect l="4805" r="7296"/>
          <a:stretch>
            <a:fillRect/>
          </a:stretch>
        </p:blipFill>
        <p:spPr>
          <a:xfrm>
            <a:off x="8400479" y="5408528"/>
            <a:ext cx="1802683" cy="1368846"/>
          </a:xfrm>
          <a:prstGeom prst="rect">
            <a:avLst/>
          </a:prstGeom>
        </p:spPr>
      </p:pic>
      <p:sp>
        <p:nvSpPr>
          <p:cNvPr id="33" name="Arrow: Right 32">
            <a:extLst>
              <a:ext uri="{FF2B5EF4-FFF2-40B4-BE49-F238E27FC236}">
                <a16:creationId xmlns:a16="http://schemas.microsoft.com/office/drawing/2014/main" id="{37A832FE-7BD6-59F0-AD28-65ECBEEA0637}"/>
              </a:ext>
            </a:extLst>
          </p:cNvPr>
          <p:cNvSpPr/>
          <p:nvPr/>
        </p:nvSpPr>
        <p:spPr>
          <a:xfrm rot="16200000">
            <a:off x="9924536" y="2843619"/>
            <a:ext cx="714016" cy="720109"/>
          </a:xfrm>
          <a:prstGeom prst="rightArrow">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descr="Cleveland Museum of Natural History | Cleveland OH">
            <a:extLst>
              <a:ext uri="{FF2B5EF4-FFF2-40B4-BE49-F238E27FC236}">
                <a16:creationId xmlns:a16="http://schemas.microsoft.com/office/drawing/2014/main" id="{3C4385D1-A5E8-D381-371A-C2F31D081503}"/>
              </a:ext>
            </a:extLst>
          </p:cNvPr>
          <p:cNvPicPr>
            <a:picLocks noChangeAspect="1"/>
          </p:cNvPicPr>
          <p:nvPr/>
        </p:nvPicPr>
        <p:blipFill>
          <a:blip r:embed="rId13"/>
          <a:stretch>
            <a:fillRect/>
          </a:stretch>
        </p:blipFill>
        <p:spPr>
          <a:xfrm>
            <a:off x="7500769" y="125556"/>
            <a:ext cx="1286147" cy="1286147"/>
          </a:xfrm>
          <a:prstGeom prst="rect">
            <a:avLst/>
          </a:prstGeom>
        </p:spPr>
      </p:pic>
    </p:spTree>
    <p:extLst>
      <p:ext uri="{BB962C8B-B14F-4D97-AF65-F5344CB8AC3E}">
        <p14:creationId xmlns:p14="http://schemas.microsoft.com/office/powerpoint/2010/main" val="58691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9" grpId="0" animBg="1"/>
      <p:bldP spid="3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Field Museum | ForestGEO">
            <a:extLst>
              <a:ext uri="{FF2B5EF4-FFF2-40B4-BE49-F238E27FC236}">
                <a16:creationId xmlns:a16="http://schemas.microsoft.com/office/drawing/2014/main" id="{3320093C-C0C8-E3D5-D36F-10056602393F}"/>
              </a:ext>
            </a:extLst>
          </p:cNvPr>
          <p:cNvPicPr>
            <a:picLocks noChangeAspect="1"/>
          </p:cNvPicPr>
          <p:nvPr/>
        </p:nvPicPr>
        <p:blipFill>
          <a:blip r:embed="rId3"/>
          <a:stretch>
            <a:fillRect/>
          </a:stretch>
        </p:blipFill>
        <p:spPr>
          <a:xfrm>
            <a:off x="857734" y="1719498"/>
            <a:ext cx="2750678" cy="1375339"/>
          </a:xfrm>
          <a:prstGeom prst="rect">
            <a:avLst/>
          </a:prstGeom>
        </p:spPr>
      </p:pic>
      <p:pic>
        <p:nvPicPr>
          <p:cNvPr id="16" name="Picture 15" descr="The University of New Mexico | AACSB Accredited">
            <a:extLst>
              <a:ext uri="{FF2B5EF4-FFF2-40B4-BE49-F238E27FC236}">
                <a16:creationId xmlns:a16="http://schemas.microsoft.com/office/drawing/2014/main" id="{E462B3D0-701F-6CF7-1954-173A45586B71}"/>
              </a:ext>
            </a:extLst>
          </p:cNvPr>
          <p:cNvPicPr>
            <a:picLocks noChangeAspect="1"/>
          </p:cNvPicPr>
          <p:nvPr/>
        </p:nvPicPr>
        <p:blipFill>
          <a:blip r:embed="rId4"/>
          <a:stretch>
            <a:fillRect/>
          </a:stretch>
        </p:blipFill>
        <p:spPr>
          <a:xfrm>
            <a:off x="5482526" y="2089354"/>
            <a:ext cx="2159714" cy="1406145"/>
          </a:xfrm>
          <a:prstGeom prst="rect">
            <a:avLst/>
          </a:prstGeom>
        </p:spPr>
      </p:pic>
      <p:sp>
        <p:nvSpPr>
          <p:cNvPr id="2" name="Title 1">
            <a:extLst>
              <a:ext uri="{FF2B5EF4-FFF2-40B4-BE49-F238E27FC236}">
                <a16:creationId xmlns:a16="http://schemas.microsoft.com/office/drawing/2014/main" id="{895356CE-2D24-C0C3-79B1-6713525A2755}"/>
              </a:ext>
            </a:extLst>
          </p:cNvPr>
          <p:cNvSpPr>
            <a:spLocks noGrp="1"/>
          </p:cNvSpPr>
          <p:nvPr>
            <p:ph type="title"/>
          </p:nvPr>
        </p:nvSpPr>
        <p:spPr>
          <a:xfrm>
            <a:off x="838200" y="45381"/>
            <a:ext cx="10515600" cy="1325563"/>
          </a:xfrm>
        </p:spPr>
        <p:txBody>
          <a:bodyPr/>
          <a:lstStyle/>
          <a:p>
            <a:r>
              <a:rPr lang="en-US" dirty="0">
                <a:latin typeface="Aharoni" panose="02010803020104030203" pitchFamily="2" charset="-79"/>
                <a:cs typeface="Aharoni" panose="02010803020104030203" pitchFamily="2" charset="-79"/>
              </a:rPr>
              <a:t>Through line: using genes and genomes to understand evolution</a:t>
            </a:r>
          </a:p>
        </p:txBody>
      </p:sp>
      <p:sp>
        <p:nvSpPr>
          <p:cNvPr id="3" name="Content Placeholder 2">
            <a:extLst>
              <a:ext uri="{FF2B5EF4-FFF2-40B4-BE49-F238E27FC236}">
                <a16:creationId xmlns:a16="http://schemas.microsoft.com/office/drawing/2014/main" id="{6F3F648D-12CF-FE79-07B3-7383B599C5DF}"/>
              </a:ext>
            </a:extLst>
          </p:cNvPr>
          <p:cNvSpPr>
            <a:spLocks noGrp="1"/>
          </p:cNvSpPr>
          <p:nvPr>
            <p:ph idx="1"/>
          </p:nvPr>
        </p:nvSpPr>
        <p:spPr>
          <a:xfrm>
            <a:off x="277762" y="2891863"/>
            <a:ext cx="3950110" cy="1375338"/>
          </a:xfrm>
        </p:spPr>
        <p:txBody>
          <a:bodyPr>
            <a:normAutofit/>
          </a:bodyPr>
          <a:lstStyle/>
          <a:p>
            <a:pPr marL="0" indent="0" algn="ctr">
              <a:buNone/>
            </a:pPr>
            <a:r>
              <a:rPr lang="en-US" dirty="0">
                <a:latin typeface="Abadi" panose="020B0604020104020204" pitchFamily="34" charset="0"/>
              </a:rPr>
              <a:t>Screening for parasites</a:t>
            </a:r>
          </a:p>
          <a:p>
            <a:pPr marL="0" indent="0" algn="ctr">
              <a:buNone/>
            </a:pPr>
            <a:r>
              <a:rPr lang="en-US" dirty="0">
                <a:latin typeface="Abadi" panose="020B0604020104020204" pitchFamily="34" charset="0"/>
              </a:rPr>
              <a:t>Few gene phylogeography</a:t>
            </a:r>
          </a:p>
        </p:txBody>
      </p:sp>
      <p:cxnSp>
        <p:nvCxnSpPr>
          <p:cNvPr id="7" name="Straight Connector 6">
            <a:extLst>
              <a:ext uri="{FF2B5EF4-FFF2-40B4-BE49-F238E27FC236}">
                <a16:creationId xmlns:a16="http://schemas.microsoft.com/office/drawing/2014/main" id="{90B7022C-F9B1-2963-8E41-7F74E7F0A834}"/>
              </a:ext>
            </a:extLst>
          </p:cNvPr>
          <p:cNvCxnSpPr>
            <a:cxnSpLocks/>
          </p:cNvCxnSpPr>
          <p:nvPr/>
        </p:nvCxnSpPr>
        <p:spPr>
          <a:xfrm>
            <a:off x="4513007" y="2163097"/>
            <a:ext cx="0" cy="4483509"/>
          </a:xfrm>
          <a:prstGeom prst="line">
            <a:avLst/>
          </a:prstGeom>
          <a:ln w="57150">
            <a:prstDash val="sysDash"/>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C158C40-996C-37FF-990E-75AC80C698AB}"/>
              </a:ext>
            </a:extLst>
          </p:cNvPr>
          <p:cNvSpPr txBox="1"/>
          <p:nvPr/>
        </p:nvSpPr>
        <p:spPr>
          <a:xfrm>
            <a:off x="5173577" y="1508688"/>
            <a:ext cx="2777612" cy="523220"/>
          </a:xfrm>
          <a:prstGeom prst="rect">
            <a:avLst/>
          </a:prstGeom>
          <a:noFill/>
        </p:spPr>
        <p:txBody>
          <a:bodyPr wrap="square" rtlCol="0">
            <a:spAutoFit/>
          </a:bodyPr>
          <a:lstStyle/>
          <a:p>
            <a:r>
              <a:rPr lang="en-US" sz="2800" dirty="0">
                <a:latin typeface="Abadi" panose="020B0604020104020204" pitchFamily="34" charset="0"/>
              </a:rPr>
              <a:t>Partial Genomes</a:t>
            </a:r>
          </a:p>
        </p:txBody>
      </p:sp>
      <p:sp>
        <p:nvSpPr>
          <p:cNvPr id="11" name="TextBox 10">
            <a:extLst>
              <a:ext uri="{FF2B5EF4-FFF2-40B4-BE49-F238E27FC236}">
                <a16:creationId xmlns:a16="http://schemas.microsoft.com/office/drawing/2014/main" id="{E92C03DB-98E4-4248-DDA5-C20877ECDE91}"/>
              </a:ext>
            </a:extLst>
          </p:cNvPr>
          <p:cNvSpPr txBox="1"/>
          <p:nvPr/>
        </p:nvSpPr>
        <p:spPr>
          <a:xfrm>
            <a:off x="1671338" y="1466899"/>
            <a:ext cx="1116011" cy="523220"/>
          </a:xfrm>
          <a:prstGeom prst="rect">
            <a:avLst/>
          </a:prstGeom>
          <a:noFill/>
        </p:spPr>
        <p:txBody>
          <a:bodyPr wrap="none" rtlCol="0">
            <a:spAutoFit/>
          </a:bodyPr>
          <a:lstStyle/>
          <a:p>
            <a:r>
              <a:rPr lang="en-US" sz="2800" dirty="0">
                <a:latin typeface="Abadi" panose="020B0604020104020204" pitchFamily="34" charset="0"/>
              </a:rPr>
              <a:t>Genes</a:t>
            </a:r>
          </a:p>
        </p:txBody>
      </p:sp>
      <p:pic>
        <p:nvPicPr>
          <p:cNvPr id="13" name="Picture 12" descr="University of Rochester - WUN">
            <a:extLst>
              <a:ext uri="{FF2B5EF4-FFF2-40B4-BE49-F238E27FC236}">
                <a16:creationId xmlns:a16="http://schemas.microsoft.com/office/drawing/2014/main" id="{1BB3E638-A090-D75E-FE28-D40F668B2E45}"/>
              </a:ext>
            </a:extLst>
          </p:cNvPr>
          <p:cNvPicPr>
            <a:picLocks noChangeAspect="1"/>
          </p:cNvPicPr>
          <p:nvPr/>
        </p:nvPicPr>
        <p:blipFill>
          <a:blip r:embed="rId5"/>
          <a:stretch>
            <a:fillRect/>
          </a:stretch>
        </p:blipFill>
        <p:spPr>
          <a:xfrm>
            <a:off x="1459082" y="4241080"/>
            <a:ext cx="1598749" cy="1255018"/>
          </a:xfrm>
          <a:prstGeom prst="rect">
            <a:avLst/>
          </a:prstGeom>
        </p:spPr>
      </p:pic>
      <p:sp>
        <p:nvSpPr>
          <p:cNvPr id="14" name="Content Placeholder 2">
            <a:extLst>
              <a:ext uri="{FF2B5EF4-FFF2-40B4-BE49-F238E27FC236}">
                <a16:creationId xmlns:a16="http://schemas.microsoft.com/office/drawing/2014/main" id="{10D19487-1019-8734-C521-C05330B704C4}"/>
              </a:ext>
            </a:extLst>
          </p:cNvPr>
          <p:cNvSpPr txBox="1">
            <a:spLocks/>
          </p:cNvSpPr>
          <p:nvPr/>
        </p:nvSpPr>
        <p:spPr>
          <a:xfrm>
            <a:off x="277762" y="5502887"/>
            <a:ext cx="3950110" cy="135511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latin typeface="Abadi" panose="020B0604020104020204" pitchFamily="34" charset="0"/>
              </a:rPr>
              <a:t>Number of queens in ant colonies</a:t>
            </a:r>
          </a:p>
          <a:p>
            <a:pPr marL="0" indent="0" algn="ctr">
              <a:buFont typeface="Arial" panose="020B0604020202020204" pitchFamily="34" charset="0"/>
              <a:buNone/>
            </a:pPr>
            <a:r>
              <a:rPr lang="en-US" dirty="0">
                <a:latin typeface="Abadi" panose="020B0604020104020204" pitchFamily="34" charset="0"/>
              </a:rPr>
              <a:t>Testing for clonality</a:t>
            </a:r>
          </a:p>
        </p:txBody>
      </p:sp>
      <p:sp>
        <p:nvSpPr>
          <p:cNvPr id="17" name="Content Placeholder 2">
            <a:extLst>
              <a:ext uri="{FF2B5EF4-FFF2-40B4-BE49-F238E27FC236}">
                <a16:creationId xmlns:a16="http://schemas.microsoft.com/office/drawing/2014/main" id="{B42DFF54-F1D7-8CB5-0FF5-8361574AEDCB}"/>
              </a:ext>
            </a:extLst>
          </p:cNvPr>
          <p:cNvSpPr txBox="1">
            <a:spLocks/>
          </p:cNvSpPr>
          <p:nvPr/>
        </p:nvSpPr>
        <p:spPr>
          <a:xfrm>
            <a:off x="4618509" y="3661370"/>
            <a:ext cx="3950110" cy="31966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err="1">
                <a:latin typeface="Abadi" panose="020B0604020104020204" pitchFamily="34" charset="0"/>
              </a:rPr>
              <a:t>Phylogenomics</a:t>
            </a:r>
            <a:endParaRPr lang="en-US" dirty="0">
              <a:latin typeface="Abadi" panose="020B0604020104020204" pitchFamily="34" charset="0"/>
            </a:endParaRPr>
          </a:p>
          <a:p>
            <a:pPr marL="0" indent="0" algn="ctr">
              <a:buNone/>
            </a:pPr>
            <a:r>
              <a:rPr lang="en-US" dirty="0">
                <a:latin typeface="Abadi" panose="020B0604020104020204" pitchFamily="34" charset="0"/>
              </a:rPr>
              <a:t>Phylogeography</a:t>
            </a:r>
          </a:p>
          <a:p>
            <a:pPr marL="0" indent="0" algn="ctr">
              <a:buNone/>
            </a:pPr>
            <a:r>
              <a:rPr lang="en-US" dirty="0">
                <a:latin typeface="Abadi" panose="020B0604020104020204" pitchFamily="34" charset="0"/>
              </a:rPr>
              <a:t>Coarse genomic landscapes*</a:t>
            </a:r>
          </a:p>
          <a:p>
            <a:pPr marL="0" indent="0" algn="ctr">
              <a:buNone/>
            </a:pPr>
            <a:r>
              <a:rPr lang="en-US" dirty="0">
                <a:latin typeface="Abadi" panose="020B0604020104020204" pitchFamily="34" charset="0"/>
              </a:rPr>
              <a:t>Genetic diversity</a:t>
            </a:r>
          </a:p>
          <a:p>
            <a:pPr marL="0" indent="0" algn="ctr">
              <a:buNone/>
            </a:pPr>
            <a:r>
              <a:rPr lang="en-US" dirty="0">
                <a:latin typeface="Abadi" panose="020B0604020104020204" pitchFamily="34" charset="0"/>
              </a:rPr>
              <a:t>Landscape genetics</a:t>
            </a:r>
          </a:p>
        </p:txBody>
      </p:sp>
      <p:pic>
        <p:nvPicPr>
          <p:cNvPr id="19" name="Picture 2">
            <a:extLst>
              <a:ext uri="{FF2B5EF4-FFF2-40B4-BE49-F238E27FC236}">
                <a16:creationId xmlns:a16="http://schemas.microsoft.com/office/drawing/2014/main" id="{C7F030A3-8396-BF19-5B3E-97244B9E45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70574" y="1951835"/>
            <a:ext cx="1304508" cy="130450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Visual Identity | The Texas Tech Brand | Texas Tech">
            <a:extLst>
              <a:ext uri="{FF2B5EF4-FFF2-40B4-BE49-F238E27FC236}">
                <a16:creationId xmlns:a16="http://schemas.microsoft.com/office/drawing/2014/main" id="{A3475009-1C40-40EF-5F34-2060AFFA54E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15686"/>
          <a:stretch>
            <a:fillRect/>
          </a:stretch>
        </p:blipFill>
        <p:spPr bwMode="auto">
          <a:xfrm>
            <a:off x="9127814" y="2027278"/>
            <a:ext cx="1045612" cy="1194206"/>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E125360A-B9E5-D226-CF2D-841FAC4C5D51}"/>
              </a:ext>
            </a:extLst>
          </p:cNvPr>
          <p:cNvSpPr txBox="1"/>
          <p:nvPr/>
        </p:nvSpPr>
        <p:spPr>
          <a:xfrm>
            <a:off x="9362194" y="1448976"/>
            <a:ext cx="2316935" cy="523220"/>
          </a:xfrm>
          <a:prstGeom prst="rect">
            <a:avLst/>
          </a:prstGeom>
          <a:noFill/>
        </p:spPr>
        <p:txBody>
          <a:bodyPr wrap="square" rtlCol="0">
            <a:spAutoFit/>
          </a:bodyPr>
          <a:lstStyle/>
          <a:p>
            <a:r>
              <a:rPr lang="en-US" sz="2800" dirty="0">
                <a:latin typeface="Abadi" panose="020B0604020104020204" pitchFamily="34" charset="0"/>
              </a:rPr>
              <a:t>Full Genomes</a:t>
            </a:r>
          </a:p>
        </p:txBody>
      </p:sp>
      <p:sp>
        <p:nvSpPr>
          <p:cNvPr id="25" name="Content Placeholder 2">
            <a:extLst>
              <a:ext uri="{FF2B5EF4-FFF2-40B4-BE49-F238E27FC236}">
                <a16:creationId xmlns:a16="http://schemas.microsoft.com/office/drawing/2014/main" id="{3C8CAC22-3530-79E8-F101-2E73EC3EFDC6}"/>
              </a:ext>
            </a:extLst>
          </p:cNvPr>
          <p:cNvSpPr txBox="1">
            <a:spLocks/>
          </p:cNvSpPr>
          <p:nvPr/>
        </p:nvSpPr>
        <p:spPr>
          <a:xfrm>
            <a:off x="8603032" y="3311425"/>
            <a:ext cx="3524171" cy="348686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latin typeface="Abadi" panose="020B0604020104020204" pitchFamily="34" charset="0"/>
              </a:rPr>
              <a:t>Fine-scale population genomics</a:t>
            </a:r>
          </a:p>
          <a:p>
            <a:pPr marL="0" indent="0" algn="ctr">
              <a:buFont typeface="Arial" panose="020B0604020202020204" pitchFamily="34" charset="0"/>
              <a:buNone/>
            </a:pPr>
            <a:r>
              <a:rPr lang="en-US" dirty="0">
                <a:latin typeface="Abadi" panose="020B0604020104020204" pitchFamily="34" charset="0"/>
              </a:rPr>
              <a:t>Genomic basis of traits</a:t>
            </a:r>
          </a:p>
          <a:p>
            <a:pPr marL="0" indent="0" algn="ctr">
              <a:buNone/>
            </a:pPr>
            <a:r>
              <a:rPr lang="en-US" dirty="0">
                <a:latin typeface="Abadi" panose="020B0604020104020204" pitchFamily="34" charset="0"/>
              </a:rPr>
              <a:t>In depth conservation genetics</a:t>
            </a:r>
          </a:p>
          <a:p>
            <a:pPr marL="0" indent="0" algn="ctr">
              <a:buFont typeface="Arial" panose="020B0604020202020204" pitchFamily="34" charset="0"/>
              <a:buNone/>
            </a:pPr>
            <a:r>
              <a:rPr lang="en-US" dirty="0">
                <a:latin typeface="Abadi" panose="020B0604020104020204" pitchFamily="34" charset="0"/>
              </a:rPr>
              <a:t>Genomically informed simulations</a:t>
            </a:r>
          </a:p>
        </p:txBody>
      </p:sp>
      <p:cxnSp>
        <p:nvCxnSpPr>
          <p:cNvPr id="26" name="Straight Connector 25">
            <a:extLst>
              <a:ext uri="{FF2B5EF4-FFF2-40B4-BE49-F238E27FC236}">
                <a16:creationId xmlns:a16="http://schemas.microsoft.com/office/drawing/2014/main" id="{810E704F-0A93-1173-5F3F-02315A84DACA}"/>
              </a:ext>
            </a:extLst>
          </p:cNvPr>
          <p:cNvCxnSpPr>
            <a:cxnSpLocks/>
          </p:cNvCxnSpPr>
          <p:nvPr/>
        </p:nvCxnSpPr>
        <p:spPr>
          <a:xfrm>
            <a:off x="8460465" y="2089354"/>
            <a:ext cx="0" cy="4483509"/>
          </a:xfrm>
          <a:prstGeom prst="line">
            <a:avLst/>
          </a:prstGeom>
          <a:ln w="57150">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17249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4" grpId="0"/>
      <p:bldP spid="17" grpId="0"/>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B995-394D-CAE1-C944-6447278D968F}"/>
            </a:ext>
          </a:extLst>
        </p:cNvPr>
        <p:cNvGrpSpPr/>
        <p:nvPr/>
      </p:nvGrpSpPr>
      <p:grpSpPr>
        <a:xfrm>
          <a:off x="0" y="0"/>
          <a:ext cx="0" cy="0"/>
          <a:chOff x="0" y="0"/>
          <a:chExt cx="0" cy="0"/>
        </a:xfrm>
      </p:grpSpPr>
      <p:pic>
        <p:nvPicPr>
          <p:cNvPr id="16" name="Picture 15" descr="The University of New Mexico | AACSB Accredited">
            <a:extLst>
              <a:ext uri="{FF2B5EF4-FFF2-40B4-BE49-F238E27FC236}">
                <a16:creationId xmlns:a16="http://schemas.microsoft.com/office/drawing/2014/main" id="{A8AEBD08-49E1-D49D-FB88-8ABF082B5131}"/>
              </a:ext>
            </a:extLst>
          </p:cNvPr>
          <p:cNvPicPr>
            <a:picLocks noChangeAspect="1"/>
          </p:cNvPicPr>
          <p:nvPr/>
        </p:nvPicPr>
        <p:blipFill>
          <a:blip r:embed="rId3"/>
          <a:stretch>
            <a:fillRect/>
          </a:stretch>
        </p:blipFill>
        <p:spPr>
          <a:xfrm>
            <a:off x="5482526" y="2089354"/>
            <a:ext cx="2159714" cy="1406145"/>
          </a:xfrm>
          <a:prstGeom prst="rect">
            <a:avLst/>
          </a:prstGeom>
        </p:spPr>
      </p:pic>
      <p:sp>
        <p:nvSpPr>
          <p:cNvPr id="2" name="Title 1">
            <a:extLst>
              <a:ext uri="{FF2B5EF4-FFF2-40B4-BE49-F238E27FC236}">
                <a16:creationId xmlns:a16="http://schemas.microsoft.com/office/drawing/2014/main" id="{D07806F8-E90B-CFE8-15B4-2A06952DFE51}"/>
              </a:ext>
            </a:extLst>
          </p:cNvPr>
          <p:cNvSpPr>
            <a:spLocks noGrp="1"/>
          </p:cNvSpPr>
          <p:nvPr>
            <p:ph type="title"/>
          </p:nvPr>
        </p:nvSpPr>
        <p:spPr>
          <a:xfrm>
            <a:off x="838200" y="45381"/>
            <a:ext cx="10515600" cy="1325563"/>
          </a:xfrm>
        </p:spPr>
        <p:txBody>
          <a:bodyPr/>
          <a:lstStyle/>
          <a:p>
            <a:r>
              <a:rPr lang="en-US" dirty="0">
                <a:latin typeface="Aharoni" panose="02010803020104030203" pitchFamily="2" charset="-79"/>
                <a:cs typeface="Aharoni" panose="02010803020104030203" pitchFamily="2" charset="-79"/>
              </a:rPr>
              <a:t>Through line: using genes and genomes to understand evolution</a:t>
            </a:r>
          </a:p>
        </p:txBody>
      </p:sp>
      <p:cxnSp>
        <p:nvCxnSpPr>
          <p:cNvPr id="7" name="Straight Connector 6">
            <a:extLst>
              <a:ext uri="{FF2B5EF4-FFF2-40B4-BE49-F238E27FC236}">
                <a16:creationId xmlns:a16="http://schemas.microsoft.com/office/drawing/2014/main" id="{4FFF6210-E56F-98C2-25FB-7819D873B0A9}"/>
              </a:ext>
            </a:extLst>
          </p:cNvPr>
          <p:cNvCxnSpPr>
            <a:cxnSpLocks/>
          </p:cNvCxnSpPr>
          <p:nvPr/>
        </p:nvCxnSpPr>
        <p:spPr>
          <a:xfrm>
            <a:off x="4513007" y="2163097"/>
            <a:ext cx="0" cy="4483509"/>
          </a:xfrm>
          <a:prstGeom prst="line">
            <a:avLst/>
          </a:prstGeom>
          <a:ln w="57150">
            <a:prstDash val="sysDash"/>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BC83DCB-6AEB-D8DA-1E7C-B84A026F8021}"/>
              </a:ext>
            </a:extLst>
          </p:cNvPr>
          <p:cNvSpPr txBox="1"/>
          <p:nvPr/>
        </p:nvSpPr>
        <p:spPr>
          <a:xfrm>
            <a:off x="5173577" y="1508688"/>
            <a:ext cx="2777612" cy="523220"/>
          </a:xfrm>
          <a:prstGeom prst="rect">
            <a:avLst/>
          </a:prstGeom>
          <a:noFill/>
        </p:spPr>
        <p:txBody>
          <a:bodyPr wrap="square" rtlCol="0">
            <a:spAutoFit/>
          </a:bodyPr>
          <a:lstStyle/>
          <a:p>
            <a:r>
              <a:rPr lang="en-US" sz="2800" dirty="0">
                <a:latin typeface="Abadi" panose="020B0604020104020204" pitchFamily="34" charset="0"/>
              </a:rPr>
              <a:t>Partial Genomes</a:t>
            </a:r>
          </a:p>
        </p:txBody>
      </p:sp>
      <p:sp>
        <p:nvSpPr>
          <p:cNvPr id="17" name="Content Placeholder 2">
            <a:extLst>
              <a:ext uri="{FF2B5EF4-FFF2-40B4-BE49-F238E27FC236}">
                <a16:creationId xmlns:a16="http://schemas.microsoft.com/office/drawing/2014/main" id="{E72AE612-3CD2-83AD-29EB-481C30CB63AB}"/>
              </a:ext>
            </a:extLst>
          </p:cNvPr>
          <p:cNvSpPr txBox="1">
            <a:spLocks/>
          </p:cNvSpPr>
          <p:nvPr/>
        </p:nvSpPr>
        <p:spPr>
          <a:xfrm>
            <a:off x="4618509" y="3661370"/>
            <a:ext cx="3950110" cy="31966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err="1">
                <a:latin typeface="Abadi" panose="020B0604020104020204" pitchFamily="34" charset="0"/>
              </a:rPr>
              <a:t>Phylogenomics</a:t>
            </a:r>
            <a:endParaRPr lang="en-US" dirty="0">
              <a:latin typeface="Abadi" panose="020B0604020104020204" pitchFamily="34" charset="0"/>
            </a:endParaRPr>
          </a:p>
          <a:p>
            <a:pPr marL="0" indent="0" algn="ctr">
              <a:buFont typeface="Arial" panose="020B0604020202020204" pitchFamily="34" charset="0"/>
              <a:buNone/>
            </a:pPr>
            <a:r>
              <a:rPr lang="en-US" dirty="0">
                <a:latin typeface="Abadi" panose="020B0604020104020204" pitchFamily="34" charset="0"/>
              </a:rPr>
              <a:t>Phylogeography</a:t>
            </a:r>
          </a:p>
          <a:p>
            <a:pPr marL="0" indent="0" algn="ctr">
              <a:buFont typeface="Arial" panose="020B0604020202020204" pitchFamily="34" charset="0"/>
              <a:buNone/>
            </a:pPr>
            <a:r>
              <a:rPr lang="en-US" dirty="0">
                <a:latin typeface="Abadi" panose="020B0604020104020204" pitchFamily="34" charset="0"/>
              </a:rPr>
              <a:t>Coarse genomic landscapes*</a:t>
            </a:r>
          </a:p>
          <a:p>
            <a:pPr marL="0" indent="0" algn="ctr">
              <a:buNone/>
            </a:pPr>
            <a:r>
              <a:rPr lang="en-US" dirty="0">
                <a:latin typeface="Abadi" panose="020B0604020104020204" pitchFamily="34" charset="0"/>
              </a:rPr>
              <a:t>Genetic diversity</a:t>
            </a:r>
          </a:p>
          <a:p>
            <a:pPr marL="0" indent="0" algn="ctr">
              <a:buNone/>
            </a:pPr>
            <a:r>
              <a:rPr lang="en-US" dirty="0">
                <a:latin typeface="Abadi" panose="020B0604020104020204" pitchFamily="34" charset="0"/>
              </a:rPr>
              <a:t>Landscape genetics</a:t>
            </a:r>
          </a:p>
        </p:txBody>
      </p:sp>
      <p:cxnSp>
        <p:nvCxnSpPr>
          <p:cNvPr id="26" name="Straight Connector 25">
            <a:extLst>
              <a:ext uri="{FF2B5EF4-FFF2-40B4-BE49-F238E27FC236}">
                <a16:creationId xmlns:a16="http://schemas.microsoft.com/office/drawing/2014/main" id="{BB18F04B-A30A-CA17-2275-2A00CE650F21}"/>
              </a:ext>
            </a:extLst>
          </p:cNvPr>
          <p:cNvCxnSpPr>
            <a:cxnSpLocks/>
          </p:cNvCxnSpPr>
          <p:nvPr/>
        </p:nvCxnSpPr>
        <p:spPr>
          <a:xfrm>
            <a:off x="8460465" y="2089354"/>
            <a:ext cx="0" cy="4483509"/>
          </a:xfrm>
          <a:prstGeom prst="line">
            <a:avLst/>
          </a:prstGeom>
          <a:ln w="57150">
            <a:prstDash val="sysDash"/>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6C57D0FC-45B3-4F03-F2C6-ADAC613E8B4C}"/>
              </a:ext>
            </a:extLst>
          </p:cNvPr>
          <p:cNvSpPr/>
          <p:nvPr/>
        </p:nvSpPr>
        <p:spPr>
          <a:xfrm>
            <a:off x="4847303" y="1508688"/>
            <a:ext cx="3470594" cy="5137918"/>
          </a:xfrm>
          <a:prstGeom prst="rect">
            <a:avLst/>
          </a:prstGeom>
          <a:noFill/>
          <a:ln w="762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a:extLst>
              <a:ext uri="{FF2B5EF4-FFF2-40B4-BE49-F238E27FC236}">
                <a16:creationId xmlns:a16="http://schemas.microsoft.com/office/drawing/2014/main" id="{2EA0CAA5-ECF3-0346-9278-696512C135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70574" y="1951835"/>
            <a:ext cx="1304508" cy="130450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Visual Identity | The Texas Tech Brand | Texas Tech">
            <a:extLst>
              <a:ext uri="{FF2B5EF4-FFF2-40B4-BE49-F238E27FC236}">
                <a16:creationId xmlns:a16="http://schemas.microsoft.com/office/drawing/2014/main" id="{0197BCCF-706B-D4C8-7563-6F121D2E771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5686"/>
          <a:stretch>
            <a:fillRect/>
          </a:stretch>
        </p:blipFill>
        <p:spPr bwMode="auto">
          <a:xfrm>
            <a:off x="9127814" y="2027278"/>
            <a:ext cx="1045612" cy="1194206"/>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4343C8C5-ED76-A65F-D7E2-0561B4070D3C}"/>
              </a:ext>
            </a:extLst>
          </p:cNvPr>
          <p:cNvSpPr txBox="1"/>
          <p:nvPr/>
        </p:nvSpPr>
        <p:spPr>
          <a:xfrm>
            <a:off x="9362194" y="1448976"/>
            <a:ext cx="2316935" cy="523220"/>
          </a:xfrm>
          <a:prstGeom prst="rect">
            <a:avLst/>
          </a:prstGeom>
          <a:noFill/>
        </p:spPr>
        <p:txBody>
          <a:bodyPr wrap="square" rtlCol="0">
            <a:spAutoFit/>
          </a:bodyPr>
          <a:lstStyle/>
          <a:p>
            <a:r>
              <a:rPr lang="en-US" sz="2800" dirty="0">
                <a:latin typeface="Abadi" panose="020B0604020104020204" pitchFamily="34" charset="0"/>
              </a:rPr>
              <a:t>Full Genomes</a:t>
            </a:r>
          </a:p>
        </p:txBody>
      </p:sp>
      <p:sp>
        <p:nvSpPr>
          <p:cNvPr id="22" name="Content Placeholder 2">
            <a:extLst>
              <a:ext uri="{FF2B5EF4-FFF2-40B4-BE49-F238E27FC236}">
                <a16:creationId xmlns:a16="http://schemas.microsoft.com/office/drawing/2014/main" id="{F6F71DFC-E1A9-FDC0-98DE-1DB110E5DE8D}"/>
              </a:ext>
            </a:extLst>
          </p:cNvPr>
          <p:cNvSpPr txBox="1">
            <a:spLocks/>
          </p:cNvSpPr>
          <p:nvPr/>
        </p:nvSpPr>
        <p:spPr>
          <a:xfrm>
            <a:off x="8603032" y="3311425"/>
            <a:ext cx="3524171" cy="348686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latin typeface="Abadi" panose="020B0604020104020204" pitchFamily="34" charset="0"/>
              </a:rPr>
              <a:t>Fine-scale population genomics</a:t>
            </a:r>
          </a:p>
          <a:p>
            <a:pPr marL="0" indent="0" algn="ctr">
              <a:buFont typeface="Arial" panose="020B0604020202020204" pitchFamily="34" charset="0"/>
              <a:buNone/>
            </a:pPr>
            <a:r>
              <a:rPr lang="en-US" dirty="0">
                <a:latin typeface="Abadi" panose="020B0604020104020204" pitchFamily="34" charset="0"/>
              </a:rPr>
              <a:t>Genomic basis of traits</a:t>
            </a:r>
          </a:p>
          <a:p>
            <a:pPr marL="0" indent="0" algn="ctr">
              <a:buNone/>
            </a:pPr>
            <a:r>
              <a:rPr lang="en-US" dirty="0">
                <a:latin typeface="Abadi" panose="020B0604020104020204" pitchFamily="34" charset="0"/>
              </a:rPr>
              <a:t>In depth conservation genetics</a:t>
            </a:r>
          </a:p>
          <a:p>
            <a:pPr marL="0" indent="0" algn="ctr">
              <a:buFont typeface="Arial" panose="020B0604020202020204" pitchFamily="34" charset="0"/>
              <a:buNone/>
            </a:pPr>
            <a:r>
              <a:rPr lang="en-US" dirty="0">
                <a:latin typeface="Abadi" panose="020B0604020104020204" pitchFamily="34" charset="0"/>
              </a:rPr>
              <a:t>Genomically informed simulations</a:t>
            </a:r>
          </a:p>
        </p:txBody>
      </p:sp>
      <p:pic>
        <p:nvPicPr>
          <p:cNvPr id="28" name="Picture 27" descr="The Field Museum | ForestGEO">
            <a:extLst>
              <a:ext uri="{FF2B5EF4-FFF2-40B4-BE49-F238E27FC236}">
                <a16:creationId xmlns:a16="http://schemas.microsoft.com/office/drawing/2014/main" id="{0F4D5CE4-4A26-61DC-7853-2C604D11D7CF}"/>
              </a:ext>
            </a:extLst>
          </p:cNvPr>
          <p:cNvPicPr>
            <a:picLocks noChangeAspect="1"/>
          </p:cNvPicPr>
          <p:nvPr/>
        </p:nvPicPr>
        <p:blipFill>
          <a:blip r:embed="rId6"/>
          <a:stretch>
            <a:fillRect/>
          </a:stretch>
        </p:blipFill>
        <p:spPr>
          <a:xfrm>
            <a:off x="857734" y="1719498"/>
            <a:ext cx="2750678" cy="1375339"/>
          </a:xfrm>
          <a:prstGeom prst="rect">
            <a:avLst/>
          </a:prstGeom>
        </p:spPr>
      </p:pic>
      <p:sp>
        <p:nvSpPr>
          <p:cNvPr id="29" name="Content Placeholder 2">
            <a:extLst>
              <a:ext uri="{FF2B5EF4-FFF2-40B4-BE49-F238E27FC236}">
                <a16:creationId xmlns:a16="http://schemas.microsoft.com/office/drawing/2014/main" id="{9B1D458A-CDC9-FF70-8E5D-540E6327FEC3}"/>
              </a:ext>
            </a:extLst>
          </p:cNvPr>
          <p:cNvSpPr txBox="1">
            <a:spLocks/>
          </p:cNvSpPr>
          <p:nvPr/>
        </p:nvSpPr>
        <p:spPr>
          <a:xfrm>
            <a:off x="277762" y="2891863"/>
            <a:ext cx="3950110" cy="1375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latin typeface="Abadi" panose="020B0604020104020204" pitchFamily="34" charset="0"/>
              </a:rPr>
              <a:t>Screening for parasites</a:t>
            </a:r>
          </a:p>
          <a:p>
            <a:pPr marL="0" indent="0" algn="ctr">
              <a:buFont typeface="Arial" panose="020B0604020202020204" pitchFamily="34" charset="0"/>
              <a:buNone/>
            </a:pPr>
            <a:r>
              <a:rPr lang="en-US" dirty="0">
                <a:latin typeface="Abadi" panose="020B0604020104020204" pitchFamily="34" charset="0"/>
              </a:rPr>
              <a:t>Few gene phylogeography</a:t>
            </a:r>
          </a:p>
        </p:txBody>
      </p:sp>
      <p:sp>
        <p:nvSpPr>
          <p:cNvPr id="30" name="TextBox 29">
            <a:extLst>
              <a:ext uri="{FF2B5EF4-FFF2-40B4-BE49-F238E27FC236}">
                <a16:creationId xmlns:a16="http://schemas.microsoft.com/office/drawing/2014/main" id="{64AB2A12-A260-B4CD-9953-D1481E345278}"/>
              </a:ext>
            </a:extLst>
          </p:cNvPr>
          <p:cNvSpPr txBox="1"/>
          <p:nvPr/>
        </p:nvSpPr>
        <p:spPr>
          <a:xfrm>
            <a:off x="1671338" y="1466899"/>
            <a:ext cx="1116011" cy="523220"/>
          </a:xfrm>
          <a:prstGeom prst="rect">
            <a:avLst/>
          </a:prstGeom>
          <a:noFill/>
        </p:spPr>
        <p:txBody>
          <a:bodyPr wrap="none" rtlCol="0">
            <a:spAutoFit/>
          </a:bodyPr>
          <a:lstStyle/>
          <a:p>
            <a:r>
              <a:rPr lang="en-US" sz="2800" dirty="0">
                <a:latin typeface="Abadi" panose="020B0604020104020204" pitchFamily="34" charset="0"/>
              </a:rPr>
              <a:t>Genes</a:t>
            </a:r>
          </a:p>
        </p:txBody>
      </p:sp>
      <p:pic>
        <p:nvPicPr>
          <p:cNvPr id="31" name="Picture 30" descr="University of Rochester - WUN">
            <a:extLst>
              <a:ext uri="{FF2B5EF4-FFF2-40B4-BE49-F238E27FC236}">
                <a16:creationId xmlns:a16="http://schemas.microsoft.com/office/drawing/2014/main" id="{EFD8FB9E-3B36-387D-6856-C9D40D152419}"/>
              </a:ext>
            </a:extLst>
          </p:cNvPr>
          <p:cNvPicPr>
            <a:picLocks noChangeAspect="1"/>
          </p:cNvPicPr>
          <p:nvPr/>
        </p:nvPicPr>
        <p:blipFill>
          <a:blip r:embed="rId7"/>
          <a:stretch>
            <a:fillRect/>
          </a:stretch>
        </p:blipFill>
        <p:spPr>
          <a:xfrm>
            <a:off x="1459082" y="4241080"/>
            <a:ext cx="1598749" cy="1255018"/>
          </a:xfrm>
          <a:prstGeom prst="rect">
            <a:avLst/>
          </a:prstGeom>
        </p:spPr>
      </p:pic>
      <p:sp>
        <p:nvSpPr>
          <p:cNvPr id="32" name="Content Placeholder 2">
            <a:extLst>
              <a:ext uri="{FF2B5EF4-FFF2-40B4-BE49-F238E27FC236}">
                <a16:creationId xmlns:a16="http://schemas.microsoft.com/office/drawing/2014/main" id="{8CF9ED9C-B3FD-797D-CB1D-28ECC4A05734}"/>
              </a:ext>
            </a:extLst>
          </p:cNvPr>
          <p:cNvSpPr txBox="1">
            <a:spLocks/>
          </p:cNvSpPr>
          <p:nvPr/>
        </p:nvSpPr>
        <p:spPr>
          <a:xfrm>
            <a:off x="277762" y="5502887"/>
            <a:ext cx="3950110" cy="135511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latin typeface="Abadi" panose="020B0604020104020204" pitchFamily="34" charset="0"/>
              </a:rPr>
              <a:t>Number of queens in ant colonies</a:t>
            </a:r>
          </a:p>
          <a:p>
            <a:pPr marL="0" indent="0" algn="ctr">
              <a:buFont typeface="Arial" panose="020B0604020202020204" pitchFamily="34" charset="0"/>
              <a:buNone/>
            </a:pPr>
            <a:r>
              <a:rPr lang="en-US" dirty="0">
                <a:latin typeface="Abadi" panose="020B0604020104020204" pitchFamily="34" charset="0"/>
              </a:rPr>
              <a:t>Testing for clonality</a:t>
            </a:r>
          </a:p>
        </p:txBody>
      </p:sp>
    </p:spTree>
    <p:extLst>
      <p:ext uri="{BB962C8B-B14F-4D97-AF65-F5344CB8AC3E}">
        <p14:creationId xmlns:p14="http://schemas.microsoft.com/office/powerpoint/2010/main" val="1301002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3C865-41C9-5F80-9388-6297A0A02C89}"/>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Workshop goals</a:t>
            </a:r>
          </a:p>
        </p:txBody>
      </p:sp>
      <p:sp>
        <p:nvSpPr>
          <p:cNvPr id="3" name="Content Placeholder 2">
            <a:extLst>
              <a:ext uri="{FF2B5EF4-FFF2-40B4-BE49-F238E27FC236}">
                <a16:creationId xmlns:a16="http://schemas.microsoft.com/office/drawing/2014/main" id="{9FA6FBA0-69C9-DACA-E83B-04ADD59CA007}"/>
              </a:ext>
            </a:extLst>
          </p:cNvPr>
          <p:cNvSpPr>
            <a:spLocks noGrp="1"/>
          </p:cNvSpPr>
          <p:nvPr>
            <p:ph idx="1"/>
          </p:nvPr>
        </p:nvSpPr>
        <p:spPr>
          <a:xfrm>
            <a:off x="838200" y="1825625"/>
            <a:ext cx="10030428" cy="4351338"/>
          </a:xfrm>
        </p:spPr>
        <p:txBody>
          <a:bodyPr>
            <a:normAutofit/>
          </a:bodyPr>
          <a:lstStyle/>
          <a:p>
            <a:pPr marL="514350" indent="-514350">
              <a:buFont typeface="+mj-lt"/>
              <a:buAutoNum type="arabicPeriod"/>
            </a:pPr>
            <a:r>
              <a:rPr lang="en-US" sz="3200" dirty="0">
                <a:latin typeface="Abadi" panose="020B0604020104020204" pitchFamily="34" charset="0"/>
              </a:rPr>
              <a:t>Get familiar with command line bioinformatics</a:t>
            </a:r>
          </a:p>
          <a:p>
            <a:pPr marL="514350" indent="-514350">
              <a:buFont typeface="+mj-lt"/>
              <a:buAutoNum type="arabicPeriod"/>
            </a:pPr>
            <a:r>
              <a:rPr lang="en-US" sz="3200" dirty="0">
                <a:latin typeface="Abadi" panose="020B0604020104020204" pitchFamily="34" charset="0"/>
              </a:rPr>
              <a:t>Understand how to interpret common population genomic analyses</a:t>
            </a:r>
          </a:p>
          <a:p>
            <a:pPr marL="514350" indent="-514350">
              <a:buFont typeface="+mj-lt"/>
              <a:buAutoNum type="arabicPeriod"/>
            </a:pPr>
            <a:r>
              <a:rPr lang="en-US" sz="3200" dirty="0">
                <a:latin typeface="Abadi" panose="020B0604020104020204" pitchFamily="34" charset="0"/>
              </a:rPr>
              <a:t>Work through a dataset from start to finish</a:t>
            </a:r>
          </a:p>
          <a:p>
            <a:pPr marL="514350" indent="-514350">
              <a:buFont typeface="+mj-lt"/>
              <a:buAutoNum type="arabicPeriod"/>
            </a:pPr>
            <a:r>
              <a:rPr lang="en-US" sz="3200" dirty="0">
                <a:latin typeface="Abadi" panose="020B0604020104020204" pitchFamily="34" charset="0"/>
              </a:rPr>
              <a:t>Write up the results of your work</a:t>
            </a:r>
          </a:p>
        </p:txBody>
      </p:sp>
    </p:spTree>
    <p:extLst>
      <p:ext uri="{BB962C8B-B14F-4D97-AF65-F5344CB8AC3E}">
        <p14:creationId xmlns:p14="http://schemas.microsoft.com/office/powerpoint/2010/main" val="483032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C1D50-902C-5CD8-9FBE-BE91D13D160A}"/>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0B7EABD7-D570-B00A-C032-205BDA1333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2581" y="162899"/>
            <a:ext cx="5278215" cy="6085501"/>
          </a:xfrm>
          <a:prstGeom prst="rect">
            <a:avLst/>
          </a:prstGeom>
        </p:spPr>
      </p:pic>
      <p:sp>
        <p:nvSpPr>
          <p:cNvPr id="2" name="Title 1">
            <a:extLst>
              <a:ext uri="{FF2B5EF4-FFF2-40B4-BE49-F238E27FC236}">
                <a16:creationId xmlns:a16="http://schemas.microsoft.com/office/drawing/2014/main" id="{62CB6E2B-BB04-9265-6D0B-B4B99431618E}"/>
              </a:ext>
            </a:extLst>
          </p:cNvPr>
          <p:cNvSpPr>
            <a:spLocks noGrp="1"/>
          </p:cNvSpPr>
          <p:nvPr>
            <p:ph type="title"/>
          </p:nvPr>
        </p:nvSpPr>
        <p:spPr>
          <a:xfrm>
            <a:off x="838200" y="251924"/>
            <a:ext cx="10515600" cy="1325563"/>
          </a:xfrm>
        </p:spPr>
        <p:txBody>
          <a:bodyPr>
            <a:normAutofit/>
          </a:bodyPr>
          <a:lstStyle/>
          <a:p>
            <a:r>
              <a:rPr lang="en-US" dirty="0" err="1">
                <a:latin typeface="Aharoni" panose="02010803020104030203" pitchFamily="2" charset="-79"/>
                <a:cs typeface="Aharoni" panose="02010803020104030203" pitchFamily="2" charset="-79"/>
              </a:rPr>
              <a:t>Phylogenomics</a:t>
            </a:r>
            <a:r>
              <a:rPr lang="en-US" dirty="0">
                <a:latin typeface="Aharoni" panose="02010803020104030203" pitchFamily="2" charset="-79"/>
                <a:cs typeface="Aharoni" panose="02010803020104030203" pitchFamily="2" charset="-79"/>
              </a:rPr>
              <a:t>:</a:t>
            </a:r>
            <a:br>
              <a:rPr lang="en-US" dirty="0">
                <a:latin typeface="Aharoni" panose="02010803020104030203" pitchFamily="2" charset="-79"/>
                <a:cs typeface="Aharoni" panose="02010803020104030203" pitchFamily="2" charset="-79"/>
              </a:rPr>
            </a:br>
            <a:r>
              <a:rPr lang="en-US" dirty="0">
                <a:latin typeface="Aharoni" panose="02010803020104030203" pitchFamily="2" charset="-79"/>
                <a:cs typeface="Aharoni" panose="02010803020104030203" pitchFamily="2" charset="-79"/>
              </a:rPr>
              <a:t>How are species related?</a:t>
            </a:r>
          </a:p>
        </p:txBody>
      </p:sp>
      <p:pic>
        <p:nvPicPr>
          <p:cNvPr id="8" name="Picture 7" descr="A diagram of different types of metal&#10;&#10;Description automatically generated">
            <a:extLst>
              <a:ext uri="{FF2B5EF4-FFF2-40B4-BE49-F238E27FC236}">
                <a16:creationId xmlns:a16="http://schemas.microsoft.com/office/drawing/2014/main" id="{9D659C67-1298-FB15-9F71-00332382B784}"/>
              </a:ext>
            </a:extLst>
          </p:cNvPr>
          <p:cNvPicPr>
            <a:picLocks noChangeAspect="1"/>
          </p:cNvPicPr>
          <p:nvPr/>
        </p:nvPicPr>
        <p:blipFill rotWithShape="1">
          <a:blip r:embed="rId4">
            <a:extLst>
              <a:ext uri="{28A0092B-C50C-407E-A947-70E740481C1C}">
                <a14:useLocalDpi xmlns:a14="http://schemas.microsoft.com/office/drawing/2010/main" val="0"/>
              </a:ext>
            </a:extLst>
          </a:blip>
          <a:srcRect l="32888" t="-936" r="-1" b="59595"/>
          <a:stretch>
            <a:fillRect/>
          </a:stretch>
        </p:blipFill>
        <p:spPr>
          <a:xfrm>
            <a:off x="137652" y="4292720"/>
            <a:ext cx="6676103" cy="2565280"/>
          </a:xfrm>
          <a:prstGeom prst="rect">
            <a:avLst/>
          </a:prstGeom>
        </p:spPr>
      </p:pic>
      <p:pic>
        <p:nvPicPr>
          <p:cNvPr id="10" name="Picture 6" descr="Metallic Starling (metallica)">
            <a:extLst>
              <a:ext uri="{FF2B5EF4-FFF2-40B4-BE49-F238E27FC236}">
                <a16:creationId xmlns:a16="http://schemas.microsoft.com/office/drawing/2014/main" id="{DE677576-3F76-BA08-7A67-6ACE581670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6451" y="2083782"/>
            <a:ext cx="2117662" cy="170264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descr="Makira Starling">
            <a:extLst>
              <a:ext uri="{FF2B5EF4-FFF2-40B4-BE49-F238E27FC236}">
                <a16:creationId xmlns:a16="http://schemas.microsoft.com/office/drawing/2014/main" id="{E3C6EA41-D6FA-4939-FBB3-98AEDDA2B5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7320" y="2083783"/>
            <a:ext cx="2749453" cy="1702643"/>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A1B2CB55-7758-FFBD-21E4-D7E33C9C979E}"/>
              </a:ext>
            </a:extLst>
          </p:cNvPr>
          <p:cNvSpPr/>
          <p:nvPr/>
        </p:nvSpPr>
        <p:spPr>
          <a:xfrm>
            <a:off x="9812594" y="3212690"/>
            <a:ext cx="2279376" cy="4055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72B49E7-8D70-BE47-D01D-35D4D7E65244}"/>
              </a:ext>
            </a:extLst>
          </p:cNvPr>
          <p:cNvSpPr/>
          <p:nvPr/>
        </p:nvSpPr>
        <p:spPr>
          <a:xfrm>
            <a:off x="9521689" y="3667432"/>
            <a:ext cx="2279376" cy="43262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9056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EC102-8076-1548-E0C1-42E0F4FBC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D273A-CCF8-0299-21EC-DA1567DBB2C0}"/>
              </a:ext>
            </a:extLst>
          </p:cNvPr>
          <p:cNvSpPr>
            <a:spLocks noGrp="1"/>
          </p:cNvSpPr>
          <p:nvPr>
            <p:ph type="title"/>
          </p:nvPr>
        </p:nvSpPr>
        <p:spPr>
          <a:xfrm>
            <a:off x="838200" y="0"/>
            <a:ext cx="10515600" cy="1325563"/>
          </a:xfrm>
        </p:spPr>
        <p:txBody>
          <a:bodyPr/>
          <a:lstStyle/>
          <a:p>
            <a:r>
              <a:rPr lang="en-US" dirty="0">
                <a:latin typeface="Aharoni" panose="02010803020104030203" pitchFamily="2" charset="-79"/>
                <a:cs typeface="Aharoni" panose="02010803020104030203" pitchFamily="2" charset="-79"/>
              </a:rPr>
              <a:t>Phylogeography:</a:t>
            </a:r>
            <a:br>
              <a:rPr lang="en-US" dirty="0">
                <a:latin typeface="Aharoni" panose="02010803020104030203" pitchFamily="2" charset="-79"/>
                <a:cs typeface="Aharoni" panose="02010803020104030203" pitchFamily="2" charset="-79"/>
              </a:rPr>
            </a:br>
            <a:r>
              <a:rPr lang="en-US" dirty="0">
                <a:latin typeface="Aharoni" panose="02010803020104030203" pitchFamily="2" charset="-79"/>
                <a:cs typeface="Aharoni" panose="02010803020104030203" pitchFamily="2" charset="-79"/>
              </a:rPr>
              <a:t>How are populations connected?</a:t>
            </a:r>
          </a:p>
        </p:txBody>
      </p:sp>
      <p:pic>
        <p:nvPicPr>
          <p:cNvPr id="3" name="Picture 2" descr="A group of penguins on a map&#10;&#10;Description automatically generated">
            <a:extLst>
              <a:ext uri="{FF2B5EF4-FFF2-40B4-BE49-F238E27FC236}">
                <a16:creationId xmlns:a16="http://schemas.microsoft.com/office/drawing/2014/main" id="{4F6FD09E-DAC1-4721-0391-CF482C98FFFA}"/>
              </a:ext>
            </a:extLst>
          </p:cNvPr>
          <p:cNvPicPr>
            <a:picLocks noChangeAspect="1"/>
          </p:cNvPicPr>
          <p:nvPr/>
        </p:nvPicPr>
        <p:blipFill rotWithShape="1">
          <a:blip r:embed="rId3">
            <a:extLst>
              <a:ext uri="{28A0092B-C50C-407E-A947-70E740481C1C}">
                <a14:useLocalDpi xmlns:a14="http://schemas.microsoft.com/office/drawing/2010/main" val="0"/>
              </a:ext>
            </a:extLst>
          </a:blip>
          <a:srcRect l="52635" b="49109"/>
          <a:stretch/>
        </p:blipFill>
        <p:spPr>
          <a:xfrm>
            <a:off x="73964" y="1663777"/>
            <a:ext cx="5950587" cy="4850878"/>
          </a:xfrm>
          <a:prstGeom prst="rect">
            <a:avLst/>
          </a:prstGeom>
        </p:spPr>
      </p:pic>
      <p:pic>
        <p:nvPicPr>
          <p:cNvPr id="5" name="Graphic 4">
            <a:extLst>
              <a:ext uri="{FF2B5EF4-FFF2-40B4-BE49-F238E27FC236}">
                <a16:creationId xmlns:a16="http://schemas.microsoft.com/office/drawing/2014/main" id="{EACEBAA1-39EE-2301-20D7-BAE891AE23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85702" y="1238002"/>
            <a:ext cx="4906297" cy="3742445"/>
          </a:xfrm>
          <a:prstGeom prst="rect">
            <a:avLst/>
          </a:prstGeom>
        </p:spPr>
      </p:pic>
      <p:pic>
        <p:nvPicPr>
          <p:cNvPr id="7" name="Picture 6">
            <a:extLst>
              <a:ext uri="{FF2B5EF4-FFF2-40B4-BE49-F238E27FC236}">
                <a16:creationId xmlns:a16="http://schemas.microsoft.com/office/drawing/2014/main" id="{26637530-17D7-20E8-1EB6-D2107EA35D7F}"/>
              </a:ext>
            </a:extLst>
          </p:cNvPr>
          <p:cNvPicPr>
            <a:picLocks noChangeAspect="1"/>
          </p:cNvPicPr>
          <p:nvPr/>
        </p:nvPicPr>
        <p:blipFill>
          <a:blip r:embed="rId5"/>
          <a:srcRect t="1134"/>
          <a:stretch>
            <a:fillRect/>
          </a:stretch>
        </p:blipFill>
        <p:spPr>
          <a:xfrm>
            <a:off x="6024552" y="5199065"/>
            <a:ext cx="6093483" cy="1367747"/>
          </a:xfrm>
          <a:prstGeom prst="rect">
            <a:avLst/>
          </a:prstGeom>
        </p:spPr>
      </p:pic>
    </p:spTree>
    <p:extLst>
      <p:ext uri="{BB962C8B-B14F-4D97-AF65-F5344CB8AC3E}">
        <p14:creationId xmlns:p14="http://schemas.microsoft.com/office/powerpoint/2010/main" val="1329427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28233-FF45-8C0A-75BD-0A6559493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E4482A-E130-31A3-7759-AB2FA6D97560}"/>
              </a:ext>
            </a:extLst>
          </p:cNvPr>
          <p:cNvSpPr>
            <a:spLocks noGrp="1"/>
          </p:cNvSpPr>
          <p:nvPr>
            <p:ph type="title"/>
          </p:nvPr>
        </p:nvSpPr>
        <p:spPr>
          <a:xfrm>
            <a:off x="838200" y="104375"/>
            <a:ext cx="10515600" cy="1325563"/>
          </a:xfrm>
        </p:spPr>
        <p:txBody>
          <a:bodyPr/>
          <a:lstStyle/>
          <a:p>
            <a:r>
              <a:rPr lang="en-US" dirty="0">
                <a:latin typeface="Aharoni" panose="02010803020104030203" pitchFamily="2" charset="-79"/>
                <a:cs typeface="Aharoni" panose="02010803020104030203" pitchFamily="2" charset="-79"/>
              </a:rPr>
              <a:t>Coarse* genomic landscapes :</a:t>
            </a:r>
            <a:br>
              <a:rPr lang="en-US" dirty="0">
                <a:latin typeface="Aharoni" panose="02010803020104030203" pitchFamily="2" charset="-79"/>
                <a:cs typeface="Aharoni" panose="02010803020104030203" pitchFamily="2" charset="-79"/>
              </a:rPr>
            </a:br>
            <a:r>
              <a:rPr lang="en-US" dirty="0">
                <a:latin typeface="Aharoni" panose="02010803020104030203" pitchFamily="2" charset="-79"/>
                <a:cs typeface="Aharoni" panose="02010803020104030203" pitchFamily="2" charset="-79"/>
              </a:rPr>
              <a:t>How is divergence distributed?</a:t>
            </a:r>
          </a:p>
        </p:txBody>
      </p:sp>
      <p:pic>
        <p:nvPicPr>
          <p:cNvPr id="6" name="Picture 5">
            <a:extLst>
              <a:ext uri="{FF2B5EF4-FFF2-40B4-BE49-F238E27FC236}">
                <a16:creationId xmlns:a16="http://schemas.microsoft.com/office/drawing/2014/main" id="{41523869-0EA6-F896-03D2-803F849972BB}"/>
              </a:ext>
            </a:extLst>
          </p:cNvPr>
          <p:cNvPicPr>
            <a:picLocks noChangeAspect="1"/>
          </p:cNvPicPr>
          <p:nvPr/>
        </p:nvPicPr>
        <p:blipFill>
          <a:blip r:embed="rId3">
            <a:extLst>
              <a:ext uri="{28A0092B-C50C-407E-A947-70E740481C1C}">
                <a14:useLocalDpi xmlns:a14="http://schemas.microsoft.com/office/drawing/2010/main" val="0"/>
              </a:ext>
            </a:extLst>
          </a:blip>
          <a:srcRect r="50331"/>
          <a:stretch>
            <a:fillRect/>
          </a:stretch>
        </p:blipFill>
        <p:spPr>
          <a:xfrm>
            <a:off x="258097" y="1506986"/>
            <a:ext cx="5837903" cy="4981688"/>
          </a:xfrm>
          <a:prstGeom prst="rect">
            <a:avLst/>
          </a:prstGeom>
        </p:spPr>
      </p:pic>
      <p:pic>
        <p:nvPicPr>
          <p:cNvPr id="9" name="Picture 8">
            <a:extLst>
              <a:ext uri="{FF2B5EF4-FFF2-40B4-BE49-F238E27FC236}">
                <a16:creationId xmlns:a16="http://schemas.microsoft.com/office/drawing/2014/main" id="{64A6E324-7874-A9E8-1DDB-4E4B6FD80D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7000" y="1267256"/>
            <a:ext cx="5456903" cy="2916178"/>
          </a:xfrm>
          <a:prstGeom prst="rect">
            <a:avLst/>
          </a:prstGeom>
        </p:spPr>
      </p:pic>
      <p:grpSp>
        <p:nvGrpSpPr>
          <p:cNvPr id="10" name="Group 9">
            <a:extLst>
              <a:ext uri="{FF2B5EF4-FFF2-40B4-BE49-F238E27FC236}">
                <a16:creationId xmlns:a16="http://schemas.microsoft.com/office/drawing/2014/main" id="{A0D214DF-6629-547B-7E40-CF1C440FB92C}"/>
              </a:ext>
            </a:extLst>
          </p:cNvPr>
          <p:cNvGrpSpPr/>
          <p:nvPr/>
        </p:nvGrpSpPr>
        <p:grpSpPr>
          <a:xfrm>
            <a:off x="6484243" y="4027326"/>
            <a:ext cx="5639061" cy="2720477"/>
            <a:chOff x="547154" y="1442719"/>
            <a:chExt cx="11218126" cy="5412008"/>
          </a:xfrm>
        </p:grpSpPr>
        <p:pic>
          <p:nvPicPr>
            <p:cNvPr id="11" name="Picture 10">
              <a:extLst>
                <a:ext uri="{FF2B5EF4-FFF2-40B4-BE49-F238E27FC236}">
                  <a16:creationId xmlns:a16="http://schemas.microsoft.com/office/drawing/2014/main" id="{955ADB10-15CE-EC4A-735B-A60730453BDD}"/>
                </a:ext>
              </a:extLst>
            </p:cNvPr>
            <p:cNvPicPr>
              <a:picLocks noChangeAspect="1"/>
            </p:cNvPicPr>
            <p:nvPr/>
          </p:nvPicPr>
          <p:blipFill>
            <a:blip r:embed="rId5">
              <a:extLst>
                <a:ext uri="{28A0092B-C50C-407E-A947-70E740481C1C}">
                  <a14:useLocalDpi xmlns:a14="http://schemas.microsoft.com/office/drawing/2010/main" val="0"/>
                </a:ext>
              </a:extLst>
            </a:blip>
            <a:srcRect l="2605" t="9434" b="9258"/>
            <a:stretch>
              <a:fillRect/>
            </a:stretch>
          </p:blipFill>
          <p:spPr>
            <a:xfrm>
              <a:off x="1066800" y="1442719"/>
              <a:ext cx="10698480" cy="4915965"/>
            </a:xfrm>
            <a:prstGeom prst="rect">
              <a:avLst/>
            </a:prstGeom>
          </p:spPr>
        </p:pic>
        <p:sp>
          <p:nvSpPr>
            <p:cNvPr id="12" name="TextBox 11">
              <a:extLst>
                <a:ext uri="{FF2B5EF4-FFF2-40B4-BE49-F238E27FC236}">
                  <a16:creationId xmlns:a16="http://schemas.microsoft.com/office/drawing/2014/main" id="{58C27337-1BD9-8F3B-1E7A-0DEB15FFE3B6}"/>
                </a:ext>
              </a:extLst>
            </p:cNvPr>
            <p:cNvSpPr txBox="1"/>
            <p:nvPr/>
          </p:nvSpPr>
          <p:spPr>
            <a:xfrm rot="16200000">
              <a:off x="-1178608" y="3852874"/>
              <a:ext cx="3997169" cy="545646"/>
            </a:xfrm>
            <a:prstGeom prst="rect">
              <a:avLst/>
            </a:prstGeom>
            <a:noFill/>
          </p:spPr>
          <p:txBody>
            <a:bodyPr wrap="none" rtlCol="0">
              <a:spAutoFit/>
            </a:bodyPr>
            <a:lstStyle/>
            <a:p>
              <a:r>
                <a:rPr lang="en-US" sz="1600" dirty="0"/>
                <a:t>Correlation with body size</a:t>
              </a:r>
            </a:p>
          </p:txBody>
        </p:sp>
        <p:sp>
          <p:nvSpPr>
            <p:cNvPr id="13" name="TextBox 12">
              <a:extLst>
                <a:ext uri="{FF2B5EF4-FFF2-40B4-BE49-F238E27FC236}">
                  <a16:creationId xmlns:a16="http://schemas.microsoft.com/office/drawing/2014/main" id="{E12F1F16-9168-8298-200E-C6420DDCBAD8}"/>
                </a:ext>
              </a:extLst>
            </p:cNvPr>
            <p:cNvSpPr txBox="1"/>
            <p:nvPr/>
          </p:nvSpPr>
          <p:spPr>
            <a:xfrm>
              <a:off x="4914266" y="6358684"/>
              <a:ext cx="3143252" cy="496043"/>
            </a:xfrm>
            <a:prstGeom prst="rect">
              <a:avLst/>
            </a:prstGeom>
            <a:noFill/>
          </p:spPr>
          <p:txBody>
            <a:bodyPr wrap="none" rtlCol="0">
              <a:spAutoFit/>
            </a:bodyPr>
            <a:lstStyle/>
            <a:p>
              <a:r>
                <a:rPr lang="en-US" sz="1400" dirty="0"/>
                <a:t>Position in the genome</a:t>
              </a:r>
            </a:p>
          </p:txBody>
        </p:sp>
      </p:grpSp>
    </p:spTree>
    <p:extLst>
      <p:ext uri="{BB962C8B-B14F-4D97-AF65-F5344CB8AC3E}">
        <p14:creationId xmlns:p14="http://schemas.microsoft.com/office/powerpoint/2010/main" val="3740913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E04AD-A91F-6383-7E74-3FDFBCCBB9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0D2CA3-39BE-6612-F911-F839B73F9EBD}"/>
              </a:ext>
            </a:extLst>
          </p:cNvPr>
          <p:cNvSpPr>
            <a:spLocks noGrp="1"/>
          </p:cNvSpPr>
          <p:nvPr>
            <p:ph type="title"/>
          </p:nvPr>
        </p:nvSpPr>
        <p:spPr>
          <a:xfrm>
            <a:off x="838200" y="104375"/>
            <a:ext cx="10515600" cy="1325563"/>
          </a:xfrm>
        </p:spPr>
        <p:txBody>
          <a:bodyPr/>
          <a:lstStyle/>
          <a:p>
            <a:r>
              <a:rPr lang="en-US" dirty="0">
                <a:latin typeface="Aharoni" panose="02010803020104030203" pitchFamily="2" charset="-79"/>
                <a:cs typeface="Aharoni" panose="02010803020104030203" pitchFamily="2" charset="-79"/>
              </a:rPr>
              <a:t>Genetic diversity:</a:t>
            </a:r>
            <a:br>
              <a:rPr lang="en-US" dirty="0">
                <a:latin typeface="Aharoni" panose="02010803020104030203" pitchFamily="2" charset="-79"/>
                <a:cs typeface="Aharoni" panose="02010803020104030203" pitchFamily="2" charset="-79"/>
              </a:rPr>
            </a:br>
            <a:r>
              <a:rPr lang="en-US" dirty="0">
                <a:latin typeface="Aharoni" panose="02010803020104030203" pitchFamily="2" charset="-79"/>
                <a:cs typeface="Aharoni" panose="02010803020104030203" pitchFamily="2" charset="-79"/>
              </a:rPr>
              <a:t>How large and stable are populations?</a:t>
            </a:r>
          </a:p>
        </p:txBody>
      </p:sp>
      <p:pic>
        <p:nvPicPr>
          <p:cNvPr id="4" name="Picture 3">
            <a:extLst>
              <a:ext uri="{FF2B5EF4-FFF2-40B4-BE49-F238E27FC236}">
                <a16:creationId xmlns:a16="http://schemas.microsoft.com/office/drawing/2014/main" id="{84FF8B73-F314-F0A5-A5F0-7A019A655A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8132" y="1429938"/>
            <a:ext cx="9715735" cy="5253958"/>
          </a:xfrm>
          <a:prstGeom prst="rect">
            <a:avLst/>
          </a:prstGeom>
        </p:spPr>
      </p:pic>
      <p:sp>
        <p:nvSpPr>
          <p:cNvPr id="3" name="Rectangle 2">
            <a:extLst>
              <a:ext uri="{FF2B5EF4-FFF2-40B4-BE49-F238E27FC236}">
                <a16:creationId xmlns:a16="http://schemas.microsoft.com/office/drawing/2014/main" id="{55B7B1C2-42A3-BDCE-34CD-72F9172890BC}"/>
              </a:ext>
            </a:extLst>
          </p:cNvPr>
          <p:cNvSpPr/>
          <p:nvPr/>
        </p:nvSpPr>
        <p:spPr>
          <a:xfrm>
            <a:off x="7772400" y="1429938"/>
            <a:ext cx="3181467" cy="2405462"/>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5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AF543-F764-EB03-7D5E-CF4FB467D3C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BB70B012-3FB5-76A0-D079-98E22FCE71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8568" y="1250930"/>
            <a:ext cx="8740089" cy="5607070"/>
          </a:xfrm>
          <a:prstGeom prst="rect">
            <a:avLst/>
          </a:prstGeom>
        </p:spPr>
      </p:pic>
      <p:sp>
        <p:nvSpPr>
          <p:cNvPr id="2" name="Title 1">
            <a:extLst>
              <a:ext uri="{FF2B5EF4-FFF2-40B4-BE49-F238E27FC236}">
                <a16:creationId xmlns:a16="http://schemas.microsoft.com/office/drawing/2014/main" id="{C680F84D-A1F7-D48D-13C4-6FBB971454A6}"/>
              </a:ext>
            </a:extLst>
          </p:cNvPr>
          <p:cNvSpPr>
            <a:spLocks noGrp="1"/>
          </p:cNvSpPr>
          <p:nvPr>
            <p:ph type="title"/>
          </p:nvPr>
        </p:nvSpPr>
        <p:spPr>
          <a:xfrm>
            <a:off x="838200" y="104375"/>
            <a:ext cx="10515600" cy="1325563"/>
          </a:xfrm>
        </p:spPr>
        <p:txBody>
          <a:bodyPr/>
          <a:lstStyle/>
          <a:p>
            <a:r>
              <a:rPr lang="en-US" dirty="0">
                <a:latin typeface="Aharoni" panose="02010803020104030203" pitchFamily="2" charset="-79"/>
                <a:cs typeface="Aharoni" panose="02010803020104030203" pitchFamily="2" charset="-79"/>
              </a:rPr>
              <a:t>Landscape genetics:</a:t>
            </a:r>
            <a:br>
              <a:rPr lang="en-US" dirty="0">
                <a:latin typeface="Aharoni" panose="02010803020104030203" pitchFamily="2" charset="-79"/>
                <a:cs typeface="Aharoni" panose="02010803020104030203" pitchFamily="2" charset="-79"/>
              </a:rPr>
            </a:br>
            <a:r>
              <a:rPr lang="en-US" dirty="0">
                <a:latin typeface="Aharoni" panose="02010803020104030203" pitchFamily="2" charset="-79"/>
                <a:cs typeface="Aharoni" panose="02010803020104030203" pitchFamily="2" charset="-79"/>
              </a:rPr>
              <a:t>How is diversity distributed? </a:t>
            </a:r>
          </a:p>
        </p:txBody>
      </p:sp>
    </p:spTree>
    <p:extLst>
      <p:ext uri="{BB962C8B-B14F-4D97-AF65-F5344CB8AC3E}">
        <p14:creationId xmlns:p14="http://schemas.microsoft.com/office/powerpoint/2010/main" val="3620076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0F6AC-3EE9-3A1E-FA12-C1E660FFC0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C13186-3E25-4D99-D30B-E30B45A6E1C0}"/>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Short read sequencing</a:t>
            </a:r>
          </a:p>
        </p:txBody>
      </p:sp>
      <p:sp>
        <p:nvSpPr>
          <p:cNvPr id="3" name="Content Placeholder 2">
            <a:extLst>
              <a:ext uri="{FF2B5EF4-FFF2-40B4-BE49-F238E27FC236}">
                <a16:creationId xmlns:a16="http://schemas.microsoft.com/office/drawing/2014/main" id="{8BC206C0-5B15-4425-2F9B-BD159CA54264}"/>
              </a:ext>
            </a:extLst>
          </p:cNvPr>
          <p:cNvSpPr>
            <a:spLocks noGrp="1"/>
          </p:cNvSpPr>
          <p:nvPr>
            <p:ph idx="1"/>
          </p:nvPr>
        </p:nvSpPr>
        <p:spPr>
          <a:xfrm>
            <a:off x="838200" y="1825625"/>
            <a:ext cx="6732639" cy="4351338"/>
          </a:xfrm>
        </p:spPr>
        <p:txBody>
          <a:bodyPr/>
          <a:lstStyle/>
          <a:p>
            <a:r>
              <a:rPr lang="en-US" dirty="0">
                <a:latin typeface="Abadi" panose="020B0604020104020204" pitchFamily="34" charset="0"/>
              </a:rPr>
              <a:t>Illumina and BGI</a:t>
            </a:r>
          </a:p>
          <a:p>
            <a:r>
              <a:rPr lang="en-US" dirty="0">
                <a:latin typeface="Abadi" panose="020B0604020104020204" pitchFamily="34" charset="0"/>
              </a:rPr>
              <a:t>Fragment genome, make fragments compatible with sequencer</a:t>
            </a:r>
          </a:p>
          <a:p>
            <a:r>
              <a:rPr lang="en-US" dirty="0">
                <a:latin typeface="Abadi" panose="020B0604020104020204" pitchFamily="34" charset="0"/>
              </a:rPr>
              <a:t>Attach fragments to sequencer, get signals unique to specific nucleotides</a:t>
            </a:r>
          </a:p>
          <a:p>
            <a:r>
              <a:rPr lang="en-US" dirty="0">
                <a:latin typeface="Abadi" panose="020B0604020104020204" pitchFamily="34" charset="0"/>
              </a:rPr>
              <a:t>Align or assemble fragments</a:t>
            </a:r>
          </a:p>
          <a:p>
            <a:r>
              <a:rPr lang="en-US" dirty="0">
                <a:latin typeface="Abadi" panose="020B0604020104020204" pitchFamily="34" charset="0"/>
              </a:rPr>
              <a:t>Assess variation</a:t>
            </a:r>
          </a:p>
          <a:p>
            <a:r>
              <a:rPr lang="en-US" dirty="0">
                <a:latin typeface="Abadi" panose="020B0604020104020204" pitchFamily="34" charset="0"/>
              </a:rPr>
              <a:t>Analyze variation</a:t>
            </a:r>
          </a:p>
        </p:txBody>
      </p:sp>
      <p:pic>
        <p:nvPicPr>
          <p:cNvPr id="5" name="Picture 4" descr="Illumina Sequencing Steps">
            <a:extLst>
              <a:ext uri="{FF2B5EF4-FFF2-40B4-BE49-F238E27FC236}">
                <a16:creationId xmlns:a16="http://schemas.microsoft.com/office/drawing/2014/main" id="{B811B4A4-54C3-FE41-3483-3B8BDE42B6B2}"/>
              </a:ext>
            </a:extLst>
          </p:cNvPr>
          <p:cNvPicPr>
            <a:picLocks noChangeAspect="1"/>
          </p:cNvPicPr>
          <p:nvPr/>
        </p:nvPicPr>
        <p:blipFill>
          <a:blip r:embed="rId3"/>
          <a:srcRect l="4048" r="4911"/>
          <a:stretch>
            <a:fillRect/>
          </a:stretch>
        </p:blipFill>
        <p:spPr>
          <a:xfrm>
            <a:off x="7475570" y="275303"/>
            <a:ext cx="4716430" cy="6454289"/>
          </a:xfrm>
          <a:prstGeom prst="rect">
            <a:avLst/>
          </a:prstGeom>
        </p:spPr>
      </p:pic>
      <p:pic>
        <p:nvPicPr>
          <p:cNvPr id="6" name="Picture 5" descr="HiSeq™ Sequencing Systems">
            <a:extLst>
              <a:ext uri="{FF2B5EF4-FFF2-40B4-BE49-F238E27FC236}">
                <a16:creationId xmlns:a16="http://schemas.microsoft.com/office/drawing/2014/main" id="{FEFB366F-031E-E0A4-B4BE-E3D6562067C6}"/>
              </a:ext>
            </a:extLst>
          </p:cNvPr>
          <p:cNvPicPr>
            <a:picLocks noChangeAspect="1"/>
          </p:cNvPicPr>
          <p:nvPr/>
        </p:nvPicPr>
        <p:blipFill>
          <a:blip r:embed="rId4"/>
          <a:stretch>
            <a:fillRect/>
          </a:stretch>
        </p:blipFill>
        <p:spPr>
          <a:xfrm>
            <a:off x="4716431" y="4611896"/>
            <a:ext cx="2939307" cy="2224495"/>
          </a:xfrm>
          <a:prstGeom prst="rect">
            <a:avLst/>
          </a:prstGeom>
        </p:spPr>
      </p:pic>
    </p:spTree>
    <p:extLst>
      <p:ext uri="{BB962C8B-B14F-4D97-AF65-F5344CB8AC3E}">
        <p14:creationId xmlns:p14="http://schemas.microsoft.com/office/powerpoint/2010/main" val="3239064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47D35-1B9E-EB1B-6532-3E3D031751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A99D8-0100-63B3-ACE9-B1D241F261A6}"/>
              </a:ext>
            </a:extLst>
          </p:cNvPr>
          <p:cNvSpPr>
            <a:spLocks noGrp="1"/>
          </p:cNvSpPr>
          <p:nvPr>
            <p:ph type="title"/>
          </p:nvPr>
        </p:nvSpPr>
        <p:spPr>
          <a:xfrm>
            <a:off x="838200" y="365125"/>
            <a:ext cx="6722806" cy="1325563"/>
          </a:xfrm>
        </p:spPr>
        <p:txBody>
          <a:bodyPr/>
          <a:lstStyle/>
          <a:p>
            <a:r>
              <a:rPr lang="en-US" dirty="0">
                <a:latin typeface="Aharoni" panose="02010803020104030203" pitchFamily="2" charset="-79"/>
                <a:cs typeface="Aharoni" panose="02010803020104030203" pitchFamily="2" charset="-79"/>
              </a:rPr>
              <a:t>Reduced </a:t>
            </a:r>
            <a:br>
              <a:rPr lang="en-US" dirty="0">
                <a:latin typeface="Aharoni" panose="02010803020104030203" pitchFamily="2" charset="-79"/>
                <a:cs typeface="Aharoni" panose="02010803020104030203" pitchFamily="2" charset="-79"/>
              </a:rPr>
            </a:br>
            <a:r>
              <a:rPr lang="en-US" dirty="0">
                <a:latin typeface="Aharoni" panose="02010803020104030203" pitchFamily="2" charset="-79"/>
                <a:cs typeface="Aharoni" panose="02010803020104030203" pitchFamily="2" charset="-79"/>
              </a:rPr>
              <a:t>representation</a:t>
            </a:r>
          </a:p>
        </p:txBody>
      </p:sp>
      <p:sp>
        <p:nvSpPr>
          <p:cNvPr id="7" name="Content Placeholder 6">
            <a:extLst>
              <a:ext uri="{FF2B5EF4-FFF2-40B4-BE49-F238E27FC236}">
                <a16:creationId xmlns:a16="http://schemas.microsoft.com/office/drawing/2014/main" id="{53C80DDD-501C-8CA9-A57C-CE2AF54D310B}"/>
              </a:ext>
            </a:extLst>
          </p:cNvPr>
          <p:cNvSpPr>
            <a:spLocks noGrp="1"/>
          </p:cNvSpPr>
          <p:nvPr>
            <p:ph idx="1"/>
          </p:nvPr>
        </p:nvSpPr>
        <p:spPr>
          <a:xfrm>
            <a:off x="838199" y="1825624"/>
            <a:ext cx="6192541" cy="4929135"/>
          </a:xfrm>
        </p:spPr>
        <p:txBody>
          <a:bodyPr>
            <a:normAutofit lnSpcReduction="10000"/>
          </a:bodyPr>
          <a:lstStyle/>
          <a:p>
            <a:r>
              <a:rPr lang="en-US" dirty="0">
                <a:latin typeface="Abadi" panose="020B0604020104020204" pitchFamily="34" charset="0"/>
              </a:rPr>
              <a:t>Whole genomes are costly, especially for high coverage</a:t>
            </a:r>
          </a:p>
          <a:p>
            <a:r>
              <a:rPr lang="en-US" dirty="0">
                <a:latin typeface="Abadi" panose="020B0604020104020204" pitchFamily="34" charset="0"/>
              </a:rPr>
              <a:t>Analysis time consuming for “easy” groups, impossible for “hard” groups</a:t>
            </a:r>
          </a:p>
          <a:p>
            <a:r>
              <a:rPr lang="en-US" dirty="0">
                <a:latin typeface="Abadi" panose="020B0604020104020204" pitchFamily="34" charset="0"/>
              </a:rPr>
              <a:t>We don’t need all that information!</a:t>
            </a:r>
          </a:p>
          <a:p>
            <a:pPr lvl="1"/>
            <a:r>
              <a:rPr lang="en-US" dirty="0">
                <a:latin typeface="Abadi" panose="020B0604020104020204" pitchFamily="34" charset="0"/>
              </a:rPr>
              <a:t>Regions of the genome closer to each other offer redundant information</a:t>
            </a:r>
          </a:p>
          <a:p>
            <a:pPr lvl="1"/>
            <a:r>
              <a:rPr lang="en-US" dirty="0">
                <a:latin typeface="Abadi" panose="020B0604020104020204" pitchFamily="34" charset="0"/>
              </a:rPr>
              <a:t>Most applications very accurate with 100s or 1000s of variants</a:t>
            </a:r>
          </a:p>
          <a:p>
            <a:r>
              <a:rPr lang="en-US" b="1" dirty="0">
                <a:latin typeface="Abadi" panose="020B0604020104020204" pitchFamily="34" charset="0"/>
              </a:rPr>
              <a:t>How do we consistently sequence the same locations?</a:t>
            </a:r>
          </a:p>
          <a:p>
            <a:pPr lvl="1"/>
            <a:r>
              <a:rPr lang="en-US" dirty="0">
                <a:latin typeface="Abadi" panose="020B0604020104020204" pitchFamily="34" charset="0"/>
              </a:rPr>
              <a:t>Enrich for key regions (target cap.)</a:t>
            </a:r>
          </a:p>
          <a:p>
            <a:pPr lvl="1"/>
            <a:r>
              <a:rPr lang="en-US" dirty="0">
                <a:latin typeface="Abadi" panose="020B0604020104020204" pitchFamily="34" charset="0"/>
              </a:rPr>
              <a:t>Make fewer fragments to sequence</a:t>
            </a:r>
          </a:p>
        </p:txBody>
      </p:sp>
      <p:grpSp>
        <p:nvGrpSpPr>
          <p:cNvPr id="83" name="Group 82">
            <a:extLst>
              <a:ext uri="{FF2B5EF4-FFF2-40B4-BE49-F238E27FC236}">
                <a16:creationId xmlns:a16="http://schemas.microsoft.com/office/drawing/2014/main" id="{709C6B3C-C854-6507-255B-FDC5CA73977B}"/>
              </a:ext>
            </a:extLst>
          </p:cNvPr>
          <p:cNvGrpSpPr/>
          <p:nvPr/>
        </p:nvGrpSpPr>
        <p:grpSpPr>
          <a:xfrm>
            <a:off x="6744930" y="365125"/>
            <a:ext cx="5281728" cy="1729146"/>
            <a:chOff x="7816645" y="365125"/>
            <a:chExt cx="3932903" cy="1287564"/>
          </a:xfrm>
        </p:grpSpPr>
        <p:cxnSp>
          <p:nvCxnSpPr>
            <p:cNvPr id="9" name="Straight Connector 8">
              <a:extLst>
                <a:ext uri="{FF2B5EF4-FFF2-40B4-BE49-F238E27FC236}">
                  <a16:creationId xmlns:a16="http://schemas.microsoft.com/office/drawing/2014/main" id="{EE2D4157-B58A-ECB5-B4E9-6A91E64E406E}"/>
                </a:ext>
              </a:extLst>
            </p:cNvPr>
            <p:cNvCxnSpPr/>
            <p:nvPr/>
          </p:nvCxnSpPr>
          <p:spPr>
            <a:xfrm>
              <a:off x="8082116" y="1553497"/>
              <a:ext cx="3667432"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3A61B4C-47BB-6470-193A-7B73FF733E09}"/>
                </a:ext>
              </a:extLst>
            </p:cNvPr>
            <p:cNvCxnSpPr/>
            <p:nvPr/>
          </p:nvCxnSpPr>
          <p:spPr>
            <a:xfrm>
              <a:off x="8150942" y="365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98C64A8-3383-B985-76FF-6B5A87DEED08}"/>
                </a:ext>
              </a:extLst>
            </p:cNvPr>
            <p:cNvCxnSpPr/>
            <p:nvPr/>
          </p:nvCxnSpPr>
          <p:spPr>
            <a:xfrm>
              <a:off x="8303342" y="517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AD14022F-6493-3C4F-9040-F75F39C45BC3}"/>
                </a:ext>
              </a:extLst>
            </p:cNvPr>
            <p:cNvCxnSpPr/>
            <p:nvPr/>
          </p:nvCxnSpPr>
          <p:spPr>
            <a:xfrm>
              <a:off x="8455742" y="6699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99D99545-5A26-5F41-DD1A-53AD0FA99FF0}"/>
                </a:ext>
              </a:extLst>
            </p:cNvPr>
            <p:cNvCxnSpPr/>
            <p:nvPr/>
          </p:nvCxnSpPr>
          <p:spPr>
            <a:xfrm>
              <a:off x="8608142" y="8223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4EAA63C6-A7B9-E357-37A2-3F01F4EA5452}"/>
                </a:ext>
              </a:extLst>
            </p:cNvPr>
            <p:cNvCxnSpPr/>
            <p:nvPr/>
          </p:nvCxnSpPr>
          <p:spPr>
            <a:xfrm>
              <a:off x="8760542" y="9747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79E1790-94A3-852B-BF35-CE62685EBF9D}"/>
                </a:ext>
              </a:extLst>
            </p:cNvPr>
            <p:cNvCxnSpPr/>
            <p:nvPr/>
          </p:nvCxnSpPr>
          <p:spPr>
            <a:xfrm>
              <a:off x="8912942" y="1127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A57843DE-8BF4-64F1-624F-CB84CC88D5E0}"/>
                </a:ext>
              </a:extLst>
            </p:cNvPr>
            <p:cNvCxnSpPr/>
            <p:nvPr/>
          </p:nvCxnSpPr>
          <p:spPr>
            <a:xfrm>
              <a:off x="9266904" y="8223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6DD5D55C-AB7A-2BBA-1BA3-9F29E7F29FE0}"/>
                </a:ext>
              </a:extLst>
            </p:cNvPr>
            <p:cNvCxnSpPr/>
            <p:nvPr/>
          </p:nvCxnSpPr>
          <p:spPr>
            <a:xfrm>
              <a:off x="9419304" y="9747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FEE106C-69FB-F5D7-1EE0-47343E6845BD}"/>
                </a:ext>
              </a:extLst>
            </p:cNvPr>
            <p:cNvCxnSpPr/>
            <p:nvPr/>
          </p:nvCxnSpPr>
          <p:spPr>
            <a:xfrm>
              <a:off x="9571704" y="1127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F1E5CF7-8232-36C4-5CEC-967D8167D254}"/>
                </a:ext>
              </a:extLst>
            </p:cNvPr>
            <p:cNvCxnSpPr/>
            <p:nvPr/>
          </p:nvCxnSpPr>
          <p:spPr>
            <a:xfrm>
              <a:off x="9724104" y="1279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412DA9D-9460-7561-AC68-339DAAE1469B}"/>
                </a:ext>
              </a:extLst>
            </p:cNvPr>
            <p:cNvCxnSpPr/>
            <p:nvPr/>
          </p:nvCxnSpPr>
          <p:spPr>
            <a:xfrm>
              <a:off x="9964994" y="1127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5BE25294-3743-82F5-25AE-FE4E726062BE}"/>
                </a:ext>
              </a:extLst>
            </p:cNvPr>
            <p:cNvCxnSpPr/>
            <p:nvPr/>
          </p:nvCxnSpPr>
          <p:spPr>
            <a:xfrm>
              <a:off x="10117394" y="1279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094891A2-AB9D-455F-6032-CCBDDEBAD843}"/>
                </a:ext>
              </a:extLst>
            </p:cNvPr>
            <p:cNvCxnSpPr/>
            <p:nvPr/>
          </p:nvCxnSpPr>
          <p:spPr>
            <a:xfrm>
              <a:off x="10269794" y="14319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619E7B09-7449-042F-6F89-ED6EF765B533}"/>
                </a:ext>
              </a:extLst>
            </p:cNvPr>
            <p:cNvCxnSpPr/>
            <p:nvPr/>
          </p:nvCxnSpPr>
          <p:spPr>
            <a:xfrm>
              <a:off x="10776156" y="1279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C3F3514-EB78-2DBF-9C18-E55D101F6B19}"/>
                </a:ext>
              </a:extLst>
            </p:cNvPr>
            <p:cNvCxnSpPr/>
            <p:nvPr/>
          </p:nvCxnSpPr>
          <p:spPr>
            <a:xfrm>
              <a:off x="10928556" y="14319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1D6A1E2-49CE-476D-D4B5-0541B1C6132A}"/>
                </a:ext>
              </a:extLst>
            </p:cNvPr>
            <p:cNvCxnSpPr/>
            <p:nvPr/>
          </p:nvCxnSpPr>
          <p:spPr>
            <a:xfrm>
              <a:off x="9851923" y="365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909777D-255A-3055-5406-E22D19D6EF85}"/>
                </a:ext>
              </a:extLst>
            </p:cNvPr>
            <p:cNvCxnSpPr/>
            <p:nvPr/>
          </p:nvCxnSpPr>
          <p:spPr>
            <a:xfrm>
              <a:off x="10004323" y="517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4187A87-A258-297E-B19E-BB2141D48657}"/>
                </a:ext>
              </a:extLst>
            </p:cNvPr>
            <p:cNvCxnSpPr/>
            <p:nvPr/>
          </p:nvCxnSpPr>
          <p:spPr>
            <a:xfrm>
              <a:off x="10156723" y="6699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48E5CC7E-1464-0A14-04F5-564F0F17756F}"/>
                </a:ext>
              </a:extLst>
            </p:cNvPr>
            <p:cNvCxnSpPr/>
            <p:nvPr/>
          </p:nvCxnSpPr>
          <p:spPr>
            <a:xfrm>
              <a:off x="10510685" y="365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D6907DE8-BC19-D860-8930-5391F1B45E87}"/>
                </a:ext>
              </a:extLst>
            </p:cNvPr>
            <p:cNvCxnSpPr/>
            <p:nvPr/>
          </p:nvCxnSpPr>
          <p:spPr>
            <a:xfrm>
              <a:off x="10663085" y="517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7B12537B-449D-A13A-5A0A-A3902E02ACC3}"/>
                </a:ext>
              </a:extLst>
            </p:cNvPr>
            <p:cNvCxnSpPr/>
            <p:nvPr/>
          </p:nvCxnSpPr>
          <p:spPr>
            <a:xfrm>
              <a:off x="10815485" y="6699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2F9E2928-00D9-0691-17E4-26F04B2AA963}"/>
                </a:ext>
              </a:extLst>
            </p:cNvPr>
            <p:cNvCxnSpPr/>
            <p:nvPr/>
          </p:nvCxnSpPr>
          <p:spPr>
            <a:xfrm>
              <a:off x="11208775" y="6699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F2DB9C73-3C7C-F0B3-157E-C266BDCBECF7}"/>
                </a:ext>
              </a:extLst>
            </p:cNvPr>
            <p:cNvCxnSpPr/>
            <p:nvPr/>
          </p:nvCxnSpPr>
          <p:spPr>
            <a:xfrm>
              <a:off x="8214852" y="1127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07EE21D2-EBB1-37FB-6A73-82655B6E841E}"/>
                </a:ext>
              </a:extLst>
            </p:cNvPr>
            <p:cNvCxnSpPr/>
            <p:nvPr/>
          </p:nvCxnSpPr>
          <p:spPr>
            <a:xfrm>
              <a:off x="8367252" y="1279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9CD03E2C-34F9-B221-29CE-FFEF8BF38439}"/>
                </a:ext>
              </a:extLst>
            </p:cNvPr>
            <p:cNvCxnSpPr/>
            <p:nvPr/>
          </p:nvCxnSpPr>
          <p:spPr>
            <a:xfrm>
              <a:off x="8608142" y="1127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7D6ABC26-DC75-6599-8FB3-7D0B96F38DB6}"/>
                </a:ext>
              </a:extLst>
            </p:cNvPr>
            <p:cNvCxnSpPr/>
            <p:nvPr/>
          </p:nvCxnSpPr>
          <p:spPr>
            <a:xfrm>
              <a:off x="8647471" y="517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6874E1EA-A838-AC59-7210-4C2252F97493}"/>
                </a:ext>
              </a:extLst>
            </p:cNvPr>
            <p:cNvCxnSpPr/>
            <p:nvPr/>
          </p:nvCxnSpPr>
          <p:spPr>
            <a:xfrm>
              <a:off x="10550013" y="823656"/>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BBA36C54-9E38-966E-06C3-292B7C7CA3F2}"/>
                </a:ext>
              </a:extLst>
            </p:cNvPr>
            <p:cNvCxnSpPr/>
            <p:nvPr/>
          </p:nvCxnSpPr>
          <p:spPr>
            <a:xfrm>
              <a:off x="10702413" y="976056"/>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6DDE1437-1569-367B-0149-ECEEA482E9E8}"/>
                </a:ext>
              </a:extLst>
            </p:cNvPr>
            <p:cNvCxnSpPr/>
            <p:nvPr/>
          </p:nvCxnSpPr>
          <p:spPr>
            <a:xfrm>
              <a:off x="10854813" y="1128456"/>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718E4391-BE80-5249-CF93-87A33EEF5B48}"/>
                </a:ext>
              </a:extLst>
            </p:cNvPr>
            <p:cNvCxnSpPr/>
            <p:nvPr/>
          </p:nvCxnSpPr>
          <p:spPr>
            <a:xfrm>
              <a:off x="11208775" y="823656"/>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463D40C3-63AE-17D0-7359-22DFC9232E9F}"/>
                </a:ext>
              </a:extLst>
            </p:cNvPr>
            <p:cNvCxnSpPr/>
            <p:nvPr/>
          </p:nvCxnSpPr>
          <p:spPr>
            <a:xfrm>
              <a:off x="10550013" y="1128456"/>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9EB323C0-794B-5C61-A737-247ED1C01FDD}"/>
                </a:ext>
              </a:extLst>
            </p:cNvPr>
            <p:cNvCxnSpPr/>
            <p:nvPr/>
          </p:nvCxnSpPr>
          <p:spPr>
            <a:xfrm>
              <a:off x="9532376" y="668594"/>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5E036320-5FB0-E125-0264-B4B37D8C95D4}"/>
                </a:ext>
              </a:extLst>
            </p:cNvPr>
            <p:cNvCxnSpPr/>
            <p:nvPr/>
          </p:nvCxnSpPr>
          <p:spPr>
            <a:xfrm>
              <a:off x="9458633" y="365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04455CDF-F1F5-7920-B257-2877BF44B9AC}"/>
                </a:ext>
              </a:extLst>
            </p:cNvPr>
            <p:cNvCxnSpPr/>
            <p:nvPr/>
          </p:nvCxnSpPr>
          <p:spPr>
            <a:xfrm>
              <a:off x="9611033" y="517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7288C5B0-DC0B-4059-FEFD-D4E55BDD3FF2}"/>
                </a:ext>
              </a:extLst>
            </p:cNvPr>
            <p:cNvCxnSpPr/>
            <p:nvPr/>
          </p:nvCxnSpPr>
          <p:spPr>
            <a:xfrm>
              <a:off x="9306233" y="517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E1F52F93-84AB-8CF9-A73D-C7BE77130125}"/>
                </a:ext>
              </a:extLst>
            </p:cNvPr>
            <p:cNvCxnSpPr/>
            <p:nvPr/>
          </p:nvCxnSpPr>
          <p:spPr>
            <a:xfrm>
              <a:off x="8868697" y="39595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3737D65-9C53-E930-C009-61674E3C28E8}"/>
                </a:ext>
              </a:extLst>
            </p:cNvPr>
            <p:cNvCxnSpPr/>
            <p:nvPr/>
          </p:nvCxnSpPr>
          <p:spPr>
            <a:xfrm>
              <a:off x="9021097" y="54835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B1B2E92D-D557-A948-0EDB-4D4E63EA3EFF}"/>
                </a:ext>
              </a:extLst>
            </p:cNvPr>
            <p:cNvCxnSpPr/>
            <p:nvPr/>
          </p:nvCxnSpPr>
          <p:spPr>
            <a:xfrm>
              <a:off x="9173497" y="70075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AB0DA8E-03A2-7379-B13D-99E573FB1F45}"/>
                </a:ext>
              </a:extLst>
            </p:cNvPr>
            <p:cNvCxnSpPr/>
            <p:nvPr/>
          </p:nvCxnSpPr>
          <p:spPr>
            <a:xfrm>
              <a:off x="8868697" y="70075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16D5EE67-1180-33ED-6E6D-42601BEA1CDF}"/>
                </a:ext>
              </a:extLst>
            </p:cNvPr>
            <p:cNvCxnSpPr/>
            <p:nvPr/>
          </p:nvCxnSpPr>
          <p:spPr>
            <a:xfrm>
              <a:off x="9851923" y="6699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C1603C76-6354-A159-307C-A15607836A93}"/>
                </a:ext>
              </a:extLst>
            </p:cNvPr>
            <p:cNvCxnSpPr/>
            <p:nvPr/>
          </p:nvCxnSpPr>
          <p:spPr>
            <a:xfrm>
              <a:off x="10004323" y="8223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F1C0A685-7DC2-9EB3-FA6C-90F8713D9F70}"/>
                </a:ext>
              </a:extLst>
            </p:cNvPr>
            <p:cNvCxnSpPr/>
            <p:nvPr/>
          </p:nvCxnSpPr>
          <p:spPr>
            <a:xfrm>
              <a:off x="9851923" y="9747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F7177416-BAA9-A1CD-C7F9-249980EF348F}"/>
                </a:ext>
              </a:extLst>
            </p:cNvPr>
            <p:cNvCxnSpPr/>
            <p:nvPr/>
          </p:nvCxnSpPr>
          <p:spPr>
            <a:xfrm>
              <a:off x="11395589" y="1148121"/>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CD0F65AF-8FAD-CB75-36B3-BBF5D706F2F4}"/>
                </a:ext>
              </a:extLst>
            </p:cNvPr>
            <p:cNvCxnSpPr/>
            <p:nvPr/>
          </p:nvCxnSpPr>
          <p:spPr>
            <a:xfrm>
              <a:off x="11474246" y="997052"/>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4C929DAD-1EB4-DF89-BFEB-27B376647307}"/>
                </a:ext>
              </a:extLst>
            </p:cNvPr>
            <p:cNvCxnSpPr/>
            <p:nvPr/>
          </p:nvCxnSpPr>
          <p:spPr>
            <a:xfrm>
              <a:off x="11169446" y="997052"/>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0997533E-D9F2-5811-1828-197A3C07C94E}"/>
                </a:ext>
              </a:extLst>
            </p:cNvPr>
            <p:cNvCxnSpPr/>
            <p:nvPr/>
          </p:nvCxnSpPr>
          <p:spPr>
            <a:xfrm>
              <a:off x="9193162" y="113337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6ECECACE-88C2-16F7-4A86-761FF34DF4D0}"/>
                </a:ext>
              </a:extLst>
            </p:cNvPr>
            <p:cNvCxnSpPr/>
            <p:nvPr/>
          </p:nvCxnSpPr>
          <p:spPr>
            <a:xfrm>
              <a:off x="9345562" y="128577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08F04EC9-F6E4-A968-ED4E-D65A574A7C84}"/>
                </a:ext>
              </a:extLst>
            </p:cNvPr>
            <p:cNvCxnSpPr/>
            <p:nvPr/>
          </p:nvCxnSpPr>
          <p:spPr>
            <a:xfrm>
              <a:off x="9193162" y="143817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7ADC552F-BD20-BD05-7359-B8687A0C1158}"/>
                </a:ext>
              </a:extLst>
            </p:cNvPr>
            <p:cNvCxnSpPr/>
            <p:nvPr/>
          </p:nvCxnSpPr>
          <p:spPr>
            <a:xfrm>
              <a:off x="7816645" y="8223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DEF0BF59-9CBE-27BE-F9CD-B3BEA140A96E}"/>
                </a:ext>
              </a:extLst>
            </p:cNvPr>
            <p:cNvCxnSpPr/>
            <p:nvPr/>
          </p:nvCxnSpPr>
          <p:spPr>
            <a:xfrm>
              <a:off x="7969045" y="9747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F4F9AA25-74A8-D0E7-418D-2BA2B515D804}"/>
                </a:ext>
              </a:extLst>
            </p:cNvPr>
            <p:cNvCxnSpPr/>
            <p:nvPr/>
          </p:nvCxnSpPr>
          <p:spPr>
            <a:xfrm>
              <a:off x="8209935" y="8223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7E298111-6377-A6FE-1B5A-D53736767D33}"/>
                </a:ext>
              </a:extLst>
            </p:cNvPr>
            <p:cNvCxnSpPr/>
            <p:nvPr/>
          </p:nvCxnSpPr>
          <p:spPr>
            <a:xfrm>
              <a:off x="8096864" y="669925"/>
              <a:ext cx="265471" cy="0"/>
            </a:xfrm>
            <a:prstGeom prst="line">
              <a:avLst/>
            </a:prstGeom>
          </p:spPr>
          <p:style>
            <a:lnRef idx="2">
              <a:schemeClr val="accent1"/>
            </a:lnRef>
            <a:fillRef idx="0">
              <a:schemeClr val="accent1"/>
            </a:fillRef>
            <a:effectRef idx="1">
              <a:schemeClr val="accent1"/>
            </a:effectRef>
            <a:fontRef idx="minor">
              <a:schemeClr val="tx1"/>
            </a:fontRef>
          </p:style>
        </p:cxnSp>
        <p:sp>
          <p:nvSpPr>
            <p:cNvPr id="72" name="Star: 5 Points 71">
              <a:extLst>
                <a:ext uri="{FF2B5EF4-FFF2-40B4-BE49-F238E27FC236}">
                  <a16:creationId xmlns:a16="http://schemas.microsoft.com/office/drawing/2014/main" id="{CE2E5E1E-639D-4495-9EA3-CBB06FD17D52}"/>
                </a:ext>
              </a:extLst>
            </p:cNvPr>
            <p:cNvSpPr/>
            <p:nvPr/>
          </p:nvSpPr>
          <p:spPr>
            <a:xfrm>
              <a:off x="8284806" y="1393007"/>
              <a:ext cx="273045" cy="259682"/>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Star: 5 Points 73">
              <a:extLst>
                <a:ext uri="{FF2B5EF4-FFF2-40B4-BE49-F238E27FC236}">
                  <a16:creationId xmlns:a16="http://schemas.microsoft.com/office/drawing/2014/main" id="{4E956944-85E3-0C29-FC78-1C677CA00A49}"/>
                </a:ext>
              </a:extLst>
            </p:cNvPr>
            <p:cNvSpPr/>
            <p:nvPr/>
          </p:nvSpPr>
          <p:spPr>
            <a:xfrm>
              <a:off x="8934864" y="1393007"/>
              <a:ext cx="273045" cy="259682"/>
            </a:xfrm>
            <a:prstGeom prst="star5">
              <a:avLst/>
            </a:prstGeom>
            <a:solidFill>
              <a:srgbClr val="FF0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Star: 5 Points 75">
              <a:extLst>
                <a:ext uri="{FF2B5EF4-FFF2-40B4-BE49-F238E27FC236}">
                  <a16:creationId xmlns:a16="http://schemas.microsoft.com/office/drawing/2014/main" id="{50A1C271-5A5F-F919-3948-837FD38EF290}"/>
                </a:ext>
              </a:extLst>
            </p:cNvPr>
            <p:cNvSpPr/>
            <p:nvPr/>
          </p:nvSpPr>
          <p:spPr>
            <a:xfrm>
              <a:off x="10052155" y="1393007"/>
              <a:ext cx="273045" cy="259682"/>
            </a:xfrm>
            <a:prstGeom prst="star5">
              <a:avLst/>
            </a:prstGeom>
            <a:solidFill>
              <a:srgbClr val="7030A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Star: 5 Points 77">
              <a:extLst>
                <a:ext uri="{FF2B5EF4-FFF2-40B4-BE49-F238E27FC236}">
                  <a16:creationId xmlns:a16="http://schemas.microsoft.com/office/drawing/2014/main" id="{6264865F-7D1F-5E46-FD65-B49FB629C2B0}"/>
                </a:ext>
              </a:extLst>
            </p:cNvPr>
            <p:cNvSpPr/>
            <p:nvPr/>
          </p:nvSpPr>
          <p:spPr>
            <a:xfrm>
              <a:off x="10589145" y="1393007"/>
              <a:ext cx="273045" cy="259682"/>
            </a:xfrm>
            <a:prstGeom prst="star5">
              <a:avLst>
                <a:gd name="adj" fmla="val 19098"/>
                <a:gd name="hf" fmla="val 105146"/>
                <a:gd name="vf" fmla="val 110557"/>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Star: 5 Points 79">
              <a:extLst>
                <a:ext uri="{FF2B5EF4-FFF2-40B4-BE49-F238E27FC236}">
                  <a16:creationId xmlns:a16="http://schemas.microsoft.com/office/drawing/2014/main" id="{1762D90A-5AD5-60B9-1331-3E5A49E96ACD}"/>
                </a:ext>
              </a:extLst>
            </p:cNvPr>
            <p:cNvSpPr/>
            <p:nvPr/>
          </p:nvSpPr>
          <p:spPr>
            <a:xfrm>
              <a:off x="8535728" y="1392135"/>
              <a:ext cx="273045" cy="259682"/>
            </a:xfrm>
            <a:prstGeom prst="star5">
              <a:avLst/>
            </a:prstGeom>
            <a:solidFill>
              <a:srgbClr val="FFFF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Star: 5 Points 81">
              <a:extLst>
                <a:ext uri="{FF2B5EF4-FFF2-40B4-BE49-F238E27FC236}">
                  <a16:creationId xmlns:a16="http://schemas.microsoft.com/office/drawing/2014/main" id="{E7756823-F28D-0D63-5099-11572CCE3720}"/>
                </a:ext>
              </a:extLst>
            </p:cNvPr>
            <p:cNvSpPr/>
            <p:nvPr/>
          </p:nvSpPr>
          <p:spPr>
            <a:xfrm>
              <a:off x="11432462" y="1392135"/>
              <a:ext cx="273045" cy="259682"/>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4" name="Group 83">
            <a:extLst>
              <a:ext uri="{FF2B5EF4-FFF2-40B4-BE49-F238E27FC236}">
                <a16:creationId xmlns:a16="http://schemas.microsoft.com/office/drawing/2014/main" id="{A96500D6-6B9D-9429-1AA4-F5B907874885}"/>
              </a:ext>
            </a:extLst>
          </p:cNvPr>
          <p:cNvGrpSpPr/>
          <p:nvPr/>
        </p:nvGrpSpPr>
        <p:grpSpPr>
          <a:xfrm>
            <a:off x="6817556" y="2439992"/>
            <a:ext cx="5281728" cy="1729146"/>
            <a:chOff x="7816645" y="365125"/>
            <a:chExt cx="3932903" cy="1287564"/>
          </a:xfrm>
        </p:grpSpPr>
        <p:cxnSp>
          <p:nvCxnSpPr>
            <p:cNvPr id="85" name="Straight Connector 84">
              <a:extLst>
                <a:ext uri="{FF2B5EF4-FFF2-40B4-BE49-F238E27FC236}">
                  <a16:creationId xmlns:a16="http://schemas.microsoft.com/office/drawing/2014/main" id="{71F015C7-DCF0-9668-BB98-8A2CB179C7C7}"/>
                </a:ext>
              </a:extLst>
            </p:cNvPr>
            <p:cNvCxnSpPr/>
            <p:nvPr/>
          </p:nvCxnSpPr>
          <p:spPr>
            <a:xfrm>
              <a:off x="8082116" y="1553497"/>
              <a:ext cx="3667432"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66809DC7-E40C-E60A-613B-4923810D0D86}"/>
                </a:ext>
              </a:extLst>
            </p:cNvPr>
            <p:cNvCxnSpPr/>
            <p:nvPr/>
          </p:nvCxnSpPr>
          <p:spPr>
            <a:xfrm>
              <a:off x="8150942" y="365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301F3361-2BEC-D769-33A6-CE00F5212A97}"/>
                </a:ext>
              </a:extLst>
            </p:cNvPr>
            <p:cNvCxnSpPr/>
            <p:nvPr/>
          </p:nvCxnSpPr>
          <p:spPr>
            <a:xfrm>
              <a:off x="8303342" y="517525"/>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8A447CBC-292E-FFF7-3889-68FB6F701C50}"/>
                </a:ext>
              </a:extLst>
            </p:cNvPr>
            <p:cNvCxnSpPr/>
            <p:nvPr/>
          </p:nvCxnSpPr>
          <p:spPr>
            <a:xfrm>
              <a:off x="8455742" y="669925"/>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95219623-029E-6752-6F21-BF85FC05DB24}"/>
                </a:ext>
              </a:extLst>
            </p:cNvPr>
            <p:cNvCxnSpPr/>
            <p:nvPr/>
          </p:nvCxnSpPr>
          <p:spPr>
            <a:xfrm>
              <a:off x="8608142" y="822325"/>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90" name="Straight Connector 89">
              <a:extLst>
                <a:ext uri="{FF2B5EF4-FFF2-40B4-BE49-F238E27FC236}">
                  <a16:creationId xmlns:a16="http://schemas.microsoft.com/office/drawing/2014/main" id="{7BBF7671-4F83-3039-8F78-EA26CC4D1A64}"/>
                </a:ext>
              </a:extLst>
            </p:cNvPr>
            <p:cNvCxnSpPr/>
            <p:nvPr/>
          </p:nvCxnSpPr>
          <p:spPr>
            <a:xfrm>
              <a:off x="8760542" y="9747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30132DC7-F9D5-4A72-45F9-045DD163DD46}"/>
                </a:ext>
              </a:extLst>
            </p:cNvPr>
            <p:cNvCxnSpPr/>
            <p:nvPr/>
          </p:nvCxnSpPr>
          <p:spPr>
            <a:xfrm>
              <a:off x="8912942" y="1127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22055858-AEB5-A878-19F8-15D7757966A9}"/>
                </a:ext>
              </a:extLst>
            </p:cNvPr>
            <p:cNvCxnSpPr/>
            <p:nvPr/>
          </p:nvCxnSpPr>
          <p:spPr>
            <a:xfrm>
              <a:off x="9266904" y="8223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3" name="Straight Connector 92">
              <a:extLst>
                <a:ext uri="{FF2B5EF4-FFF2-40B4-BE49-F238E27FC236}">
                  <a16:creationId xmlns:a16="http://schemas.microsoft.com/office/drawing/2014/main" id="{4245D06A-2934-A073-A623-5227A4E20A37}"/>
                </a:ext>
              </a:extLst>
            </p:cNvPr>
            <p:cNvCxnSpPr/>
            <p:nvPr/>
          </p:nvCxnSpPr>
          <p:spPr>
            <a:xfrm>
              <a:off x="9419304" y="9747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0084AA85-9C69-54D0-0CEB-F3CB97F8026B}"/>
                </a:ext>
              </a:extLst>
            </p:cNvPr>
            <p:cNvCxnSpPr/>
            <p:nvPr/>
          </p:nvCxnSpPr>
          <p:spPr>
            <a:xfrm>
              <a:off x="9571704" y="1127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D33F12E1-1886-B462-1066-93D73BCF34A0}"/>
                </a:ext>
              </a:extLst>
            </p:cNvPr>
            <p:cNvCxnSpPr/>
            <p:nvPr/>
          </p:nvCxnSpPr>
          <p:spPr>
            <a:xfrm>
              <a:off x="9724104" y="1279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FCE15BCB-0545-5850-D241-D0BB2724E3E6}"/>
                </a:ext>
              </a:extLst>
            </p:cNvPr>
            <p:cNvCxnSpPr/>
            <p:nvPr/>
          </p:nvCxnSpPr>
          <p:spPr>
            <a:xfrm>
              <a:off x="9964994" y="1127125"/>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42722C33-6381-D45A-F573-CCCF455F44F9}"/>
                </a:ext>
              </a:extLst>
            </p:cNvPr>
            <p:cNvCxnSpPr/>
            <p:nvPr/>
          </p:nvCxnSpPr>
          <p:spPr>
            <a:xfrm>
              <a:off x="10117394" y="1279525"/>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CD36C98D-CFDA-DCE4-BB08-79F4B91FF3B7}"/>
                </a:ext>
              </a:extLst>
            </p:cNvPr>
            <p:cNvCxnSpPr/>
            <p:nvPr/>
          </p:nvCxnSpPr>
          <p:spPr>
            <a:xfrm>
              <a:off x="10269794" y="14319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0B2DF344-EA19-6073-B7D7-4CE60514FB92}"/>
                </a:ext>
              </a:extLst>
            </p:cNvPr>
            <p:cNvCxnSpPr/>
            <p:nvPr/>
          </p:nvCxnSpPr>
          <p:spPr>
            <a:xfrm>
              <a:off x="10776156" y="1279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0" name="Straight Connector 99">
              <a:extLst>
                <a:ext uri="{FF2B5EF4-FFF2-40B4-BE49-F238E27FC236}">
                  <a16:creationId xmlns:a16="http://schemas.microsoft.com/office/drawing/2014/main" id="{BCDD2822-13E2-F84A-C70D-489F21194259}"/>
                </a:ext>
              </a:extLst>
            </p:cNvPr>
            <p:cNvCxnSpPr/>
            <p:nvPr/>
          </p:nvCxnSpPr>
          <p:spPr>
            <a:xfrm>
              <a:off x="10928556" y="14319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1" name="Straight Connector 100">
              <a:extLst>
                <a:ext uri="{FF2B5EF4-FFF2-40B4-BE49-F238E27FC236}">
                  <a16:creationId xmlns:a16="http://schemas.microsoft.com/office/drawing/2014/main" id="{C2C4DA73-24FE-D7F9-2047-EE645F8623FE}"/>
                </a:ext>
              </a:extLst>
            </p:cNvPr>
            <p:cNvCxnSpPr/>
            <p:nvPr/>
          </p:nvCxnSpPr>
          <p:spPr>
            <a:xfrm>
              <a:off x="9851923" y="365125"/>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02" name="Straight Connector 101">
              <a:extLst>
                <a:ext uri="{FF2B5EF4-FFF2-40B4-BE49-F238E27FC236}">
                  <a16:creationId xmlns:a16="http://schemas.microsoft.com/office/drawing/2014/main" id="{A7BDAB50-3520-704C-F065-923C111CF13F}"/>
                </a:ext>
              </a:extLst>
            </p:cNvPr>
            <p:cNvCxnSpPr/>
            <p:nvPr/>
          </p:nvCxnSpPr>
          <p:spPr>
            <a:xfrm>
              <a:off x="10004323" y="517525"/>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03" name="Straight Connector 102">
              <a:extLst>
                <a:ext uri="{FF2B5EF4-FFF2-40B4-BE49-F238E27FC236}">
                  <a16:creationId xmlns:a16="http://schemas.microsoft.com/office/drawing/2014/main" id="{D34B6422-ABAC-15BA-E9CF-2DE98931065B}"/>
                </a:ext>
              </a:extLst>
            </p:cNvPr>
            <p:cNvCxnSpPr/>
            <p:nvPr/>
          </p:nvCxnSpPr>
          <p:spPr>
            <a:xfrm>
              <a:off x="10156723" y="669925"/>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04" name="Straight Connector 103">
              <a:extLst>
                <a:ext uri="{FF2B5EF4-FFF2-40B4-BE49-F238E27FC236}">
                  <a16:creationId xmlns:a16="http://schemas.microsoft.com/office/drawing/2014/main" id="{DBD22BD9-2652-C47E-D7CE-A2391BE70EBB}"/>
                </a:ext>
              </a:extLst>
            </p:cNvPr>
            <p:cNvCxnSpPr/>
            <p:nvPr/>
          </p:nvCxnSpPr>
          <p:spPr>
            <a:xfrm>
              <a:off x="10510685" y="365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935BD460-5377-75F0-B3CD-355D9DCB8FED}"/>
                </a:ext>
              </a:extLst>
            </p:cNvPr>
            <p:cNvCxnSpPr/>
            <p:nvPr/>
          </p:nvCxnSpPr>
          <p:spPr>
            <a:xfrm>
              <a:off x="10663085" y="517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076C64E4-2A5C-C5AE-8AE2-D7F2C0200029}"/>
                </a:ext>
              </a:extLst>
            </p:cNvPr>
            <p:cNvCxnSpPr/>
            <p:nvPr/>
          </p:nvCxnSpPr>
          <p:spPr>
            <a:xfrm>
              <a:off x="10815485" y="6699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7" name="Straight Connector 106">
              <a:extLst>
                <a:ext uri="{FF2B5EF4-FFF2-40B4-BE49-F238E27FC236}">
                  <a16:creationId xmlns:a16="http://schemas.microsoft.com/office/drawing/2014/main" id="{63038025-D4AA-C274-AE0B-6CC8B4353C9F}"/>
                </a:ext>
              </a:extLst>
            </p:cNvPr>
            <p:cNvCxnSpPr/>
            <p:nvPr/>
          </p:nvCxnSpPr>
          <p:spPr>
            <a:xfrm>
              <a:off x="11208775" y="669925"/>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08" name="Straight Connector 107">
              <a:extLst>
                <a:ext uri="{FF2B5EF4-FFF2-40B4-BE49-F238E27FC236}">
                  <a16:creationId xmlns:a16="http://schemas.microsoft.com/office/drawing/2014/main" id="{2847DD19-C8AC-27D4-B7D0-157E34F65A6B}"/>
                </a:ext>
              </a:extLst>
            </p:cNvPr>
            <p:cNvCxnSpPr/>
            <p:nvPr/>
          </p:nvCxnSpPr>
          <p:spPr>
            <a:xfrm>
              <a:off x="8214852" y="1127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1F4288C4-785D-2051-CA2E-80072C373237}"/>
                </a:ext>
              </a:extLst>
            </p:cNvPr>
            <p:cNvCxnSpPr/>
            <p:nvPr/>
          </p:nvCxnSpPr>
          <p:spPr>
            <a:xfrm>
              <a:off x="8367252" y="1279525"/>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10" name="Straight Connector 109">
              <a:extLst>
                <a:ext uri="{FF2B5EF4-FFF2-40B4-BE49-F238E27FC236}">
                  <a16:creationId xmlns:a16="http://schemas.microsoft.com/office/drawing/2014/main" id="{033F2815-44E6-3E27-9AE9-FD3D3CFB931A}"/>
                </a:ext>
              </a:extLst>
            </p:cNvPr>
            <p:cNvCxnSpPr/>
            <p:nvPr/>
          </p:nvCxnSpPr>
          <p:spPr>
            <a:xfrm>
              <a:off x="8608142" y="1127125"/>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EF6184BF-C91E-BBF8-7A26-92A4C419C5B7}"/>
                </a:ext>
              </a:extLst>
            </p:cNvPr>
            <p:cNvCxnSpPr/>
            <p:nvPr/>
          </p:nvCxnSpPr>
          <p:spPr>
            <a:xfrm>
              <a:off x="8647471" y="517525"/>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12" name="Straight Connector 111">
              <a:extLst>
                <a:ext uri="{FF2B5EF4-FFF2-40B4-BE49-F238E27FC236}">
                  <a16:creationId xmlns:a16="http://schemas.microsoft.com/office/drawing/2014/main" id="{4C740917-96F3-C712-8E15-122D407D9854}"/>
                </a:ext>
              </a:extLst>
            </p:cNvPr>
            <p:cNvCxnSpPr/>
            <p:nvPr/>
          </p:nvCxnSpPr>
          <p:spPr>
            <a:xfrm>
              <a:off x="10550013" y="823656"/>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E3607584-47BF-67F8-26E7-2750FF3EDC66}"/>
                </a:ext>
              </a:extLst>
            </p:cNvPr>
            <p:cNvCxnSpPr/>
            <p:nvPr/>
          </p:nvCxnSpPr>
          <p:spPr>
            <a:xfrm>
              <a:off x="10702413" y="976056"/>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3F2AFEEA-F970-2818-35B1-3D3C28EC0D23}"/>
                </a:ext>
              </a:extLst>
            </p:cNvPr>
            <p:cNvCxnSpPr/>
            <p:nvPr/>
          </p:nvCxnSpPr>
          <p:spPr>
            <a:xfrm>
              <a:off x="10854813" y="1128456"/>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C26D2CA0-A7AF-5854-EECE-5B3DBE6EFA1C}"/>
                </a:ext>
              </a:extLst>
            </p:cNvPr>
            <p:cNvCxnSpPr/>
            <p:nvPr/>
          </p:nvCxnSpPr>
          <p:spPr>
            <a:xfrm>
              <a:off x="11208775" y="823656"/>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16" name="Straight Connector 115">
              <a:extLst>
                <a:ext uri="{FF2B5EF4-FFF2-40B4-BE49-F238E27FC236}">
                  <a16:creationId xmlns:a16="http://schemas.microsoft.com/office/drawing/2014/main" id="{7370384A-2B9A-2928-55EB-7EE24219295A}"/>
                </a:ext>
              </a:extLst>
            </p:cNvPr>
            <p:cNvCxnSpPr/>
            <p:nvPr/>
          </p:nvCxnSpPr>
          <p:spPr>
            <a:xfrm>
              <a:off x="10550013" y="1128456"/>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7" name="Straight Connector 116">
              <a:extLst>
                <a:ext uri="{FF2B5EF4-FFF2-40B4-BE49-F238E27FC236}">
                  <a16:creationId xmlns:a16="http://schemas.microsoft.com/office/drawing/2014/main" id="{D09307EE-5D6C-4BC1-4F86-BF61043699F6}"/>
                </a:ext>
              </a:extLst>
            </p:cNvPr>
            <p:cNvCxnSpPr/>
            <p:nvPr/>
          </p:nvCxnSpPr>
          <p:spPr>
            <a:xfrm>
              <a:off x="9532376" y="668594"/>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F9330D7E-6AB6-DFF8-2664-47CC4A018313}"/>
                </a:ext>
              </a:extLst>
            </p:cNvPr>
            <p:cNvCxnSpPr/>
            <p:nvPr/>
          </p:nvCxnSpPr>
          <p:spPr>
            <a:xfrm>
              <a:off x="9458633" y="365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1C19943C-B446-0D8A-8D5C-8C0FB0EF0702}"/>
                </a:ext>
              </a:extLst>
            </p:cNvPr>
            <p:cNvCxnSpPr/>
            <p:nvPr/>
          </p:nvCxnSpPr>
          <p:spPr>
            <a:xfrm>
              <a:off x="9611033" y="517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7FCB9C94-FD72-1BD5-60EF-6F3E5EDF1E30}"/>
                </a:ext>
              </a:extLst>
            </p:cNvPr>
            <p:cNvCxnSpPr/>
            <p:nvPr/>
          </p:nvCxnSpPr>
          <p:spPr>
            <a:xfrm>
              <a:off x="9306233" y="517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9EF877BE-BD86-A100-7286-7322B83E1D2B}"/>
                </a:ext>
              </a:extLst>
            </p:cNvPr>
            <p:cNvCxnSpPr/>
            <p:nvPr/>
          </p:nvCxnSpPr>
          <p:spPr>
            <a:xfrm>
              <a:off x="8868697" y="39595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92686EC8-E1DC-19B5-6D1C-FEC38403A473}"/>
                </a:ext>
              </a:extLst>
            </p:cNvPr>
            <p:cNvCxnSpPr/>
            <p:nvPr/>
          </p:nvCxnSpPr>
          <p:spPr>
            <a:xfrm>
              <a:off x="9021097" y="54835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D1E7ED4E-E0EA-D669-5869-B02A7F4789E8}"/>
                </a:ext>
              </a:extLst>
            </p:cNvPr>
            <p:cNvCxnSpPr/>
            <p:nvPr/>
          </p:nvCxnSpPr>
          <p:spPr>
            <a:xfrm>
              <a:off x="9173497" y="70075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4" name="Straight Connector 123">
              <a:extLst>
                <a:ext uri="{FF2B5EF4-FFF2-40B4-BE49-F238E27FC236}">
                  <a16:creationId xmlns:a16="http://schemas.microsoft.com/office/drawing/2014/main" id="{042AEF2A-D2E0-F03E-40D5-6F3E400C3BB4}"/>
                </a:ext>
              </a:extLst>
            </p:cNvPr>
            <p:cNvCxnSpPr/>
            <p:nvPr/>
          </p:nvCxnSpPr>
          <p:spPr>
            <a:xfrm>
              <a:off x="8868697" y="70075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8BE79ADC-5D05-480F-9602-477743D8753B}"/>
                </a:ext>
              </a:extLst>
            </p:cNvPr>
            <p:cNvCxnSpPr/>
            <p:nvPr/>
          </p:nvCxnSpPr>
          <p:spPr>
            <a:xfrm>
              <a:off x="9851923" y="669925"/>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4F9EE15F-ADCD-3003-4D03-509A93F8D82E}"/>
                </a:ext>
              </a:extLst>
            </p:cNvPr>
            <p:cNvCxnSpPr/>
            <p:nvPr/>
          </p:nvCxnSpPr>
          <p:spPr>
            <a:xfrm>
              <a:off x="10004323" y="822325"/>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27" name="Straight Connector 126">
              <a:extLst>
                <a:ext uri="{FF2B5EF4-FFF2-40B4-BE49-F238E27FC236}">
                  <a16:creationId xmlns:a16="http://schemas.microsoft.com/office/drawing/2014/main" id="{BA646243-0FA3-4808-FA38-A2476633FD17}"/>
                </a:ext>
              </a:extLst>
            </p:cNvPr>
            <p:cNvCxnSpPr/>
            <p:nvPr/>
          </p:nvCxnSpPr>
          <p:spPr>
            <a:xfrm>
              <a:off x="9851923" y="974725"/>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28" name="Straight Connector 127">
              <a:extLst>
                <a:ext uri="{FF2B5EF4-FFF2-40B4-BE49-F238E27FC236}">
                  <a16:creationId xmlns:a16="http://schemas.microsoft.com/office/drawing/2014/main" id="{FE909880-72E8-04EB-A74F-98EA0326121C}"/>
                </a:ext>
              </a:extLst>
            </p:cNvPr>
            <p:cNvCxnSpPr/>
            <p:nvPr/>
          </p:nvCxnSpPr>
          <p:spPr>
            <a:xfrm>
              <a:off x="11395589" y="1148121"/>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29" name="Straight Connector 128">
              <a:extLst>
                <a:ext uri="{FF2B5EF4-FFF2-40B4-BE49-F238E27FC236}">
                  <a16:creationId xmlns:a16="http://schemas.microsoft.com/office/drawing/2014/main" id="{73464B88-B95A-2DDF-64AD-EA1019961B6E}"/>
                </a:ext>
              </a:extLst>
            </p:cNvPr>
            <p:cNvCxnSpPr/>
            <p:nvPr/>
          </p:nvCxnSpPr>
          <p:spPr>
            <a:xfrm>
              <a:off x="11474246" y="997052"/>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30" name="Straight Connector 129">
              <a:extLst>
                <a:ext uri="{FF2B5EF4-FFF2-40B4-BE49-F238E27FC236}">
                  <a16:creationId xmlns:a16="http://schemas.microsoft.com/office/drawing/2014/main" id="{B7E59E0D-6857-5E31-E758-B21C7F9FFE70}"/>
                </a:ext>
              </a:extLst>
            </p:cNvPr>
            <p:cNvCxnSpPr/>
            <p:nvPr/>
          </p:nvCxnSpPr>
          <p:spPr>
            <a:xfrm>
              <a:off x="11169446" y="997052"/>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767A0ED0-E4DE-19E6-3BEB-04E93BA61A14}"/>
                </a:ext>
              </a:extLst>
            </p:cNvPr>
            <p:cNvCxnSpPr/>
            <p:nvPr/>
          </p:nvCxnSpPr>
          <p:spPr>
            <a:xfrm>
              <a:off x="9193162" y="113337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644AB1EC-4580-7B96-B1FD-FE73F957CD54}"/>
                </a:ext>
              </a:extLst>
            </p:cNvPr>
            <p:cNvCxnSpPr/>
            <p:nvPr/>
          </p:nvCxnSpPr>
          <p:spPr>
            <a:xfrm>
              <a:off x="9345562" y="128577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976E8823-7A72-29FE-00D0-C751DF293E8E}"/>
                </a:ext>
              </a:extLst>
            </p:cNvPr>
            <p:cNvCxnSpPr/>
            <p:nvPr/>
          </p:nvCxnSpPr>
          <p:spPr>
            <a:xfrm>
              <a:off x="9193162" y="143817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70D1972F-9BF5-EF5B-DB64-6D78F6EB7C30}"/>
                </a:ext>
              </a:extLst>
            </p:cNvPr>
            <p:cNvCxnSpPr/>
            <p:nvPr/>
          </p:nvCxnSpPr>
          <p:spPr>
            <a:xfrm>
              <a:off x="7816645" y="8223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5" name="Straight Connector 134">
              <a:extLst>
                <a:ext uri="{FF2B5EF4-FFF2-40B4-BE49-F238E27FC236}">
                  <a16:creationId xmlns:a16="http://schemas.microsoft.com/office/drawing/2014/main" id="{F047CE8C-B5A7-46C5-6E23-2423FB2DBC30}"/>
                </a:ext>
              </a:extLst>
            </p:cNvPr>
            <p:cNvCxnSpPr/>
            <p:nvPr/>
          </p:nvCxnSpPr>
          <p:spPr>
            <a:xfrm>
              <a:off x="7969045" y="9747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7B81687D-DF04-2331-B767-8C5958D09D4C}"/>
                </a:ext>
              </a:extLst>
            </p:cNvPr>
            <p:cNvCxnSpPr/>
            <p:nvPr/>
          </p:nvCxnSpPr>
          <p:spPr>
            <a:xfrm>
              <a:off x="8209935" y="822325"/>
              <a:ext cx="265471"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37" name="Straight Connector 136">
              <a:extLst>
                <a:ext uri="{FF2B5EF4-FFF2-40B4-BE49-F238E27FC236}">
                  <a16:creationId xmlns:a16="http://schemas.microsoft.com/office/drawing/2014/main" id="{0AE580EF-24D5-1EE2-058E-CB409F061218}"/>
                </a:ext>
              </a:extLst>
            </p:cNvPr>
            <p:cNvCxnSpPr/>
            <p:nvPr/>
          </p:nvCxnSpPr>
          <p:spPr>
            <a:xfrm>
              <a:off x="8096864" y="669925"/>
              <a:ext cx="265471" cy="0"/>
            </a:xfrm>
            <a:prstGeom prst="line">
              <a:avLst/>
            </a:prstGeom>
          </p:spPr>
          <p:style>
            <a:lnRef idx="2">
              <a:schemeClr val="accent1"/>
            </a:lnRef>
            <a:fillRef idx="0">
              <a:schemeClr val="accent1"/>
            </a:fillRef>
            <a:effectRef idx="1">
              <a:schemeClr val="accent1"/>
            </a:effectRef>
            <a:fontRef idx="minor">
              <a:schemeClr val="tx1"/>
            </a:fontRef>
          </p:style>
        </p:cxnSp>
        <p:sp>
          <p:nvSpPr>
            <p:cNvPr id="138" name="Star: 5 Points 137">
              <a:extLst>
                <a:ext uri="{FF2B5EF4-FFF2-40B4-BE49-F238E27FC236}">
                  <a16:creationId xmlns:a16="http://schemas.microsoft.com/office/drawing/2014/main" id="{3D7249C8-187F-3C28-3553-4EC14ED83AC0}"/>
                </a:ext>
              </a:extLst>
            </p:cNvPr>
            <p:cNvSpPr/>
            <p:nvPr/>
          </p:nvSpPr>
          <p:spPr>
            <a:xfrm>
              <a:off x="8284806" y="1478022"/>
              <a:ext cx="152864" cy="145383"/>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Star: 5 Points 138">
              <a:extLst>
                <a:ext uri="{FF2B5EF4-FFF2-40B4-BE49-F238E27FC236}">
                  <a16:creationId xmlns:a16="http://schemas.microsoft.com/office/drawing/2014/main" id="{5A2742EF-A50E-3837-27D7-568F08A25AAD}"/>
                </a:ext>
              </a:extLst>
            </p:cNvPr>
            <p:cNvSpPr/>
            <p:nvPr/>
          </p:nvSpPr>
          <p:spPr>
            <a:xfrm>
              <a:off x="8934864" y="1478022"/>
              <a:ext cx="152864" cy="145383"/>
            </a:xfrm>
            <a:prstGeom prst="star5">
              <a:avLst/>
            </a:prstGeom>
            <a:solidFill>
              <a:srgbClr val="FF0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Star: 5 Points 139">
              <a:extLst>
                <a:ext uri="{FF2B5EF4-FFF2-40B4-BE49-F238E27FC236}">
                  <a16:creationId xmlns:a16="http://schemas.microsoft.com/office/drawing/2014/main" id="{90786189-8E9F-4390-DC50-E9C3B452E992}"/>
                </a:ext>
              </a:extLst>
            </p:cNvPr>
            <p:cNvSpPr/>
            <p:nvPr/>
          </p:nvSpPr>
          <p:spPr>
            <a:xfrm>
              <a:off x="10052155" y="1393007"/>
              <a:ext cx="273045" cy="259682"/>
            </a:xfrm>
            <a:prstGeom prst="star5">
              <a:avLst/>
            </a:prstGeom>
            <a:solidFill>
              <a:srgbClr val="7030A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Star: 5 Points 140">
              <a:extLst>
                <a:ext uri="{FF2B5EF4-FFF2-40B4-BE49-F238E27FC236}">
                  <a16:creationId xmlns:a16="http://schemas.microsoft.com/office/drawing/2014/main" id="{390FC210-FB95-67E5-1462-EEF47F83BB5C}"/>
                </a:ext>
              </a:extLst>
            </p:cNvPr>
            <p:cNvSpPr/>
            <p:nvPr/>
          </p:nvSpPr>
          <p:spPr>
            <a:xfrm>
              <a:off x="10589145" y="1478022"/>
              <a:ext cx="152864" cy="145383"/>
            </a:xfrm>
            <a:prstGeom prst="star5">
              <a:avLst>
                <a:gd name="adj" fmla="val 19098"/>
                <a:gd name="hf" fmla="val 105146"/>
                <a:gd name="vf" fmla="val 110557"/>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Star: 5 Points 141">
              <a:extLst>
                <a:ext uri="{FF2B5EF4-FFF2-40B4-BE49-F238E27FC236}">
                  <a16:creationId xmlns:a16="http://schemas.microsoft.com/office/drawing/2014/main" id="{88031D54-F7F0-531C-0DCB-A89D6F007576}"/>
                </a:ext>
              </a:extLst>
            </p:cNvPr>
            <p:cNvSpPr/>
            <p:nvPr/>
          </p:nvSpPr>
          <p:spPr>
            <a:xfrm>
              <a:off x="8535728" y="1392135"/>
              <a:ext cx="273045" cy="259682"/>
            </a:xfrm>
            <a:prstGeom prst="star5">
              <a:avLst/>
            </a:prstGeom>
            <a:solidFill>
              <a:srgbClr val="FFFF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 name="Star: 5 Points 142">
              <a:extLst>
                <a:ext uri="{FF2B5EF4-FFF2-40B4-BE49-F238E27FC236}">
                  <a16:creationId xmlns:a16="http://schemas.microsoft.com/office/drawing/2014/main" id="{2DF76A23-E77C-6DA7-B832-4AE981D7BC39}"/>
                </a:ext>
              </a:extLst>
            </p:cNvPr>
            <p:cNvSpPr/>
            <p:nvPr/>
          </p:nvSpPr>
          <p:spPr>
            <a:xfrm>
              <a:off x="11432462" y="1392135"/>
              <a:ext cx="273045" cy="259682"/>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48" name="Straight Connector 147">
            <a:extLst>
              <a:ext uri="{FF2B5EF4-FFF2-40B4-BE49-F238E27FC236}">
                <a16:creationId xmlns:a16="http://schemas.microsoft.com/office/drawing/2014/main" id="{F4160AA8-4EFD-1BD4-6365-919310CA57E2}"/>
              </a:ext>
            </a:extLst>
          </p:cNvPr>
          <p:cNvCxnSpPr/>
          <p:nvPr/>
        </p:nvCxnSpPr>
        <p:spPr>
          <a:xfrm>
            <a:off x="7767483" y="4285715"/>
            <a:ext cx="363794" cy="0"/>
          </a:xfrm>
          <a:prstGeom prst="line">
            <a:avLst/>
          </a:prstGeom>
          <a:ln w="76200">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149" name="Straight Connector 148">
            <a:extLst>
              <a:ext uri="{FF2B5EF4-FFF2-40B4-BE49-F238E27FC236}">
                <a16:creationId xmlns:a16="http://schemas.microsoft.com/office/drawing/2014/main" id="{F01F3B3A-BC82-8B4C-F857-F9310A9B81C1}"/>
              </a:ext>
            </a:extLst>
          </p:cNvPr>
          <p:cNvCxnSpPr/>
          <p:nvPr/>
        </p:nvCxnSpPr>
        <p:spPr>
          <a:xfrm>
            <a:off x="9817509" y="4285715"/>
            <a:ext cx="363794" cy="0"/>
          </a:xfrm>
          <a:prstGeom prst="line">
            <a:avLst/>
          </a:prstGeom>
          <a:ln w="7620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50" name="Straight Connector 149">
            <a:extLst>
              <a:ext uri="{FF2B5EF4-FFF2-40B4-BE49-F238E27FC236}">
                <a16:creationId xmlns:a16="http://schemas.microsoft.com/office/drawing/2014/main" id="{D9DE1665-B60B-CD15-EE15-3A6693F3CC79}"/>
              </a:ext>
            </a:extLst>
          </p:cNvPr>
          <p:cNvCxnSpPr/>
          <p:nvPr/>
        </p:nvCxnSpPr>
        <p:spPr>
          <a:xfrm>
            <a:off x="11641392" y="4285715"/>
            <a:ext cx="363794" cy="0"/>
          </a:xfrm>
          <a:prstGeom prst="line">
            <a:avLst/>
          </a:prstGeom>
          <a:ln w="76200">
            <a:solidFill>
              <a:schemeClr val="accent4"/>
            </a:solidFill>
          </a:ln>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BEACB22F-BA5D-EA86-815F-324C85F441F1}"/>
              </a:ext>
            </a:extLst>
          </p:cNvPr>
          <p:cNvGrpSpPr/>
          <p:nvPr/>
        </p:nvGrpSpPr>
        <p:grpSpPr>
          <a:xfrm>
            <a:off x="7178987" y="4763729"/>
            <a:ext cx="4925211" cy="1729146"/>
            <a:chOff x="7178987" y="4763729"/>
            <a:chExt cx="4925211" cy="1729146"/>
          </a:xfrm>
        </p:grpSpPr>
        <p:cxnSp>
          <p:nvCxnSpPr>
            <p:cNvPr id="212" name="Straight Connector 211">
              <a:extLst>
                <a:ext uri="{FF2B5EF4-FFF2-40B4-BE49-F238E27FC236}">
                  <a16:creationId xmlns:a16="http://schemas.microsoft.com/office/drawing/2014/main" id="{E5E5FFD2-D484-DC4D-9840-8C44383E0561}"/>
                </a:ext>
              </a:extLst>
            </p:cNvPr>
            <p:cNvCxnSpPr/>
            <p:nvPr/>
          </p:nvCxnSpPr>
          <p:spPr>
            <a:xfrm>
              <a:off x="7178987" y="6359664"/>
              <a:ext cx="4925211"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4" name="Straight Connector 213">
              <a:extLst>
                <a:ext uri="{FF2B5EF4-FFF2-40B4-BE49-F238E27FC236}">
                  <a16:creationId xmlns:a16="http://schemas.microsoft.com/office/drawing/2014/main" id="{1E0FF596-F6D5-FEFB-CBD2-56F3536D3808}"/>
                </a:ext>
              </a:extLst>
            </p:cNvPr>
            <p:cNvCxnSpPr/>
            <p:nvPr/>
          </p:nvCxnSpPr>
          <p:spPr>
            <a:xfrm>
              <a:off x="7476084" y="4968396"/>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15" name="Straight Connector 214">
              <a:extLst>
                <a:ext uri="{FF2B5EF4-FFF2-40B4-BE49-F238E27FC236}">
                  <a16:creationId xmlns:a16="http://schemas.microsoft.com/office/drawing/2014/main" id="{F4D2BAAE-24DC-D797-9AF3-1E860FE99011}"/>
                </a:ext>
              </a:extLst>
            </p:cNvPr>
            <p:cNvCxnSpPr/>
            <p:nvPr/>
          </p:nvCxnSpPr>
          <p:spPr>
            <a:xfrm>
              <a:off x="7680751" y="5173063"/>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16" name="Straight Connector 215">
              <a:extLst>
                <a:ext uri="{FF2B5EF4-FFF2-40B4-BE49-F238E27FC236}">
                  <a16:creationId xmlns:a16="http://schemas.microsoft.com/office/drawing/2014/main" id="{B46FC1C1-D3A6-7F72-918A-53F6CEC89514}"/>
                </a:ext>
              </a:extLst>
            </p:cNvPr>
            <p:cNvCxnSpPr/>
            <p:nvPr/>
          </p:nvCxnSpPr>
          <p:spPr>
            <a:xfrm>
              <a:off x="7885418" y="5377730"/>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23" name="Straight Connector 222">
              <a:extLst>
                <a:ext uri="{FF2B5EF4-FFF2-40B4-BE49-F238E27FC236}">
                  <a16:creationId xmlns:a16="http://schemas.microsoft.com/office/drawing/2014/main" id="{8A816CC8-0619-D48C-6411-0C6C59F0FDBE}"/>
                </a:ext>
              </a:extLst>
            </p:cNvPr>
            <p:cNvCxnSpPr/>
            <p:nvPr/>
          </p:nvCxnSpPr>
          <p:spPr>
            <a:xfrm>
              <a:off x="9707615" y="5787064"/>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24" name="Straight Connector 223">
              <a:extLst>
                <a:ext uri="{FF2B5EF4-FFF2-40B4-BE49-F238E27FC236}">
                  <a16:creationId xmlns:a16="http://schemas.microsoft.com/office/drawing/2014/main" id="{34C210F6-6B4F-C716-8959-34E670339BD3}"/>
                </a:ext>
              </a:extLst>
            </p:cNvPr>
            <p:cNvCxnSpPr/>
            <p:nvPr/>
          </p:nvCxnSpPr>
          <p:spPr>
            <a:xfrm>
              <a:off x="9912282" y="5991731"/>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28" name="Straight Connector 227">
              <a:extLst>
                <a:ext uri="{FF2B5EF4-FFF2-40B4-BE49-F238E27FC236}">
                  <a16:creationId xmlns:a16="http://schemas.microsoft.com/office/drawing/2014/main" id="{FDFAE76B-490E-813F-AE8F-9C53A3756463}"/>
                </a:ext>
              </a:extLst>
            </p:cNvPr>
            <p:cNvCxnSpPr/>
            <p:nvPr/>
          </p:nvCxnSpPr>
          <p:spPr>
            <a:xfrm>
              <a:off x="9555765" y="4763729"/>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29" name="Straight Connector 228">
              <a:extLst>
                <a:ext uri="{FF2B5EF4-FFF2-40B4-BE49-F238E27FC236}">
                  <a16:creationId xmlns:a16="http://schemas.microsoft.com/office/drawing/2014/main" id="{0A3E4AC3-A78E-AEA6-BA81-01A62C9B45A1}"/>
                </a:ext>
              </a:extLst>
            </p:cNvPr>
            <p:cNvCxnSpPr/>
            <p:nvPr/>
          </p:nvCxnSpPr>
          <p:spPr>
            <a:xfrm>
              <a:off x="9760432" y="4968396"/>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30" name="Straight Connector 229">
              <a:extLst>
                <a:ext uri="{FF2B5EF4-FFF2-40B4-BE49-F238E27FC236}">
                  <a16:creationId xmlns:a16="http://schemas.microsoft.com/office/drawing/2014/main" id="{5176EC47-90D5-E9FB-D14A-26EA0B43C314}"/>
                </a:ext>
              </a:extLst>
            </p:cNvPr>
            <p:cNvCxnSpPr/>
            <p:nvPr/>
          </p:nvCxnSpPr>
          <p:spPr>
            <a:xfrm>
              <a:off x="9965099" y="5173063"/>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34" name="Straight Connector 233">
              <a:extLst>
                <a:ext uri="{FF2B5EF4-FFF2-40B4-BE49-F238E27FC236}">
                  <a16:creationId xmlns:a16="http://schemas.microsoft.com/office/drawing/2014/main" id="{F383EECA-D503-B915-A08A-C57E3A0301F3}"/>
                </a:ext>
              </a:extLst>
            </p:cNvPr>
            <p:cNvCxnSpPr/>
            <p:nvPr/>
          </p:nvCxnSpPr>
          <p:spPr>
            <a:xfrm>
              <a:off x="11377962" y="5173063"/>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36" name="Straight Connector 235">
              <a:extLst>
                <a:ext uri="{FF2B5EF4-FFF2-40B4-BE49-F238E27FC236}">
                  <a16:creationId xmlns:a16="http://schemas.microsoft.com/office/drawing/2014/main" id="{C57F9BF7-E259-7A4A-9623-7C4F63300BD2}"/>
                </a:ext>
              </a:extLst>
            </p:cNvPr>
            <p:cNvCxnSpPr/>
            <p:nvPr/>
          </p:nvCxnSpPr>
          <p:spPr>
            <a:xfrm>
              <a:off x="7561913" y="5991731"/>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37" name="Straight Connector 236">
              <a:extLst>
                <a:ext uri="{FF2B5EF4-FFF2-40B4-BE49-F238E27FC236}">
                  <a16:creationId xmlns:a16="http://schemas.microsoft.com/office/drawing/2014/main" id="{11E3F51B-8A93-A4A4-5BDB-D11C857FD59A}"/>
                </a:ext>
              </a:extLst>
            </p:cNvPr>
            <p:cNvCxnSpPr/>
            <p:nvPr/>
          </p:nvCxnSpPr>
          <p:spPr>
            <a:xfrm>
              <a:off x="7885418" y="5787064"/>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38" name="Straight Connector 237">
              <a:extLst>
                <a:ext uri="{FF2B5EF4-FFF2-40B4-BE49-F238E27FC236}">
                  <a16:creationId xmlns:a16="http://schemas.microsoft.com/office/drawing/2014/main" id="{CCB7F963-6DF4-9546-7B9D-1789B210BB03}"/>
                </a:ext>
              </a:extLst>
            </p:cNvPr>
            <p:cNvCxnSpPr/>
            <p:nvPr/>
          </p:nvCxnSpPr>
          <p:spPr>
            <a:xfrm>
              <a:off x="7938235" y="4968396"/>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42" name="Straight Connector 241">
              <a:extLst>
                <a:ext uri="{FF2B5EF4-FFF2-40B4-BE49-F238E27FC236}">
                  <a16:creationId xmlns:a16="http://schemas.microsoft.com/office/drawing/2014/main" id="{371C6F0E-85CF-0551-D93E-2B0BE1AF8EE2}"/>
                </a:ext>
              </a:extLst>
            </p:cNvPr>
            <p:cNvCxnSpPr/>
            <p:nvPr/>
          </p:nvCxnSpPr>
          <p:spPr>
            <a:xfrm>
              <a:off x="11377962" y="5379517"/>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52" name="Straight Connector 251">
              <a:extLst>
                <a:ext uri="{FF2B5EF4-FFF2-40B4-BE49-F238E27FC236}">
                  <a16:creationId xmlns:a16="http://schemas.microsoft.com/office/drawing/2014/main" id="{7727B402-3C21-B66C-FEC8-43670EB66488}"/>
                </a:ext>
              </a:extLst>
            </p:cNvPr>
            <p:cNvCxnSpPr/>
            <p:nvPr/>
          </p:nvCxnSpPr>
          <p:spPr>
            <a:xfrm>
              <a:off x="9555765" y="5173063"/>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53" name="Straight Connector 252">
              <a:extLst>
                <a:ext uri="{FF2B5EF4-FFF2-40B4-BE49-F238E27FC236}">
                  <a16:creationId xmlns:a16="http://schemas.microsoft.com/office/drawing/2014/main" id="{7309E19D-FFF3-EFDF-361E-0C2F3F0CE1A6}"/>
                </a:ext>
              </a:extLst>
            </p:cNvPr>
            <p:cNvCxnSpPr/>
            <p:nvPr/>
          </p:nvCxnSpPr>
          <p:spPr>
            <a:xfrm>
              <a:off x="9760432" y="5377730"/>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54" name="Straight Connector 253">
              <a:extLst>
                <a:ext uri="{FF2B5EF4-FFF2-40B4-BE49-F238E27FC236}">
                  <a16:creationId xmlns:a16="http://schemas.microsoft.com/office/drawing/2014/main" id="{1D74E3EF-CBF8-F3B8-2EB8-278CE162DFA3}"/>
                </a:ext>
              </a:extLst>
            </p:cNvPr>
            <p:cNvCxnSpPr/>
            <p:nvPr/>
          </p:nvCxnSpPr>
          <p:spPr>
            <a:xfrm>
              <a:off x="9555765" y="5582397"/>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55" name="Straight Connector 254">
              <a:extLst>
                <a:ext uri="{FF2B5EF4-FFF2-40B4-BE49-F238E27FC236}">
                  <a16:creationId xmlns:a16="http://schemas.microsoft.com/office/drawing/2014/main" id="{C2F467AF-BFF5-E7D6-589C-67F1BC0890F1}"/>
                </a:ext>
              </a:extLst>
            </p:cNvPr>
            <p:cNvCxnSpPr/>
            <p:nvPr/>
          </p:nvCxnSpPr>
          <p:spPr>
            <a:xfrm>
              <a:off x="11628846" y="5815261"/>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56" name="Straight Connector 255">
              <a:extLst>
                <a:ext uri="{FF2B5EF4-FFF2-40B4-BE49-F238E27FC236}">
                  <a16:creationId xmlns:a16="http://schemas.microsoft.com/office/drawing/2014/main" id="{5B63C280-C1C7-66FE-2005-3F4AA6D22463}"/>
                </a:ext>
              </a:extLst>
            </p:cNvPr>
            <p:cNvCxnSpPr/>
            <p:nvPr/>
          </p:nvCxnSpPr>
          <p:spPr>
            <a:xfrm>
              <a:off x="11734479" y="5612381"/>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57" name="Straight Connector 256">
              <a:extLst>
                <a:ext uri="{FF2B5EF4-FFF2-40B4-BE49-F238E27FC236}">
                  <a16:creationId xmlns:a16="http://schemas.microsoft.com/office/drawing/2014/main" id="{C8F67F46-3BF6-7217-C038-B260E5527752}"/>
                </a:ext>
              </a:extLst>
            </p:cNvPr>
            <p:cNvCxnSpPr/>
            <p:nvPr/>
          </p:nvCxnSpPr>
          <p:spPr>
            <a:xfrm>
              <a:off x="11325145" y="5612381"/>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63" name="Straight Connector 262">
              <a:extLst>
                <a:ext uri="{FF2B5EF4-FFF2-40B4-BE49-F238E27FC236}">
                  <a16:creationId xmlns:a16="http://schemas.microsoft.com/office/drawing/2014/main" id="{12CF8EC9-6A72-1986-2C43-A38C2C62424C}"/>
                </a:ext>
              </a:extLst>
            </p:cNvPr>
            <p:cNvCxnSpPr/>
            <p:nvPr/>
          </p:nvCxnSpPr>
          <p:spPr>
            <a:xfrm>
              <a:off x="7350642" y="5377730"/>
              <a:ext cx="356517" cy="0"/>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265" name="Star: 5 Points 264">
              <a:extLst>
                <a:ext uri="{FF2B5EF4-FFF2-40B4-BE49-F238E27FC236}">
                  <a16:creationId xmlns:a16="http://schemas.microsoft.com/office/drawing/2014/main" id="{F341819F-9F01-4B59-CAFE-3BEF9D8F8B96}"/>
                </a:ext>
              </a:extLst>
            </p:cNvPr>
            <p:cNvSpPr/>
            <p:nvPr/>
          </p:nvSpPr>
          <p:spPr>
            <a:xfrm>
              <a:off x="7451191" y="6258304"/>
              <a:ext cx="205290" cy="195243"/>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Star: 5 Points 265">
              <a:extLst>
                <a:ext uri="{FF2B5EF4-FFF2-40B4-BE49-F238E27FC236}">
                  <a16:creationId xmlns:a16="http://schemas.microsoft.com/office/drawing/2014/main" id="{65253388-193A-D0DA-FD3A-B1FB13D8EF50}"/>
                </a:ext>
              </a:extLst>
            </p:cNvPr>
            <p:cNvSpPr/>
            <p:nvPr/>
          </p:nvSpPr>
          <p:spPr>
            <a:xfrm>
              <a:off x="8324192" y="6258304"/>
              <a:ext cx="205290" cy="195243"/>
            </a:xfrm>
            <a:prstGeom prst="star5">
              <a:avLst/>
            </a:prstGeom>
            <a:solidFill>
              <a:srgbClr val="FF0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Star: 5 Points 266">
              <a:extLst>
                <a:ext uri="{FF2B5EF4-FFF2-40B4-BE49-F238E27FC236}">
                  <a16:creationId xmlns:a16="http://schemas.microsoft.com/office/drawing/2014/main" id="{D1D37A1C-FF62-1C40-90EF-E3311ED8833D}"/>
                </a:ext>
              </a:extLst>
            </p:cNvPr>
            <p:cNvSpPr/>
            <p:nvPr/>
          </p:nvSpPr>
          <p:spPr>
            <a:xfrm>
              <a:off x="9824669" y="6144133"/>
              <a:ext cx="366688" cy="348742"/>
            </a:xfrm>
            <a:prstGeom prst="star5">
              <a:avLst/>
            </a:prstGeom>
            <a:solidFill>
              <a:srgbClr val="7030A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Star: 5 Points 267">
              <a:extLst>
                <a:ext uri="{FF2B5EF4-FFF2-40B4-BE49-F238E27FC236}">
                  <a16:creationId xmlns:a16="http://schemas.microsoft.com/office/drawing/2014/main" id="{98141C4C-CE27-7323-128A-E9656148487D}"/>
                </a:ext>
              </a:extLst>
            </p:cNvPr>
            <p:cNvSpPr/>
            <p:nvPr/>
          </p:nvSpPr>
          <p:spPr>
            <a:xfrm>
              <a:off x="10545824" y="6258304"/>
              <a:ext cx="205290" cy="195243"/>
            </a:xfrm>
            <a:prstGeom prst="star5">
              <a:avLst>
                <a:gd name="adj" fmla="val 19098"/>
                <a:gd name="hf" fmla="val 105146"/>
                <a:gd name="vf" fmla="val 110557"/>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Star: 5 Points 268">
              <a:extLst>
                <a:ext uri="{FF2B5EF4-FFF2-40B4-BE49-F238E27FC236}">
                  <a16:creationId xmlns:a16="http://schemas.microsoft.com/office/drawing/2014/main" id="{6DC446BA-D76D-559A-5A8A-D994DB470B67}"/>
                </a:ext>
              </a:extLst>
            </p:cNvPr>
            <p:cNvSpPr/>
            <p:nvPr/>
          </p:nvSpPr>
          <p:spPr>
            <a:xfrm>
              <a:off x="7788169" y="6142962"/>
              <a:ext cx="366688" cy="348742"/>
            </a:xfrm>
            <a:prstGeom prst="star5">
              <a:avLst/>
            </a:prstGeom>
            <a:solidFill>
              <a:srgbClr val="FFFF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0" name="Star: 5 Points 269">
              <a:extLst>
                <a:ext uri="{FF2B5EF4-FFF2-40B4-BE49-F238E27FC236}">
                  <a16:creationId xmlns:a16="http://schemas.microsoft.com/office/drawing/2014/main" id="{4E1D60A0-32D2-6025-F29A-E4334BC4177F}"/>
                </a:ext>
              </a:extLst>
            </p:cNvPr>
            <p:cNvSpPr/>
            <p:nvPr/>
          </p:nvSpPr>
          <p:spPr>
            <a:xfrm>
              <a:off x="11678364" y="6142962"/>
              <a:ext cx="366688" cy="348742"/>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88057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8D37C-8167-EBCC-DEE8-E03661272E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98442-0A90-D1DC-D714-C5C94C69F2EA}"/>
              </a:ext>
            </a:extLst>
          </p:cNvPr>
          <p:cNvSpPr>
            <a:spLocks noGrp="1"/>
          </p:cNvSpPr>
          <p:nvPr>
            <p:ph type="title"/>
          </p:nvPr>
        </p:nvSpPr>
        <p:spPr>
          <a:xfrm>
            <a:off x="838200" y="365125"/>
            <a:ext cx="6722806" cy="1325563"/>
          </a:xfrm>
        </p:spPr>
        <p:txBody>
          <a:bodyPr/>
          <a:lstStyle/>
          <a:p>
            <a:r>
              <a:rPr lang="en-US" dirty="0" err="1">
                <a:latin typeface="Aharoni" panose="02010803020104030203" pitchFamily="2" charset="-79"/>
                <a:cs typeface="Aharoni" panose="02010803020104030203" pitchFamily="2" charset="-79"/>
              </a:rPr>
              <a:t>RADSeq</a:t>
            </a:r>
            <a:endParaRPr lang="en-US" dirty="0">
              <a:latin typeface="Aharoni" panose="02010803020104030203" pitchFamily="2" charset="-79"/>
              <a:cs typeface="Aharoni" panose="02010803020104030203" pitchFamily="2" charset="-79"/>
            </a:endParaRPr>
          </a:p>
        </p:txBody>
      </p:sp>
      <p:sp>
        <p:nvSpPr>
          <p:cNvPr id="7" name="Content Placeholder 6">
            <a:extLst>
              <a:ext uri="{FF2B5EF4-FFF2-40B4-BE49-F238E27FC236}">
                <a16:creationId xmlns:a16="http://schemas.microsoft.com/office/drawing/2014/main" id="{D764148C-A479-D579-33A5-B58376119CEB}"/>
              </a:ext>
            </a:extLst>
          </p:cNvPr>
          <p:cNvSpPr>
            <a:spLocks noGrp="1"/>
          </p:cNvSpPr>
          <p:nvPr>
            <p:ph idx="1"/>
          </p:nvPr>
        </p:nvSpPr>
        <p:spPr>
          <a:xfrm>
            <a:off x="838200" y="1825624"/>
            <a:ext cx="4874342" cy="4929135"/>
          </a:xfrm>
        </p:spPr>
        <p:txBody>
          <a:bodyPr>
            <a:normAutofit/>
          </a:bodyPr>
          <a:lstStyle/>
          <a:p>
            <a:r>
              <a:rPr lang="en-US" dirty="0">
                <a:latin typeface="Abadi" panose="020B0604020104020204" pitchFamily="34" charset="0"/>
              </a:rPr>
              <a:t>Restriction site associated digest sequencing</a:t>
            </a:r>
          </a:p>
          <a:p>
            <a:r>
              <a:rPr lang="en-US" dirty="0">
                <a:latin typeface="Abadi" panose="020B0604020104020204" pitchFamily="34" charset="0"/>
              </a:rPr>
              <a:t>Cut genome with enzymes that target specific sequences</a:t>
            </a:r>
          </a:p>
          <a:p>
            <a:r>
              <a:rPr lang="en-US" dirty="0">
                <a:latin typeface="Abadi" panose="020B0604020104020204" pitchFamily="34" charset="0"/>
              </a:rPr>
              <a:t>Only keep fragments matching size criteria</a:t>
            </a:r>
          </a:p>
        </p:txBody>
      </p:sp>
      <p:pic>
        <p:nvPicPr>
          <p:cNvPr id="3" name="Picture 2" descr="File:RADseq schematic.pdf">
            <a:extLst>
              <a:ext uri="{FF2B5EF4-FFF2-40B4-BE49-F238E27FC236}">
                <a16:creationId xmlns:a16="http://schemas.microsoft.com/office/drawing/2014/main" id="{D2465EE0-D115-A70E-0125-762A425DCFFF}"/>
              </a:ext>
            </a:extLst>
          </p:cNvPr>
          <p:cNvPicPr>
            <a:picLocks noChangeAspect="1"/>
          </p:cNvPicPr>
          <p:nvPr/>
        </p:nvPicPr>
        <p:blipFill>
          <a:blip r:embed="rId3"/>
          <a:srcRect l="7484" t="10829" r="7049" b="15973"/>
          <a:stretch>
            <a:fillRect/>
          </a:stretch>
        </p:blipFill>
        <p:spPr>
          <a:xfrm>
            <a:off x="5754107" y="3184844"/>
            <a:ext cx="5599693" cy="3706761"/>
          </a:xfrm>
          <a:prstGeom prst="rect">
            <a:avLst/>
          </a:prstGeom>
        </p:spPr>
      </p:pic>
      <p:pic>
        <p:nvPicPr>
          <p:cNvPr id="4" name="Picture 3" descr="Restriction Enzyme (Restriction Endonuclease)">
            <a:extLst>
              <a:ext uri="{FF2B5EF4-FFF2-40B4-BE49-F238E27FC236}">
                <a16:creationId xmlns:a16="http://schemas.microsoft.com/office/drawing/2014/main" id="{1B319964-3BB6-BCE5-F443-5BD18A62ED47}"/>
              </a:ext>
            </a:extLst>
          </p:cNvPr>
          <p:cNvPicPr>
            <a:picLocks noChangeAspect="1"/>
          </p:cNvPicPr>
          <p:nvPr/>
        </p:nvPicPr>
        <p:blipFill>
          <a:blip r:embed="rId4"/>
          <a:stretch>
            <a:fillRect/>
          </a:stretch>
        </p:blipFill>
        <p:spPr>
          <a:xfrm>
            <a:off x="6367504" y="78658"/>
            <a:ext cx="4372898" cy="2819719"/>
          </a:xfrm>
          <a:prstGeom prst="rect">
            <a:avLst/>
          </a:prstGeom>
        </p:spPr>
      </p:pic>
    </p:spTree>
    <p:extLst>
      <p:ext uri="{BB962C8B-B14F-4D97-AF65-F5344CB8AC3E}">
        <p14:creationId xmlns:p14="http://schemas.microsoft.com/office/powerpoint/2010/main" val="2577078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C4FB9-0481-8ED2-77EF-FA8E14925F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C40FBF-8C46-8C09-D1D1-2E1ACCC040CB}"/>
              </a:ext>
            </a:extLst>
          </p:cNvPr>
          <p:cNvSpPr>
            <a:spLocks noGrp="1"/>
          </p:cNvSpPr>
          <p:nvPr>
            <p:ph type="title"/>
          </p:nvPr>
        </p:nvSpPr>
        <p:spPr>
          <a:xfrm>
            <a:off x="798871" y="304625"/>
            <a:ext cx="6722806" cy="1325563"/>
          </a:xfrm>
        </p:spPr>
        <p:txBody>
          <a:bodyPr/>
          <a:lstStyle/>
          <a:p>
            <a:r>
              <a:rPr lang="en-US" dirty="0" err="1">
                <a:latin typeface="Aharoni" panose="02010803020104030203" pitchFamily="2" charset="-79"/>
                <a:cs typeface="Aharoni" panose="02010803020104030203" pitchFamily="2" charset="-79"/>
              </a:rPr>
              <a:t>RADSeq</a:t>
            </a:r>
            <a:endParaRPr lang="en-US" dirty="0">
              <a:latin typeface="Aharoni" panose="02010803020104030203" pitchFamily="2" charset="-79"/>
              <a:cs typeface="Aharoni" panose="02010803020104030203" pitchFamily="2" charset="-79"/>
            </a:endParaRPr>
          </a:p>
        </p:txBody>
      </p:sp>
      <p:sp>
        <p:nvSpPr>
          <p:cNvPr id="7" name="Content Placeholder 6">
            <a:extLst>
              <a:ext uri="{FF2B5EF4-FFF2-40B4-BE49-F238E27FC236}">
                <a16:creationId xmlns:a16="http://schemas.microsoft.com/office/drawing/2014/main" id="{68D71A95-0535-B2C1-35D2-702DA439BAB8}"/>
              </a:ext>
            </a:extLst>
          </p:cNvPr>
          <p:cNvSpPr>
            <a:spLocks noGrp="1"/>
          </p:cNvSpPr>
          <p:nvPr>
            <p:ph idx="1"/>
          </p:nvPr>
        </p:nvSpPr>
        <p:spPr>
          <a:xfrm>
            <a:off x="838200" y="1825624"/>
            <a:ext cx="4726858" cy="4929135"/>
          </a:xfrm>
        </p:spPr>
        <p:txBody>
          <a:bodyPr>
            <a:normAutofit/>
          </a:bodyPr>
          <a:lstStyle/>
          <a:p>
            <a:r>
              <a:rPr lang="en-US" dirty="0">
                <a:latin typeface="Abadi" panose="020B0604020104020204" pitchFamily="34" charset="0"/>
              </a:rPr>
              <a:t>Restriction site associated digest sequencing</a:t>
            </a:r>
          </a:p>
          <a:p>
            <a:r>
              <a:rPr lang="en-US" dirty="0">
                <a:latin typeface="Abadi" panose="020B0604020104020204" pitchFamily="34" charset="0"/>
              </a:rPr>
              <a:t>Cut genome with enzymes that target specific sequences</a:t>
            </a:r>
          </a:p>
          <a:p>
            <a:r>
              <a:rPr lang="en-US" dirty="0">
                <a:latin typeface="Abadi" panose="020B0604020104020204" pitchFamily="34" charset="0"/>
              </a:rPr>
              <a:t>Only keep fragments matching size criteria</a:t>
            </a:r>
          </a:p>
          <a:p>
            <a:r>
              <a:rPr lang="en-US" dirty="0">
                <a:latin typeface="Abadi" panose="020B0604020104020204" pitchFamily="34" charset="0"/>
              </a:rPr>
              <a:t>Only retain reads matching restriction sites in analyses</a:t>
            </a:r>
          </a:p>
        </p:txBody>
      </p:sp>
      <p:pic>
        <p:nvPicPr>
          <p:cNvPr id="5" name="Picture 4" descr="Figure 1: Step-by-step illustration of five RADseq library preparation protocols.">
            <a:extLst>
              <a:ext uri="{FF2B5EF4-FFF2-40B4-BE49-F238E27FC236}">
                <a16:creationId xmlns:a16="http://schemas.microsoft.com/office/drawing/2014/main" id="{BEA8E55B-CBD4-22FC-2CA5-2535D7A58F53}"/>
              </a:ext>
            </a:extLst>
          </p:cNvPr>
          <p:cNvPicPr>
            <a:picLocks noChangeAspect="1"/>
          </p:cNvPicPr>
          <p:nvPr/>
        </p:nvPicPr>
        <p:blipFill>
          <a:blip r:embed="rId3"/>
          <a:srcRect t="1706" r="69497" b="48069"/>
          <a:stretch>
            <a:fillRect/>
          </a:stretch>
        </p:blipFill>
        <p:spPr>
          <a:xfrm>
            <a:off x="5739807" y="177604"/>
            <a:ext cx="2932245" cy="6524898"/>
          </a:xfrm>
          <a:prstGeom prst="rect">
            <a:avLst/>
          </a:prstGeom>
        </p:spPr>
      </p:pic>
      <p:pic>
        <p:nvPicPr>
          <p:cNvPr id="6" name="Picture 5" descr="Figure 1: Step-by-step illustration of five RADseq library preparation protocols.">
            <a:extLst>
              <a:ext uri="{FF2B5EF4-FFF2-40B4-BE49-F238E27FC236}">
                <a16:creationId xmlns:a16="http://schemas.microsoft.com/office/drawing/2014/main" id="{2A3DC988-14A8-F68C-B575-A502BD7F290A}"/>
              </a:ext>
            </a:extLst>
          </p:cNvPr>
          <p:cNvPicPr>
            <a:picLocks noChangeAspect="1"/>
          </p:cNvPicPr>
          <p:nvPr/>
        </p:nvPicPr>
        <p:blipFill>
          <a:blip r:embed="rId3"/>
          <a:srcRect l="72462" t="53747" b="3705"/>
          <a:stretch>
            <a:fillRect/>
          </a:stretch>
        </p:blipFill>
        <p:spPr>
          <a:xfrm>
            <a:off x="8868697" y="167928"/>
            <a:ext cx="3123490" cy="6522143"/>
          </a:xfrm>
          <a:prstGeom prst="rect">
            <a:avLst/>
          </a:prstGeom>
        </p:spPr>
      </p:pic>
    </p:spTree>
    <p:extLst>
      <p:ext uri="{BB962C8B-B14F-4D97-AF65-F5344CB8AC3E}">
        <p14:creationId xmlns:p14="http://schemas.microsoft.com/office/powerpoint/2010/main" val="2236198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D2002-602C-79AE-6B30-AD90E750CDA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DD878EC-01F5-1796-3081-E44123A7BAC1}"/>
              </a:ext>
            </a:extLst>
          </p:cNvPr>
          <p:cNvSpPr>
            <a:spLocks noGrp="1"/>
          </p:cNvSpPr>
          <p:nvPr>
            <p:ph type="title"/>
          </p:nvPr>
        </p:nvSpPr>
        <p:spPr/>
        <p:txBody>
          <a:bodyPr/>
          <a:lstStyle/>
          <a:p>
            <a:r>
              <a:rPr lang="en-US" dirty="0" err="1">
                <a:latin typeface="Aharoni" panose="02010803020104030203" pitchFamily="2" charset="-79"/>
                <a:cs typeface="Aharoni" panose="02010803020104030203" pitchFamily="2" charset="-79"/>
              </a:rPr>
              <a:t>RADseq’s</a:t>
            </a:r>
            <a:r>
              <a:rPr lang="en-US" dirty="0">
                <a:latin typeface="Aharoni" panose="02010803020104030203" pitchFamily="2" charset="-79"/>
                <a:cs typeface="Aharoni" panose="02010803020104030203" pitchFamily="2" charset="-79"/>
              </a:rPr>
              <a:t> cousin: </a:t>
            </a:r>
            <a:r>
              <a:rPr lang="en-US" dirty="0" err="1">
                <a:latin typeface="Aharoni" panose="02010803020104030203" pitchFamily="2" charset="-79"/>
                <a:cs typeface="Aharoni" panose="02010803020104030203" pitchFamily="2" charset="-79"/>
              </a:rPr>
              <a:t>DArTseq</a:t>
            </a:r>
            <a:endParaRPr lang="en-US" dirty="0">
              <a:latin typeface="Aharoni" panose="02010803020104030203" pitchFamily="2" charset="-79"/>
              <a:cs typeface="Aharoni" panose="02010803020104030203" pitchFamily="2" charset="-79"/>
            </a:endParaRPr>
          </a:p>
        </p:txBody>
      </p:sp>
      <p:pic>
        <p:nvPicPr>
          <p:cNvPr id="11" name="Picture 10">
            <a:extLst>
              <a:ext uri="{FF2B5EF4-FFF2-40B4-BE49-F238E27FC236}">
                <a16:creationId xmlns:a16="http://schemas.microsoft.com/office/drawing/2014/main" id="{141611F8-3205-5705-3E10-18E2AAAD2362}"/>
              </a:ext>
            </a:extLst>
          </p:cNvPr>
          <p:cNvPicPr>
            <a:picLocks noChangeAspect="1"/>
          </p:cNvPicPr>
          <p:nvPr/>
        </p:nvPicPr>
        <p:blipFill>
          <a:blip r:embed="rId3"/>
          <a:stretch>
            <a:fillRect/>
          </a:stretch>
        </p:blipFill>
        <p:spPr>
          <a:xfrm>
            <a:off x="972632" y="1854021"/>
            <a:ext cx="10246735" cy="4870808"/>
          </a:xfrm>
          <a:prstGeom prst="rect">
            <a:avLst/>
          </a:prstGeom>
        </p:spPr>
      </p:pic>
    </p:spTree>
    <p:extLst>
      <p:ext uri="{BB962C8B-B14F-4D97-AF65-F5344CB8AC3E}">
        <p14:creationId xmlns:p14="http://schemas.microsoft.com/office/powerpoint/2010/main" val="380272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D5510-D18B-2C50-ACFB-3BCE3AAD42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1D3E7-9753-AC0A-30B3-468B0755AA55}"/>
              </a:ext>
            </a:extLst>
          </p:cNvPr>
          <p:cNvSpPr>
            <a:spLocks noGrp="1"/>
          </p:cNvSpPr>
          <p:nvPr>
            <p:ph type="title"/>
          </p:nvPr>
        </p:nvSpPr>
        <p:spPr>
          <a:xfrm>
            <a:off x="798871" y="304625"/>
            <a:ext cx="6722806" cy="1325563"/>
          </a:xfrm>
        </p:spPr>
        <p:txBody>
          <a:bodyPr/>
          <a:lstStyle/>
          <a:p>
            <a:r>
              <a:rPr lang="en-US" dirty="0">
                <a:latin typeface="Aharoni" panose="02010803020104030203" pitchFamily="2" charset="-79"/>
                <a:cs typeface="Aharoni" panose="02010803020104030203" pitchFamily="2" charset="-79"/>
              </a:rPr>
              <a:t>Benefits of </a:t>
            </a:r>
            <a:r>
              <a:rPr lang="en-US" dirty="0" err="1">
                <a:latin typeface="Aharoni" panose="02010803020104030203" pitchFamily="2" charset="-79"/>
                <a:cs typeface="Aharoni" panose="02010803020104030203" pitchFamily="2" charset="-79"/>
              </a:rPr>
              <a:t>RADSeq</a:t>
            </a:r>
            <a:endParaRPr lang="en-US" dirty="0">
              <a:latin typeface="Aharoni" panose="02010803020104030203" pitchFamily="2" charset="-79"/>
              <a:cs typeface="Aharoni" panose="02010803020104030203" pitchFamily="2" charset="-79"/>
            </a:endParaRPr>
          </a:p>
        </p:txBody>
      </p:sp>
      <p:sp>
        <p:nvSpPr>
          <p:cNvPr id="7" name="Content Placeholder 6">
            <a:extLst>
              <a:ext uri="{FF2B5EF4-FFF2-40B4-BE49-F238E27FC236}">
                <a16:creationId xmlns:a16="http://schemas.microsoft.com/office/drawing/2014/main" id="{BF88D0AF-CF3A-F8B1-6AA2-488E517F04FB}"/>
              </a:ext>
            </a:extLst>
          </p:cNvPr>
          <p:cNvSpPr>
            <a:spLocks noGrp="1"/>
          </p:cNvSpPr>
          <p:nvPr>
            <p:ph idx="1"/>
          </p:nvPr>
        </p:nvSpPr>
        <p:spPr>
          <a:xfrm>
            <a:off x="838200" y="1825624"/>
            <a:ext cx="4726858" cy="4929135"/>
          </a:xfrm>
        </p:spPr>
        <p:txBody>
          <a:bodyPr>
            <a:normAutofit/>
          </a:bodyPr>
          <a:lstStyle/>
          <a:p>
            <a:r>
              <a:rPr lang="en-US" dirty="0">
                <a:latin typeface="Abadi" panose="020B0604020104020204" pitchFamily="34" charset="0"/>
              </a:rPr>
              <a:t>Cheap, consistent, high coverage locations</a:t>
            </a:r>
          </a:p>
          <a:p>
            <a:r>
              <a:rPr lang="en-US" dirty="0">
                <a:latin typeface="Abadi" panose="020B0604020104020204" pitchFamily="34" charset="0"/>
              </a:rPr>
              <a:t>Flexible protocols mean flexible costs based on goals</a:t>
            </a:r>
          </a:p>
          <a:p>
            <a:r>
              <a:rPr lang="en-US" dirty="0">
                <a:latin typeface="Abadi" panose="020B0604020104020204" pitchFamily="34" charset="0"/>
              </a:rPr>
              <a:t>Allows large comparative datasets</a:t>
            </a:r>
          </a:p>
        </p:txBody>
      </p:sp>
      <p:grpSp>
        <p:nvGrpSpPr>
          <p:cNvPr id="3" name="Group 2">
            <a:extLst>
              <a:ext uri="{FF2B5EF4-FFF2-40B4-BE49-F238E27FC236}">
                <a16:creationId xmlns:a16="http://schemas.microsoft.com/office/drawing/2014/main" id="{1E0E89F2-994A-CD8A-6AB1-65A6FFDAF7D0}"/>
              </a:ext>
            </a:extLst>
          </p:cNvPr>
          <p:cNvGrpSpPr/>
          <p:nvPr/>
        </p:nvGrpSpPr>
        <p:grpSpPr>
          <a:xfrm>
            <a:off x="7893876" y="1616846"/>
            <a:ext cx="4298124" cy="2184893"/>
            <a:chOff x="413544" y="1240448"/>
            <a:chExt cx="11351736" cy="5770499"/>
          </a:xfrm>
        </p:grpSpPr>
        <p:pic>
          <p:nvPicPr>
            <p:cNvPr id="4" name="Picture 3">
              <a:extLst>
                <a:ext uri="{FF2B5EF4-FFF2-40B4-BE49-F238E27FC236}">
                  <a16:creationId xmlns:a16="http://schemas.microsoft.com/office/drawing/2014/main" id="{5D576C95-CBD1-256B-913C-5C04B4C523AC}"/>
                </a:ext>
              </a:extLst>
            </p:cNvPr>
            <p:cNvPicPr>
              <a:picLocks noChangeAspect="1"/>
            </p:cNvPicPr>
            <p:nvPr/>
          </p:nvPicPr>
          <p:blipFill>
            <a:blip r:embed="rId3">
              <a:extLst>
                <a:ext uri="{28A0092B-C50C-407E-A947-70E740481C1C}">
                  <a14:useLocalDpi xmlns:a14="http://schemas.microsoft.com/office/drawing/2010/main" val="0"/>
                </a:ext>
              </a:extLst>
            </a:blip>
            <a:srcRect l="2605" t="9434" b="9258"/>
            <a:stretch>
              <a:fillRect/>
            </a:stretch>
          </p:blipFill>
          <p:spPr>
            <a:xfrm>
              <a:off x="1066800" y="1442719"/>
              <a:ext cx="10698480" cy="4915965"/>
            </a:xfrm>
            <a:prstGeom prst="rect">
              <a:avLst/>
            </a:prstGeom>
          </p:spPr>
        </p:pic>
        <p:sp>
          <p:nvSpPr>
            <p:cNvPr id="8" name="TextBox 7">
              <a:extLst>
                <a:ext uri="{FF2B5EF4-FFF2-40B4-BE49-F238E27FC236}">
                  <a16:creationId xmlns:a16="http://schemas.microsoft.com/office/drawing/2014/main" id="{91AC3452-FB59-8E25-509E-809AA15A9EEB}"/>
                </a:ext>
              </a:extLst>
            </p:cNvPr>
            <p:cNvSpPr txBox="1"/>
            <p:nvPr/>
          </p:nvSpPr>
          <p:spPr>
            <a:xfrm rot="16200000">
              <a:off x="-2065272" y="3719264"/>
              <a:ext cx="5770499" cy="812867"/>
            </a:xfrm>
            <a:prstGeom prst="rect">
              <a:avLst/>
            </a:prstGeom>
            <a:noFill/>
          </p:spPr>
          <p:txBody>
            <a:bodyPr wrap="none" rtlCol="0">
              <a:spAutoFit/>
            </a:bodyPr>
            <a:lstStyle/>
            <a:p>
              <a:r>
                <a:rPr lang="en-US" sz="1400" dirty="0"/>
                <a:t>Correlation with body size</a:t>
              </a:r>
            </a:p>
          </p:txBody>
        </p:sp>
        <p:sp>
          <p:nvSpPr>
            <p:cNvPr id="9" name="TextBox 8">
              <a:extLst>
                <a:ext uri="{FF2B5EF4-FFF2-40B4-BE49-F238E27FC236}">
                  <a16:creationId xmlns:a16="http://schemas.microsoft.com/office/drawing/2014/main" id="{7F6B09F6-ABC6-5ED2-421C-12405B67672C}"/>
                </a:ext>
              </a:extLst>
            </p:cNvPr>
            <p:cNvSpPr txBox="1"/>
            <p:nvPr/>
          </p:nvSpPr>
          <p:spPr>
            <a:xfrm>
              <a:off x="3770262" y="6358685"/>
              <a:ext cx="3143252" cy="496044"/>
            </a:xfrm>
            <a:prstGeom prst="rect">
              <a:avLst/>
            </a:prstGeom>
            <a:noFill/>
          </p:spPr>
          <p:txBody>
            <a:bodyPr wrap="none" rtlCol="0">
              <a:spAutoFit/>
            </a:bodyPr>
            <a:lstStyle/>
            <a:p>
              <a:r>
                <a:rPr lang="en-US" sz="1400" dirty="0"/>
                <a:t>Position in the genome</a:t>
              </a:r>
            </a:p>
          </p:txBody>
        </p:sp>
      </p:grpSp>
      <p:pic>
        <p:nvPicPr>
          <p:cNvPr id="10" name="Picture 9" descr="A group of penguins on a map&#10;&#10;Description automatically generated">
            <a:extLst>
              <a:ext uri="{FF2B5EF4-FFF2-40B4-BE49-F238E27FC236}">
                <a16:creationId xmlns:a16="http://schemas.microsoft.com/office/drawing/2014/main" id="{56701E80-A729-E693-B430-256BBD1CF05D}"/>
              </a:ext>
            </a:extLst>
          </p:cNvPr>
          <p:cNvPicPr>
            <a:picLocks noChangeAspect="1"/>
          </p:cNvPicPr>
          <p:nvPr/>
        </p:nvPicPr>
        <p:blipFill rotWithShape="1">
          <a:blip r:embed="rId4">
            <a:extLst>
              <a:ext uri="{28A0092B-C50C-407E-A947-70E740481C1C}">
                <a14:useLocalDpi xmlns:a14="http://schemas.microsoft.com/office/drawing/2010/main" val="0"/>
              </a:ext>
            </a:extLst>
          </a:blip>
          <a:srcRect l="52635" b="49109"/>
          <a:stretch/>
        </p:blipFill>
        <p:spPr>
          <a:xfrm>
            <a:off x="5159330" y="1502369"/>
            <a:ext cx="2126373" cy="1733405"/>
          </a:xfrm>
          <a:prstGeom prst="rect">
            <a:avLst/>
          </a:prstGeom>
        </p:spPr>
      </p:pic>
      <p:pic>
        <p:nvPicPr>
          <p:cNvPr id="12" name="Picture 11">
            <a:extLst>
              <a:ext uri="{FF2B5EF4-FFF2-40B4-BE49-F238E27FC236}">
                <a16:creationId xmlns:a16="http://schemas.microsoft.com/office/drawing/2014/main" id="{49DA3D03-509F-F1B6-823C-B2BDA31B6B55}"/>
              </a:ext>
            </a:extLst>
          </p:cNvPr>
          <p:cNvPicPr>
            <a:picLocks noChangeAspect="1"/>
          </p:cNvPicPr>
          <p:nvPr/>
        </p:nvPicPr>
        <p:blipFill>
          <a:blip r:embed="rId5"/>
          <a:srcRect t="1134"/>
          <a:stretch>
            <a:fillRect/>
          </a:stretch>
        </p:blipFill>
        <p:spPr>
          <a:xfrm>
            <a:off x="5033044" y="3235774"/>
            <a:ext cx="2488633" cy="558600"/>
          </a:xfrm>
          <a:prstGeom prst="rect">
            <a:avLst/>
          </a:prstGeom>
        </p:spPr>
      </p:pic>
      <p:sp>
        <p:nvSpPr>
          <p:cNvPr id="13" name="TextBox 12">
            <a:extLst>
              <a:ext uri="{FF2B5EF4-FFF2-40B4-BE49-F238E27FC236}">
                <a16:creationId xmlns:a16="http://schemas.microsoft.com/office/drawing/2014/main" id="{FCFA5F51-FCA9-5ACE-2EF8-7F1FF7E59080}"/>
              </a:ext>
            </a:extLst>
          </p:cNvPr>
          <p:cNvSpPr txBox="1"/>
          <p:nvPr/>
        </p:nvSpPr>
        <p:spPr>
          <a:xfrm>
            <a:off x="5159330" y="1278194"/>
            <a:ext cx="2159117" cy="369332"/>
          </a:xfrm>
          <a:prstGeom prst="rect">
            <a:avLst/>
          </a:prstGeom>
          <a:noFill/>
        </p:spPr>
        <p:txBody>
          <a:bodyPr wrap="none" rtlCol="0">
            <a:spAutoFit/>
          </a:bodyPr>
          <a:lstStyle/>
          <a:p>
            <a:r>
              <a:rPr lang="en-US" dirty="0"/>
              <a:t>High </a:t>
            </a:r>
            <a:r>
              <a:rPr lang="en-US" dirty="0" err="1"/>
              <a:t>cov</a:t>
            </a:r>
            <a:r>
              <a:rPr lang="en-US" dirty="0"/>
              <a:t>., fewer loci</a:t>
            </a:r>
          </a:p>
        </p:txBody>
      </p:sp>
      <p:sp>
        <p:nvSpPr>
          <p:cNvPr id="15" name="TextBox 14">
            <a:extLst>
              <a:ext uri="{FF2B5EF4-FFF2-40B4-BE49-F238E27FC236}">
                <a16:creationId xmlns:a16="http://schemas.microsoft.com/office/drawing/2014/main" id="{5F40AAFB-1036-B0F2-3246-8CDDA071C328}"/>
              </a:ext>
            </a:extLst>
          </p:cNvPr>
          <p:cNvSpPr txBox="1"/>
          <p:nvPr/>
        </p:nvSpPr>
        <p:spPr>
          <a:xfrm>
            <a:off x="8769143" y="1245368"/>
            <a:ext cx="2794932" cy="369332"/>
          </a:xfrm>
          <a:prstGeom prst="rect">
            <a:avLst/>
          </a:prstGeom>
          <a:noFill/>
        </p:spPr>
        <p:txBody>
          <a:bodyPr wrap="none" rtlCol="0">
            <a:spAutoFit/>
          </a:bodyPr>
          <a:lstStyle/>
          <a:p>
            <a:r>
              <a:rPr lang="en-US" dirty="0"/>
              <a:t>Lower coverage, many loci</a:t>
            </a:r>
          </a:p>
        </p:txBody>
      </p:sp>
      <p:pic>
        <p:nvPicPr>
          <p:cNvPr id="23" name="Picture 22">
            <a:extLst>
              <a:ext uri="{FF2B5EF4-FFF2-40B4-BE49-F238E27FC236}">
                <a16:creationId xmlns:a16="http://schemas.microsoft.com/office/drawing/2014/main" id="{028E5A0C-22BB-EF67-F42C-C0F4450EA647}"/>
              </a:ext>
            </a:extLst>
          </p:cNvPr>
          <p:cNvPicPr>
            <a:picLocks noChangeAspect="1"/>
          </p:cNvPicPr>
          <p:nvPr/>
        </p:nvPicPr>
        <p:blipFill>
          <a:blip r:embed="rId6"/>
          <a:stretch>
            <a:fillRect/>
          </a:stretch>
        </p:blipFill>
        <p:spPr>
          <a:xfrm>
            <a:off x="5122285" y="3968239"/>
            <a:ext cx="2771591" cy="2843496"/>
          </a:xfrm>
          <a:prstGeom prst="rect">
            <a:avLst/>
          </a:prstGeom>
        </p:spPr>
      </p:pic>
      <p:pic>
        <p:nvPicPr>
          <p:cNvPr id="25" name="Picture 24">
            <a:extLst>
              <a:ext uri="{FF2B5EF4-FFF2-40B4-BE49-F238E27FC236}">
                <a16:creationId xmlns:a16="http://schemas.microsoft.com/office/drawing/2014/main" id="{EADA043D-0303-DF7A-0F2C-C1604598B0BD}"/>
              </a:ext>
            </a:extLst>
          </p:cNvPr>
          <p:cNvPicPr>
            <a:picLocks noChangeAspect="1"/>
          </p:cNvPicPr>
          <p:nvPr/>
        </p:nvPicPr>
        <p:blipFill>
          <a:blip r:embed="rId7"/>
          <a:stretch>
            <a:fillRect/>
          </a:stretch>
        </p:blipFill>
        <p:spPr>
          <a:xfrm>
            <a:off x="8028099" y="4291104"/>
            <a:ext cx="3970364" cy="2270957"/>
          </a:xfrm>
          <a:prstGeom prst="rect">
            <a:avLst/>
          </a:prstGeom>
        </p:spPr>
      </p:pic>
    </p:spTree>
    <p:extLst>
      <p:ext uri="{BB962C8B-B14F-4D97-AF65-F5344CB8AC3E}">
        <p14:creationId xmlns:p14="http://schemas.microsoft.com/office/powerpoint/2010/main" val="1061379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3" grpId="0"/>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92650-55A5-3135-3733-5118BD2FE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4EDF94-BD10-1382-544C-7ADAE862CA65}"/>
              </a:ext>
            </a:extLst>
          </p:cNvPr>
          <p:cNvSpPr>
            <a:spLocks noGrp="1"/>
          </p:cNvSpPr>
          <p:nvPr>
            <p:ph type="title"/>
          </p:nvPr>
        </p:nvSpPr>
        <p:spPr>
          <a:xfrm>
            <a:off x="798871" y="304625"/>
            <a:ext cx="6722806" cy="1325563"/>
          </a:xfrm>
        </p:spPr>
        <p:txBody>
          <a:bodyPr/>
          <a:lstStyle/>
          <a:p>
            <a:r>
              <a:rPr lang="en-US" dirty="0">
                <a:latin typeface="Aharoni" panose="02010803020104030203" pitchFamily="2" charset="-79"/>
                <a:cs typeface="Aharoni" panose="02010803020104030203" pitchFamily="2" charset="-79"/>
              </a:rPr>
              <a:t>Downsides of </a:t>
            </a:r>
            <a:r>
              <a:rPr lang="en-US" dirty="0" err="1">
                <a:latin typeface="Aharoni" panose="02010803020104030203" pitchFamily="2" charset="-79"/>
                <a:cs typeface="Aharoni" panose="02010803020104030203" pitchFamily="2" charset="-79"/>
              </a:rPr>
              <a:t>RADseq</a:t>
            </a:r>
            <a:endParaRPr lang="en-US" dirty="0">
              <a:latin typeface="Aharoni" panose="02010803020104030203" pitchFamily="2" charset="-79"/>
              <a:cs typeface="Aharoni" panose="02010803020104030203" pitchFamily="2" charset="-79"/>
            </a:endParaRPr>
          </a:p>
        </p:txBody>
      </p:sp>
      <p:sp>
        <p:nvSpPr>
          <p:cNvPr id="7" name="Content Placeholder 6">
            <a:extLst>
              <a:ext uri="{FF2B5EF4-FFF2-40B4-BE49-F238E27FC236}">
                <a16:creationId xmlns:a16="http://schemas.microsoft.com/office/drawing/2014/main" id="{FF156B2D-49A8-3843-4A3E-59DFC8B9E845}"/>
              </a:ext>
            </a:extLst>
          </p:cNvPr>
          <p:cNvSpPr>
            <a:spLocks noGrp="1"/>
          </p:cNvSpPr>
          <p:nvPr>
            <p:ph idx="1"/>
          </p:nvPr>
        </p:nvSpPr>
        <p:spPr>
          <a:xfrm>
            <a:off x="838200" y="1825624"/>
            <a:ext cx="4726858" cy="4929135"/>
          </a:xfrm>
        </p:spPr>
        <p:txBody>
          <a:bodyPr>
            <a:normAutofit/>
          </a:bodyPr>
          <a:lstStyle/>
          <a:p>
            <a:r>
              <a:rPr lang="en-US" dirty="0">
                <a:latin typeface="Abadi" panose="020B0604020104020204" pitchFamily="34" charset="0"/>
              </a:rPr>
              <a:t>Bad for historic samples (fragments too small)</a:t>
            </a:r>
          </a:p>
          <a:p>
            <a:pPr lvl="1"/>
            <a:r>
              <a:rPr lang="en-US" dirty="0">
                <a:latin typeface="Abadi" panose="020B0604020104020204" pitchFamily="34" charset="0"/>
              </a:rPr>
              <a:t>BUT, can combine with target capture</a:t>
            </a:r>
          </a:p>
          <a:p>
            <a:r>
              <a:rPr lang="en-US" dirty="0">
                <a:latin typeface="Abadi" panose="020B0604020104020204" pitchFamily="34" charset="0"/>
              </a:rPr>
              <a:t>Not good at deeper phylogenetic scales</a:t>
            </a:r>
          </a:p>
          <a:p>
            <a:pPr lvl="1"/>
            <a:r>
              <a:rPr lang="en-US" dirty="0">
                <a:latin typeface="Abadi" panose="020B0604020104020204" pitchFamily="34" charset="0"/>
              </a:rPr>
              <a:t>Locus dropout major problem, cut sites can be in one species but not the other, propagates with more species samples</a:t>
            </a:r>
          </a:p>
        </p:txBody>
      </p:sp>
      <p:pic>
        <p:nvPicPr>
          <p:cNvPr id="5" name="Picture 4" descr="Extinct warbler's genome sequenced from museum specimens | Penn State  University">
            <a:extLst>
              <a:ext uri="{FF2B5EF4-FFF2-40B4-BE49-F238E27FC236}">
                <a16:creationId xmlns:a16="http://schemas.microsoft.com/office/drawing/2014/main" id="{E2D543F3-AB9B-6C01-D787-7DD2FB4F099F}"/>
              </a:ext>
            </a:extLst>
          </p:cNvPr>
          <p:cNvPicPr>
            <a:picLocks noChangeAspect="1"/>
          </p:cNvPicPr>
          <p:nvPr/>
        </p:nvPicPr>
        <p:blipFill>
          <a:blip r:embed="rId3"/>
          <a:srcRect b="17144"/>
          <a:stretch>
            <a:fillRect/>
          </a:stretch>
        </p:blipFill>
        <p:spPr>
          <a:xfrm>
            <a:off x="6626944" y="1408469"/>
            <a:ext cx="4522839" cy="2810575"/>
          </a:xfrm>
          <a:prstGeom prst="rect">
            <a:avLst/>
          </a:prstGeom>
        </p:spPr>
      </p:pic>
      <p:grpSp>
        <p:nvGrpSpPr>
          <p:cNvPr id="3" name="Group 2">
            <a:extLst>
              <a:ext uri="{FF2B5EF4-FFF2-40B4-BE49-F238E27FC236}">
                <a16:creationId xmlns:a16="http://schemas.microsoft.com/office/drawing/2014/main" id="{BA1EE584-1850-2D91-2AB8-24B6AA3BDBAE}"/>
              </a:ext>
            </a:extLst>
          </p:cNvPr>
          <p:cNvGrpSpPr/>
          <p:nvPr/>
        </p:nvGrpSpPr>
        <p:grpSpPr>
          <a:xfrm>
            <a:off x="5372100" y="4506443"/>
            <a:ext cx="6239201" cy="1997230"/>
            <a:chOff x="5372100" y="4506443"/>
            <a:chExt cx="6239201" cy="1997230"/>
          </a:xfrm>
        </p:grpSpPr>
        <p:cxnSp>
          <p:nvCxnSpPr>
            <p:cNvPr id="20" name="Straight Connector 19">
              <a:extLst>
                <a:ext uri="{FF2B5EF4-FFF2-40B4-BE49-F238E27FC236}">
                  <a16:creationId xmlns:a16="http://schemas.microsoft.com/office/drawing/2014/main" id="{ABFD6F45-2B44-1398-C634-B99683705B2B}"/>
                </a:ext>
              </a:extLst>
            </p:cNvPr>
            <p:cNvCxnSpPr/>
            <p:nvPr/>
          </p:nvCxnSpPr>
          <p:spPr>
            <a:xfrm>
              <a:off x="6626944" y="5561622"/>
              <a:ext cx="4925211"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Star: 5 Points 23">
              <a:extLst>
                <a:ext uri="{FF2B5EF4-FFF2-40B4-BE49-F238E27FC236}">
                  <a16:creationId xmlns:a16="http://schemas.microsoft.com/office/drawing/2014/main" id="{4E480CD5-66C1-5BEF-246F-28ED4F9C9CB1}"/>
                </a:ext>
              </a:extLst>
            </p:cNvPr>
            <p:cNvSpPr/>
            <p:nvPr/>
          </p:nvSpPr>
          <p:spPr>
            <a:xfrm>
              <a:off x="9272626" y="5346091"/>
              <a:ext cx="366688" cy="348742"/>
            </a:xfrm>
            <a:prstGeom prst="star5">
              <a:avLst/>
            </a:prstGeom>
            <a:solidFill>
              <a:schemeClr val="accent5">
                <a:lumMod val="60000"/>
                <a:lumOff val="4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Star: 5 Points 26">
              <a:extLst>
                <a:ext uri="{FF2B5EF4-FFF2-40B4-BE49-F238E27FC236}">
                  <a16:creationId xmlns:a16="http://schemas.microsoft.com/office/drawing/2014/main" id="{19F0ED8D-6B0F-2F6A-5655-B9207137558B}"/>
                </a:ext>
              </a:extLst>
            </p:cNvPr>
            <p:cNvSpPr/>
            <p:nvPr/>
          </p:nvSpPr>
          <p:spPr>
            <a:xfrm>
              <a:off x="7236126" y="5344920"/>
              <a:ext cx="366688" cy="348742"/>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Star: 5 Points 27">
              <a:extLst>
                <a:ext uri="{FF2B5EF4-FFF2-40B4-BE49-F238E27FC236}">
                  <a16:creationId xmlns:a16="http://schemas.microsoft.com/office/drawing/2014/main" id="{71503547-4614-6FE7-C6B1-FF624CACC85D}"/>
                </a:ext>
              </a:extLst>
            </p:cNvPr>
            <p:cNvSpPr/>
            <p:nvPr/>
          </p:nvSpPr>
          <p:spPr>
            <a:xfrm>
              <a:off x="11126321" y="5344920"/>
              <a:ext cx="366688" cy="348742"/>
            </a:xfrm>
            <a:prstGeom prst="star5">
              <a:avLst>
                <a:gd name="adj" fmla="val 19098"/>
                <a:gd name="hf" fmla="val 105146"/>
                <a:gd name="vf" fmla="val 110557"/>
              </a:avLst>
            </a:prstGeom>
            <a:solidFill>
              <a:srgbClr val="00206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Lightning Bolt 35">
              <a:extLst>
                <a:ext uri="{FF2B5EF4-FFF2-40B4-BE49-F238E27FC236}">
                  <a16:creationId xmlns:a16="http://schemas.microsoft.com/office/drawing/2014/main" id="{FEA093DA-CE2D-3D69-C3CE-EF130B3AD6E7}"/>
                </a:ext>
              </a:extLst>
            </p:cNvPr>
            <p:cNvSpPr/>
            <p:nvPr/>
          </p:nvSpPr>
          <p:spPr>
            <a:xfrm rot="1786964">
              <a:off x="7422590" y="5319671"/>
              <a:ext cx="419596" cy="435752"/>
            </a:xfrm>
            <a:prstGeom prst="lightningBol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Lightning Bolt 43">
              <a:extLst>
                <a:ext uri="{FF2B5EF4-FFF2-40B4-BE49-F238E27FC236}">
                  <a16:creationId xmlns:a16="http://schemas.microsoft.com/office/drawing/2014/main" id="{5DD65777-A8D7-1DD9-DF01-F6D99ACDC212}"/>
                </a:ext>
              </a:extLst>
            </p:cNvPr>
            <p:cNvSpPr/>
            <p:nvPr/>
          </p:nvSpPr>
          <p:spPr>
            <a:xfrm rot="1786964">
              <a:off x="8899135" y="5343745"/>
              <a:ext cx="419596" cy="435752"/>
            </a:xfrm>
            <a:prstGeom prst="lightningBol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Lightning Bolt 45">
              <a:extLst>
                <a:ext uri="{FF2B5EF4-FFF2-40B4-BE49-F238E27FC236}">
                  <a16:creationId xmlns:a16="http://schemas.microsoft.com/office/drawing/2014/main" id="{F96D84DD-ABC2-F85E-03A3-A98DEB8B2556}"/>
                </a:ext>
              </a:extLst>
            </p:cNvPr>
            <p:cNvSpPr/>
            <p:nvPr/>
          </p:nvSpPr>
          <p:spPr>
            <a:xfrm rot="1786964">
              <a:off x="10732166" y="5324406"/>
              <a:ext cx="419596" cy="435752"/>
            </a:xfrm>
            <a:prstGeom prst="lightningBol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Connector 46">
              <a:extLst>
                <a:ext uri="{FF2B5EF4-FFF2-40B4-BE49-F238E27FC236}">
                  <a16:creationId xmlns:a16="http://schemas.microsoft.com/office/drawing/2014/main" id="{2FF96DFF-5383-73F5-90DC-E99C1EA38796}"/>
                </a:ext>
              </a:extLst>
            </p:cNvPr>
            <p:cNvCxnSpPr/>
            <p:nvPr/>
          </p:nvCxnSpPr>
          <p:spPr>
            <a:xfrm>
              <a:off x="6686090" y="6305137"/>
              <a:ext cx="4925211"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48" name="Star: 5 Points 47">
              <a:extLst>
                <a:ext uri="{FF2B5EF4-FFF2-40B4-BE49-F238E27FC236}">
                  <a16:creationId xmlns:a16="http://schemas.microsoft.com/office/drawing/2014/main" id="{3675A37C-563B-4ADC-560C-E5870B0862B1}"/>
                </a:ext>
              </a:extLst>
            </p:cNvPr>
            <p:cNvSpPr/>
            <p:nvPr/>
          </p:nvSpPr>
          <p:spPr>
            <a:xfrm>
              <a:off x="9331772" y="6089606"/>
              <a:ext cx="366688" cy="348742"/>
            </a:xfrm>
            <a:prstGeom prst="star5">
              <a:avLst/>
            </a:prstGeom>
            <a:solidFill>
              <a:schemeClr val="accent5">
                <a:lumMod val="75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Star: 5 Points 48">
              <a:extLst>
                <a:ext uri="{FF2B5EF4-FFF2-40B4-BE49-F238E27FC236}">
                  <a16:creationId xmlns:a16="http://schemas.microsoft.com/office/drawing/2014/main" id="{04AE83CE-739C-ED9F-0777-DAB62F9A1AAE}"/>
                </a:ext>
              </a:extLst>
            </p:cNvPr>
            <p:cNvSpPr/>
            <p:nvPr/>
          </p:nvSpPr>
          <p:spPr>
            <a:xfrm>
              <a:off x="7295272" y="6088435"/>
              <a:ext cx="366688" cy="348742"/>
            </a:xfrm>
            <a:prstGeom prst="star5">
              <a:avLst/>
            </a:prstGeom>
            <a:solidFill>
              <a:schemeClr val="accent2">
                <a:lumMod val="60000"/>
                <a:lumOff val="4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Star: 5 Points 49">
              <a:extLst>
                <a:ext uri="{FF2B5EF4-FFF2-40B4-BE49-F238E27FC236}">
                  <a16:creationId xmlns:a16="http://schemas.microsoft.com/office/drawing/2014/main" id="{482AAB08-6E66-66D9-DDE5-6C8F8A7B2516}"/>
                </a:ext>
              </a:extLst>
            </p:cNvPr>
            <p:cNvSpPr/>
            <p:nvPr/>
          </p:nvSpPr>
          <p:spPr>
            <a:xfrm>
              <a:off x="11185467" y="6088435"/>
              <a:ext cx="366688" cy="348742"/>
            </a:xfrm>
            <a:prstGeom prst="star5">
              <a:avLst>
                <a:gd name="adj" fmla="val 19098"/>
                <a:gd name="hf" fmla="val 105146"/>
                <a:gd name="vf" fmla="val 110557"/>
              </a:avLst>
            </a:prstGeom>
            <a:solidFill>
              <a:schemeClr val="accent4"/>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Lightning Bolt 52">
              <a:extLst>
                <a:ext uri="{FF2B5EF4-FFF2-40B4-BE49-F238E27FC236}">
                  <a16:creationId xmlns:a16="http://schemas.microsoft.com/office/drawing/2014/main" id="{4BB5976B-F3D8-47D4-AD32-9DB0E92757EE}"/>
                </a:ext>
              </a:extLst>
            </p:cNvPr>
            <p:cNvSpPr/>
            <p:nvPr/>
          </p:nvSpPr>
          <p:spPr>
            <a:xfrm rot="1786964">
              <a:off x="10791312" y="6067921"/>
              <a:ext cx="419596" cy="435752"/>
            </a:xfrm>
            <a:prstGeom prst="lightningBol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842BC717-7517-9939-BAF5-7DCA3B2DCD30}"/>
                </a:ext>
              </a:extLst>
            </p:cNvPr>
            <p:cNvCxnSpPr/>
            <p:nvPr/>
          </p:nvCxnSpPr>
          <p:spPr>
            <a:xfrm>
              <a:off x="6655540" y="4748394"/>
              <a:ext cx="4925211"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55" name="Star: 5 Points 54">
              <a:extLst>
                <a:ext uri="{FF2B5EF4-FFF2-40B4-BE49-F238E27FC236}">
                  <a16:creationId xmlns:a16="http://schemas.microsoft.com/office/drawing/2014/main" id="{E9156C08-A417-560E-8FFA-04E87D69247F}"/>
                </a:ext>
              </a:extLst>
            </p:cNvPr>
            <p:cNvSpPr/>
            <p:nvPr/>
          </p:nvSpPr>
          <p:spPr>
            <a:xfrm>
              <a:off x="9301222" y="4532863"/>
              <a:ext cx="366688" cy="348742"/>
            </a:xfrm>
            <a:prstGeom prst="star5">
              <a:avLst/>
            </a:prstGeom>
            <a:solidFill>
              <a:srgbClr val="7030A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Star: 5 Points 55">
              <a:extLst>
                <a:ext uri="{FF2B5EF4-FFF2-40B4-BE49-F238E27FC236}">
                  <a16:creationId xmlns:a16="http://schemas.microsoft.com/office/drawing/2014/main" id="{79FB9E39-FF80-1A6D-00AE-F5C157EFA913}"/>
                </a:ext>
              </a:extLst>
            </p:cNvPr>
            <p:cNvSpPr/>
            <p:nvPr/>
          </p:nvSpPr>
          <p:spPr>
            <a:xfrm>
              <a:off x="7264722" y="4531692"/>
              <a:ext cx="366688" cy="348742"/>
            </a:xfrm>
            <a:prstGeom prst="star5">
              <a:avLst/>
            </a:prstGeom>
            <a:solidFill>
              <a:srgbClr val="FFFF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Star: 5 Points 56">
              <a:extLst>
                <a:ext uri="{FF2B5EF4-FFF2-40B4-BE49-F238E27FC236}">
                  <a16:creationId xmlns:a16="http://schemas.microsoft.com/office/drawing/2014/main" id="{2D78DB96-1DD0-8CB6-F863-00538E0B0772}"/>
                </a:ext>
              </a:extLst>
            </p:cNvPr>
            <p:cNvSpPr/>
            <p:nvPr/>
          </p:nvSpPr>
          <p:spPr>
            <a:xfrm>
              <a:off x="11154917" y="4531692"/>
              <a:ext cx="366688" cy="348742"/>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Lightning Bolt 57">
              <a:extLst>
                <a:ext uri="{FF2B5EF4-FFF2-40B4-BE49-F238E27FC236}">
                  <a16:creationId xmlns:a16="http://schemas.microsoft.com/office/drawing/2014/main" id="{7414D8B1-C13D-273A-8159-4163E7136C6E}"/>
                </a:ext>
              </a:extLst>
            </p:cNvPr>
            <p:cNvSpPr/>
            <p:nvPr/>
          </p:nvSpPr>
          <p:spPr>
            <a:xfrm rot="1786964">
              <a:off x="7451186" y="4506443"/>
              <a:ext cx="419596" cy="435752"/>
            </a:xfrm>
            <a:prstGeom prst="lightningBol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Lightning Bolt 59">
              <a:extLst>
                <a:ext uri="{FF2B5EF4-FFF2-40B4-BE49-F238E27FC236}">
                  <a16:creationId xmlns:a16="http://schemas.microsoft.com/office/drawing/2014/main" id="{041B378D-832E-A909-0D3B-2587E024E1D0}"/>
                </a:ext>
              </a:extLst>
            </p:cNvPr>
            <p:cNvSpPr/>
            <p:nvPr/>
          </p:nvSpPr>
          <p:spPr>
            <a:xfrm rot="1786964">
              <a:off x="10760762" y="4511178"/>
              <a:ext cx="419596" cy="435752"/>
            </a:xfrm>
            <a:prstGeom prst="lightningBol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9604CCEA-25D5-7394-781B-AE30B68BBD57}"/>
                </a:ext>
              </a:extLst>
            </p:cNvPr>
            <p:cNvCxnSpPr/>
            <p:nvPr/>
          </p:nvCxnSpPr>
          <p:spPr>
            <a:xfrm flipH="1">
              <a:off x="5372100" y="4748394"/>
              <a:ext cx="1028700" cy="945268"/>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8F699A66-347C-4860-78F4-31D85B7909CA}"/>
                </a:ext>
              </a:extLst>
            </p:cNvPr>
            <p:cNvCxnSpPr>
              <a:cxnSpLocks/>
            </p:cNvCxnSpPr>
            <p:nvPr/>
          </p:nvCxnSpPr>
          <p:spPr>
            <a:xfrm flipH="1" flipV="1">
              <a:off x="5372100" y="5693662"/>
              <a:ext cx="1130300" cy="611475"/>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54FCAE3-6808-A176-73BD-E75E06FBBFC8}"/>
                </a:ext>
              </a:extLst>
            </p:cNvPr>
            <p:cNvCxnSpPr>
              <a:cxnSpLocks/>
            </p:cNvCxnSpPr>
            <p:nvPr/>
          </p:nvCxnSpPr>
          <p:spPr>
            <a:xfrm flipH="1">
              <a:off x="5994400" y="5587022"/>
              <a:ext cx="495300" cy="430867"/>
            </a:xfrm>
            <a:prstGeom prst="line">
              <a:avLst/>
            </a:prstGeom>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812641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ABB0E-D3D8-6598-14E5-9283294705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3B03C1-1A85-7F0D-19C6-B6904209BB26}"/>
              </a:ext>
            </a:extLst>
          </p:cNvPr>
          <p:cNvSpPr>
            <a:spLocks noGrp="1"/>
          </p:cNvSpPr>
          <p:nvPr>
            <p:ph type="title"/>
          </p:nvPr>
        </p:nvSpPr>
        <p:spPr>
          <a:xfrm>
            <a:off x="798870" y="304625"/>
            <a:ext cx="10999839" cy="1325563"/>
          </a:xfrm>
        </p:spPr>
        <p:txBody>
          <a:bodyPr/>
          <a:lstStyle/>
          <a:p>
            <a:r>
              <a:rPr lang="en-US" dirty="0" err="1">
                <a:latin typeface="Aharoni" panose="02010803020104030203" pitchFamily="2" charset="-79"/>
                <a:cs typeface="Aharoni" panose="02010803020104030203" pitchFamily="2" charset="-79"/>
              </a:rPr>
              <a:t>RADSeq</a:t>
            </a:r>
            <a:r>
              <a:rPr lang="en-US" dirty="0">
                <a:latin typeface="Aharoni" panose="02010803020104030203" pitchFamily="2" charset="-79"/>
                <a:cs typeface="Aharoni" panose="02010803020104030203" pitchFamily="2" charset="-79"/>
              </a:rPr>
              <a:t> analysis has two paths, both similar to other technologies</a:t>
            </a:r>
          </a:p>
        </p:txBody>
      </p:sp>
      <p:sp>
        <p:nvSpPr>
          <p:cNvPr id="9" name="TextBox 8">
            <a:extLst>
              <a:ext uri="{FF2B5EF4-FFF2-40B4-BE49-F238E27FC236}">
                <a16:creationId xmlns:a16="http://schemas.microsoft.com/office/drawing/2014/main" id="{E9985F89-2B50-E6CE-4B0E-5484AE52A1C1}"/>
              </a:ext>
            </a:extLst>
          </p:cNvPr>
          <p:cNvSpPr txBox="1"/>
          <p:nvPr/>
        </p:nvSpPr>
        <p:spPr>
          <a:xfrm>
            <a:off x="218767" y="1710813"/>
            <a:ext cx="3045129" cy="646331"/>
          </a:xfrm>
          <a:prstGeom prst="rect">
            <a:avLst/>
          </a:prstGeom>
          <a:noFill/>
        </p:spPr>
        <p:txBody>
          <a:bodyPr wrap="none" rtlCol="0">
            <a:spAutoFit/>
          </a:bodyPr>
          <a:lstStyle/>
          <a:p>
            <a:r>
              <a:rPr lang="en-US" dirty="0">
                <a:latin typeface="Abadi" panose="020B0604020104020204" pitchFamily="34" charset="0"/>
              </a:rPr>
              <a:t>Clean and demultiplex reads </a:t>
            </a:r>
          </a:p>
          <a:p>
            <a:r>
              <a:rPr lang="en-US" dirty="0">
                <a:latin typeface="Abadi" panose="020B0604020104020204" pitchFamily="34" charset="0"/>
              </a:rPr>
              <a:t>(find ones with cut sites)</a:t>
            </a:r>
          </a:p>
        </p:txBody>
      </p:sp>
      <p:grpSp>
        <p:nvGrpSpPr>
          <p:cNvPr id="3" name="Group 2">
            <a:extLst>
              <a:ext uri="{FF2B5EF4-FFF2-40B4-BE49-F238E27FC236}">
                <a16:creationId xmlns:a16="http://schemas.microsoft.com/office/drawing/2014/main" id="{AF36C542-B6B5-1904-50C9-B804E4F200CC}"/>
              </a:ext>
            </a:extLst>
          </p:cNvPr>
          <p:cNvGrpSpPr/>
          <p:nvPr/>
        </p:nvGrpSpPr>
        <p:grpSpPr>
          <a:xfrm>
            <a:off x="372427" y="2393637"/>
            <a:ext cx="2407158" cy="1280276"/>
            <a:chOff x="372427" y="2393637"/>
            <a:chExt cx="2407158" cy="1280276"/>
          </a:xfrm>
        </p:grpSpPr>
        <p:cxnSp>
          <p:nvCxnSpPr>
            <p:cNvPr id="123" name="Straight Connector 122">
              <a:extLst>
                <a:ext uri="{FF2B5EF4-FFF2-40B4-BE49-F238E27FC236}">
                  <a16:creationId xmlns:a16="http://schemas.microsoft.com/office/drawing/2014/main" id="{BD5C9F89-D5C8-7248-F184-405E3BE3DC86}"/>
                </a:ext>
              </a:extLst>
            </p:cNvPr>
            <p:cNvCxnSpPr/>
            <p:nvPr/>
          </p:nvCxnSpPr>
          <p:spPr>
            <a:xfrm>
              <a:off x="1094260" y="2650578"/>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24" name="Straight Connector 123">
              <a:extLst>
                <a:ext uri="{FF2B5EF4-FFF2-40B4-BE49-F238E27FC236}">
                  <a16:creationId xmlns:a16="http://schemas.microsoft.com/office/drawing/2014/main" id="{51D4E8A1-3DB9-CB49-4647-9B6910827DBC}"/>
                </a:ext>
              </a:extLst>
            </p:cNvPr>
            <p:cNvCxnSpPr/>
            <p:nvPr/>
          </p:nvCxnSpPr>
          <p:spPr>
            <a:xfrm>
              <a:off x="1298927" y="2855245"/>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19F9736E-ABB6-57A1-516D-438734F8A78D}"/>
                </a:ext>
              </a:extLst>
            </p:cNvPr>
            <p:cNvCxnSpPr/>
            <p:nvPr/>
          </p:nvCxnSpPr>
          <p:spPr>
            <a:xfrm>
              <a:off x="1503594" y="3059912"/>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D010A225-E794-E1BA-2F8E-B26E31753C46}"/>
                </a:ext>
              </a:extLst>
            </p:cNvPr>
            <p:cNvCxnSpPr/>
            <p:nvPr/>
          </p:nvCxnSpPr>
          <p:spPr>
            <a:xfrm>
              <a:off x="2165584" y="3416972"/>
              <a:ext cx="356517" cy="0"/>
            </a:xfrm>
            <a:prstGeom prst="line">
              <a:avLst/>
            </a:prstGeom>
            <a:ln w="7620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27" name="Straight Connector 126">
              <a:extLst>
                <a:ext uri="{FF2B5EF4-FFF2-40B4-BE49-F238E27FC236}">
                  <a16:creationId xmlns:a16="http://schemas.microsoft.com/office/drawing/2014/main" id="{D0515C31-535D-651F-D2E3-AC6C673E3F4C}"/>
                </a:ext>
              </a:extLst>
            </p:cNvPr>
            <p:cNvCxnSpPr/>
            <p:nvPr/>
          </p:nvCxnSpPr>
          <p:spPr>
            <a:xfrm>
              <a:off x="2370251" y="3621639"/>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28" name="Straight Connector 127">
              <a:extLst>
                <a:ext uri="{FF2B5EF4-FFF2-40B4-BE49-F238E27FC236}">
                  <a16:creationId xmlns:a16="http://schemas.microsoft.com/office/drawing/2014/main" id="{9D6CEB96-21AB-5E47-90B0-87242E446F03}"/>
                </a:ext>
              </a:extLst>
            </p:cNvPr>
            <p:cNvCxnSpPr/>
            <p:nvPr/>
          </p:nvCxnSpPr>
          <p:spPr>
            <a:xfrm>
              <a:off x="2013734" y="2393637"/>
              <a:ext cx="356517" cy="0"/>
            </a:xfrm>
            <a:prstGeom prst="line">
              <a:avLst/>
            </a:prstGeom>
            <a:ln w="7620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29" name="Straight Connector 128">
              <a:extLst>
                <a:ext uri="{FF2B5EF4-FFF2-40B4-BE49-F238E27FC236}">
                  <a16:creationId xmlns:a16="http://schemas.microsoft.com/office/drawing/2014/main" id="{CE3B5FBA-9503-27C4-3825-D49244436A8C}"/>
                </a:ext>
              </a:extLst>
            </p:cNvPr>
            <p:cNvCxnSpPr/>
            <p:nvPr/>
          </p:nvCxnSpPr>
          <p:spPr>
            <a:xfrm>
              <a:off x="2218401" y="2598304"/>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30" name="Straight Connector 129">
              <a:extLst>
                <a:ext uri="{FF2B5EF4-FFF2-40B4-BE49-F238E27FC236}">
                  <a16:creationId xmlns:a16="http://schemas.microsoft.com/office/drawing/2014/main" id="{63E55278-8F6D-E631-DB89-31A6221D4AAF}"/>
                </a:ext>
              </a:extLst>
            </p:cNvPr>
            <p:cNvCxnSpPr/>
            <p:nvPr/>
          </p:nvCxnSpPr>
          <p:spPr>
            <a:xfrm>
              <a:off x="2423068" y="2802971"/>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67E990DA-A38D-A49B-47FA-056FA3C7EA68}"/>
                </a:ext>
              </a:extLst>
            </p:cNvPr>
            <p:cNvCxnSpPr/>
            <p:nvPr/>
          </p:nvCxnSpPr>
          <p:spPr>
            <a:xfrm>
              <a:off x="425244" y="2848485"/>
              <a:ext cx="356517" cy="0"/>
            </a:xfrm>
            <a:prstGeom prst="line">
              <a:avLst/>
            </a:prstGeom>
            <a:ln w="7620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F23D0E73-8C80-FB3A-7F67-37CA4767985C}"/>
                </a:ext>
              </a:extLst>
            </p:cNvPr>
            <p:cNvCxnSpPr/>
            <p:nvPr/>
          </p:nvCxnSpPr>
          <p:spPr>
            <a:xfrm>
              <a:off x="1180089" y="3673913"/>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7CCE07A9-C6C7-1BD7-CAB4-57BD57C4201A}"/>
                </a:ext>
              </a:extLst>
            </p:cNvPr>
            <p:cNvCxnSpPr/>
            <p:nvPr/>
          </p:nvCxnSpPr>
          <p:spPr>
            <a:xfrm>
              <a:off x="1503594" y="3469246"/>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6F95554E-78A5-D277-F295-6FDC2A8F798A}"/>
                </a:ext>
              </a:extLst>
            </p:cNvPr>
            <p:cNvCxnSpPr/>
            <p:nvPr/>
          </p:nvCxnSpPr>
          <p:spPr>
            <a:xfrm>
              <a:off x="1556411" y="2650578"/>
              <a:ext cx="356517" cy="0"/>
            </a:xfrm>
            <a:prstGeom prst="line">
              <a:avLst/>
            </a:prstGeom>
            <a:ln w="7620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35" name="Straight Connector 134">
              <a:extLst>
                <a:ext uri="{FF2B5EF4-FFF2-40B4-BE49-F238E27FC236}">
                  <a16:creationId xmlns:a16="http://schemas.microsoft.com/office/drawing/2014/main" id="{C67AB0F3-E2D4-92B2-D268-A3792D88C295}"/>
                </a:ext>
              </a:extLst>
            </p:cNvPr>
            <p:cNvCxnSpPr/>
            <p:nvPr/>
          </p:nvCxnSpPr>
          <p:spPr>
            <a:xfrm>
              <a:off x="425244" y="3054939"/>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89C49E54-CB90-5746-BB23-13500B909909}"/>
                </a:ext>
              </a:extLst>
            </p:cNvPr>
            <p:cNvCxnSpPr/>
            <p:nvPr/>
          </p:nvCxnSpPr>
          <p:spPr>
            <a:xfrm>
              <a:off x="2013734" y="2802971"/>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37" name="Straight Connector 136">
              <a:extLst>
                <a:ext uri="{FF2B5EF4-FFF2-40B4-BE49-F238E27FC236}">
                  <a16:creationId xmlns:a16="http://schemas.microsoft.com/office/drawing/2014/main" id="{3416EB45-D856-EC9D-276A-5FF19347E767}"/>
                </a:ext>
              </a:extLst>
            </p:cNvPr>
            <p:cNvCxnSpPr/>
            <p:nvPr/>
          </p:nvCxnSpPr>
          <p:spPr>
            <a:xfrm>
              <a:off x="2218401" y="3007638"/>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38" name="Straight Connector 137">
              <a:extLst>
                <a:ext uri="{FF2B5EF4-FFF2-40B4-BE49-F238E27FC236}">
                  <a16:creationId xmlns:a16="http://schemas.microsoft.com/office/drawing/2014/main" id="{58DE379F-02D8-33E3-26FC-5E4CAE4E93FF}"/>
                </a:ext>
              </a:extLst>
            </p:cNvPr>
            <p:cNvCxnSpPr/>
            <p:nvPr/>
          </p:nvCxnSpPr>
          <p:spPr>
            <a:xfrm>
              <a:off x="2013734" y="3212305"/>
              <a:ext cx="356517" cy="0"/>
            </a:xfrm>
            <a:prstGeom prst="line">
              <a:avLst/>
            </a:prstGeom>
            <a:ln w="7620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39" name="Straight Connector 138">
              <a:extLst>
                <a:ext uri="{FF2B5EF4-FFF2-40B4-BE49-F238E27FC236}">
                  <a16:creationId xmlns:a16="http://schemas.microsoft.com/office/drawing/2014/main" id="{EE9480BD-F6AC-C93B-C68B-F024AAD77B76}"/>
                </a:ext>
              </a:extLst>
            </p:cNvPr>
            <p:cNvCxnSpPr/>
            <p:nvPr/>
          </p:nvCxnSpPr>
          <p:spPr>
            <a:xfrm>
              <a:off x="676128" y="3490683"/>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40" name="Straight Connector 139">
              <a:extLst>
                <a:ext uri="{FF2B5EF4-FFF2-40B4-BE49-F238E27FC236}">
                  <a16:creationId xmlns:a16="http://schemas.microsoft.com/office/drawing/2014/main" id="{511AB613-8273-9E94-F345-FAFD91BDCC9D}"/>
                </a:ext>
              </a:extLst>
            </p:cNvPr>
            <p:cNvCxnSpPr/>
            <p:nvPr/>
          </p:nvCxnSpPr>
          <p:spPr>
            <a:xfrm>
              <a:off x="781761" y="3287803"/>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41" name="Straight Connector 140">
              <a:extLst>
                <a:ext uri="{FF2B5EF4-FFF2-40B4-BE49-F238E27FC236}">
                  <a16:creationId xmlns:a16="http://schemas.microsoft.com/office/drawing/2014/main" id="{90207068-BEF9-067B-AEDC-6A638A9654FB}"/>
                </a:ext>
              </a:extLst>
            </p:cNvPr>
            <p:cNvCxnSpPr/>
            <p:nvPr/>
          </p:nvCxnSpPr>
          <p:spPr>
            <a:xfrm>
              <a:off x="372427" y="3287803"/>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42" name="Straight Connector 141">
              <a:extLst>
                <a:ext uri="{FF2B5EF4-FFF2-40B4-BE49-F238E27FC236}">
                  <a16:creationId xmlns:a16="http://schemas.microsoft.com/office/drawing/2014/main" id="{75025FA0-269C-191E-7D5B-7C1A97709228}"/>
                </a:ext>
              </a:extLst>
            </p:cNvPr>
            <p:cNvCxnSpPr/>
            <p:nvPr/>
          </p:nvCxnSpPr>
          <p:spPr>
            <a:xfrm>
              <a:off x="968818" y="3059912"/>
              <a:ext cx="356517" cy="0"/>
            </a:xfrm>
            <a:prstGeom prst="line">
              <a:avLst/>
            </a:prstGeom>
            <a:ln w="76200">
              <a:solidFill>
                <a:schemeClr val="accent4"/>
              </a:solidFill>
            </a:ln>
          </p:spPr>
          <p:style>
            <a:lnRef idx="2">
              <a:schemeClr val="accent1"/>
            </a:lnRef>
            <a:fillRef idx="0">
              <a:schemeClr val="accent1"/>
            </a:fillRef>
            <a:effectRef idx="1">
              <a:schemeClr val="accent1"/>
            </a:effectRef>
            <a:fontRef idx="minor">
              <a:schemeClr val="tx1"/>
            </a:fontRef>
          </p:style>
        </p:cxnSp>
      </p:grpSp>
      <p:sp>
        <p:nvSpPr>
          <p:cNvPr id="150" name="TextBox 149">
            <a:extLst>
              <a:ext uri="{FF2B5EF4-FFF2-40B4-BE49-F238E27FC236}">
                <a16:creationId xmlns:a16="http://schemas.microsoft.com/office/drawing/2014/main" id="{1A8AF33B-1F88-B3D2-D571-D00246BC1841}"/>
              </a:ext>
            </a:extLst>
          </p:cNvPr>
          <p:cNvSpPr txBox="1"/>
          <p:nvPr/>
        </p:nvSpPr>
        <p:spPr>
          <a:xfrm>
            <a:off x="6705900" y="1727252"/>
            <a:ext cx="3601242" cy="369332"/>
          </a:xfrm>
          <a:prstGeom prst="rect">
            <a:avLst/>
          </a:prstGeom>
          <a:noFill/>
        </p:spPr>
        <p:txBody>
          <a:bodyPr wrap="none" rtlCol="0">
            <a:spAutoFit/>
          </a:bodyPr>
          <a:lstStyle/>
          <a:p>
            <a:r>
              <a:rPr lang="en-US" dirty="0">
                <a:latin typeface="Abadi" panose="020B0604020104020204" pitchFamily="34" charset="0"/>
              </a:rPr>
              <a:t>Determine variants across samples</a:t>
            </a:r>
          </a:p>
        </p:txBody>
      </p:sp>
      <p:grpSp>
        <p:nvGrpSpPr>
          <p:cNvPr id="4" name="Group 3">
            <a:extLst>
              <a:ext uri="{FF2B5EF4-FFF2-40B4-BE49-F238E27FC236}">
                <a16:creationId xmlns:a16="http://schemas.microsoft.com/office/drawing/2014/main" id="{81A0765E-345A-C93E-2B6E-93B6C3714693}"/>
              </a:ext>
            </a:extLst>
          </p:cNvPr>
          <p:cNvGrpSpPr/>
          <p:nvPr/>
        </p:nvGrpSpPr>
        <p:grpSpPr>
          <a:xfrm>
            <a:off x="3432382" y="2182759"/>
            <a:ext cx="3038856" cy="1729146"/>
            <a:chOff x="3432382" y="2182759"/>
            <a:chExt cx="3038856" cy="1729146"/>
          </a:xfrm>
        </p:grpSpPr>
        <p:cxnSp>
          <p:nvCxnSpPr>
            <p:cNvPr id="151" name="Straight Connector 150">
              <a:extLst>
                <a:ext uri="{FF2B5EF4-FFF2-40B4-BE49-F238E27FC236}">
                  <a16:creationId xmlns:a16="http://schemas.microsoft.com/office/drawing/2014/main" id="{BC485C5F-F628-191C-0259-29C56A1D6002}"/>
                </a:ext>
              </a:extLst>
            </p:cNvPr>
            <p:cNvCxnSpPr>
              <a:cxnSpLocks/>
            </p:cNvCxnSpPr>
            <p:nvPr/>
          </p:nvCxnSpPr>
          <p:spPr>
            <a:xfrm>
              <a:off x="3432382" y="3778694"/>
              <a:ext cx="3038856"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8F3649DA-12B1-1898-0567-3D4C7F5B85D8}"/>
                </a:ext>
              </a:extLst>
            </p:cNvPr>
            <p:cNvCxnSpPr>
              <a:cxnSpLocks/>
            </p:cNvCxnSpPr>
            <p:nvPr/>
          </p:nvCxnSpPr>
          <p:spPr>
            <a:xfrm>
              <a:off x="3701597" y="2397258"/>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53" name="Straight Connector 152">
              <a:extLst>
                <a:ext uri="{FF2B5EF4-FFF2-40B4-BE49-F238E27FC236}">
                  <a16:creationId xmlns:a16="http://schemas.microsoft.com/office/drawing/2014/main" id="{A0520067-2CA6-4E12-F9C5-382577EDAE3F}"/>
                </a:ext>
              </a:extLst>
            </p:cNvPr>
            <p:cNvCxnSpPr>
              <a:cxnSpLocks/>
            </p:cNvCxnSpPr>
            <p:nvPr/>
          </p:nvCxnSpPr>
          <p:spPr>
            <a:xfrm>
              <a:off x="3701597" y="2592093"/>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54" name="Straight Connector 153">
              <a:extLst>
                <a:ext uri="{FF2B5EF4-FFF2-40B4-BE49-F238E27FC236}">
                  <a16:creationId xmlns:a16="http://schemas.microsoft.com/office/drawing/2014/main" id="{BFCED260-4145-747C-70B2-E1BE166D6351}"/>
                </a:ext>
              </a:extLst>
            </p:cNvPr>
            <p:cNvCxnSpPr>
              <a:cxnSpLocks/>
            </p:cNvCxnSpPr>
            <p:nvPr/>
          </p:nvCxnSpPr>
          <p:spPr>
            <a:xfrm>
              <a:off x="3701597" y="2727936"/>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55" name="Straight Connector 154">
              <a:extLst>
                <a:ext uri="{FF2B5EF4-FFF2-40B4-BE49-F238E27FC236}">
                  <a16:creationId xmlns:a16="http://schemas.microsoft.com/office/drawing/2014/main" id="{470A037A-A113-4E5D-BE9A-DFBD6CF628C8}"/>
                </a:ext>
              </a:extLst>
            </p:cNvPr>
            <p:cNvCxnSpPr>
              <a:cxnSpLocks/>
            </p:cNvCxnSpPr>
            <p:nvPr/>
          </p:nvCxnSpPr>
          <p:spPr>
            <a:xfrm>
              <a:off x="4951575" y="3206094"/>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56" name="Straight Connector 155">
              <a:extLst>
                <a:ext uri="{FF2B5EF4-FFF2-40B4-BE49-F238E27FC236}">
                  <a16:creationId xmlns:a16="http://schemas.microsoft.com/office/drawing/2014/main" id="{8E73D943-8D9F-29AA-EE73-4C355C9601AE}"/>
                </a:ext>
              </a:extLst>
            </p:cNvPr>
            <p:cNvCxnSpPr>
              <a:cxnSpLocks/>
            </p:cNvCxnSpPr>
            <p:nvPr/>
          </p:nvCxnSpPr>
          <p:spPr>
            <a:xfrm>
              <a:off x="4951575" y="3410761"/>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57" name="Straight Connector 156">
              <a:extLst>
                <a:ext uri="{FF2B5EF4-FFF2-40B4-BE49-F238E27FC236}">
                  <a16:creationId xmlns:a16="http://schemas.microsoft.com/office/drawing/2014/main" id="{6730327C-C0B7-7D4A-73BF-34288A9FC924}"/>
                </a:ext>
              </a:extLst>
            </p:cNvPr>
            <p:cNvCxnSpPr>
              <a:cxnSpLocks/>
            </p:cNvCxnSpPr>
            <p:nvPr/>
          </p:nvCxnSpPr>
          <p:spPr>
            <a:xfrm>
              <a:off x="4951575" y="2182759"/>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58" name="Straight Connector 157">
              <a:extLst>
                <a:ext uri="{FF2B5EF4-FFF2-40B4-BE49-F238E27FC236}">
                  <a16:creationId xmlns:a16="http://schemas.microsoft.com/office/drawing/2014/main" id="{40BA3BDD-102F-9531-F3DA-4A1561D86CED}"/>
                </a:ext>
              </a:extLst>
            </p:cNvPr>
            <p:cNvCxnSpPr>
              <a:cxnSpLocks/>
            </p:cNvCxnSpPr>
            <p:nvPr/>
          </p:nvCxnSpPr>
          <p:spPr>
            <a:xfrm>
              <a:off x="4951575" y="2387426"/>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59" name="Straight Connector 158">
              <a:extLst>
                <a:ext uri="{FF2B5EF4-FFF2-40B4-BE49-F238E27FC236}">
                  <a16:creationId xmlns:a16="http://schemas.microsoft.com/office/drawing/2014/main" id="{D6C05649-1DED-A006-E73B-6DC7C29666F2}"/>
                </a:ext>
              </a:extLst>
            </p:cNvPr>
            <p:cNvCxnSpPr>
              <a:cxnSpLocks/>
            </p:cNvCxnSpPr>
            <p:nvPr/>
          </p:nvCxnSpPr>
          <p:spPr>
            <a:xfrm>
              <a:off x="4951575" y="2592093"/>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60" name="Straight Connector 159">
              <a:extLst>
                <a:ext uri="{FF2B5EF4-FFF2-40B4-BE49-F238E27FC236}">
                  <a16:creationId xmlns:a16="http://schemas.microsoft.com/office/drawing/2014/main" id="{4E25971C-4C0E-DC60-C7A8-215335875929}"/>
                </a:ext>
              </a:extLst>
            </p:cNvPr>
            <p:cNvCxnSpPr>
              <a:cxnSpLocks/>
            </p:cNvCxnSpPr>
            <p:nvPr/>
          </p:nvCxnSpPr>
          <p:spPr>
            <a:xfrm>
              <a:off x="5987269" y="2562082"/>
              <a:ext cx="356517" cy="0"/>
            </a:xfrm>
            <a:prstGeom prst="line">
              <a:avLst/>
            </a:prstGeom>
            <a:ln w="76200">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61" name="Straight Connector 160">
              <a:extLst>
                <a:ext uri="{FF2B5EF4-FFF2-40B4-BE49-F238E27FC236}">
                  <a16:creationId xmlns:a16="http://schemas.microsoft.com/office/drawing/2014/main" id="{E76C3B8C-A7E8-7212-BF36-7F351FFAD52C}"/>
                </a:ext>
              </a:extLst>
            </p:cNvPr>
            <p:cNvCxnSpPr>
              <a:cxnSpLocks/>
            </p:cNvCxnSpPr>
            <p:nvPr/>
          </p:nvCxnSpPr>
          <p:spPr>
            <a:xfrm>
              <a:off x="3701597" y="3410761"/>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62" name="Straight Connector 161">
              <a:extLst>
                <a:ext uri="{FF2B5EF4-FFF2-40B4-BE49-F238E27FC236}">
                  <a16:creationId xmlns:a16="http://schemas.microsoft.com/office/drawing/2014/main" id="{F54832DD-F810-25AF-C04A-CFCB87C408D5}"/>
                </a:ext>
              </a:extLst>
            </p:cNvPr>
            <p:cNvCxnSpPr>
              <a:cxnSpLocks/>
            </p:cNvCxnSpPr>
            <p:nvPr/>
          </p:nvCxnSpPr>
          <p:spPr>
            <a:xfrm>
              <a:off x="3701597" y="3206094"/>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63" name="Straight Connector 162">
              <a:extLst>
                <a:ext uri="{FF2B5EF4-FFF2-40B4-BE49-F238E27FC236}">
                  <a16:creationId xmlns:a16="http://schemas.microsoft.com/office/drawing/2014/main" id="{8A7D2D43-676C-5B0E-F3CC-E4AB0725460D}"/>
                </a:ext>
              </a:extLst>
            </p:cNvPr>
            <p:cNvCxnSpPr>
              <a:cxnSpLocks/>
            </p:cNvCxnSpPr>
            <p:nvPr/>
          </p:nvCxnSpPr>
          <p:spPr>
            <a:xfrm>
              <a:off x="3701597" y="2220277"/>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64" name="Straight Connector 163">
              <a:extLst>
                <a:ext uri="{FF2B5EF4-FFF2-40B4-BE49-F238E27FC236}">
                  <a16:creationId xmlns:a16="http://schemas.microsoft.com/office/drawing/2014/main" id="{0A6E8E2B-01CD-92A7-E6FA-AEA9EF2D0920}"/>
                </a:ext>
              </a:extLst>
            </p:cNvPr>
            <p:cNvCxnSpPr>
              <a:cxnSpLocks/>
            </p:cNvCxnSpPr>
            <p:nvPr/>
          </p:nvCxnSpPr>
          <p:spPr>
            <a:xfrm>
              <a:off x="5987269" y="2768536"/>
              <a:ext cx="356517" cy="0"/>
            </a:xfrm>
            <a:prstGeom prst="line">
              <a:avLst/>
            </a:prstGeom>
            <a:ln w="76200">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65" name="Straight Connector 164">
              <a:extLst>
                <a:ext uri="{FF2B5EF4-FFF2-40B4-BE49-F238E27FC236}">
                  <a16:creationId xmlns:a16="http://schemas.microsoft.com/office/drawing/2014/main" id="{D792A6BA-2923-F70A-4BE5-8D616B45684A}"/>
                </a:ext>
              </a:extLst>
            </p:cNvPr>
            <p:cNvCxnSpPr>
              <a:cxnSpLocks/>
            </p:cNvCxnSpPr>
            <p:nvPr/>
          </p:nvCxnSpPr>
          <p:spPr>
            <a:xfrm>
              <a:off x="4951575" y="2592093"/>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66" name="Straight Connector 165">
              <a:extLst>
                <a:ext uri="{FF2B5EF4-FFF2-40B4-BE49-F238E27FC236}">
                  <a16:creationId xmlns:a16="http://schemas.microsoft.com/office/drawing/2014/main" id="{6E2D0DA9-9977-8F9C-BD02-ECA94EB31220}"/>
                </a:ext>
              </a:extLst>
            </p:cNvPr>
            <p:cNvCxnSpPr>
              <a:cxnSpLocks/>
            </p:cNvCxnSpPr>
            <p:nvPr/>
          </p:nvCxnSpPr>
          <p:spPr>
            <a:xfrm>
              <a:off x="4951575" y="2796760"/>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67" name="Straight Connector 166">
              <a:extLst>
                <a:ext uri="{FF2B5EF4-FFF2-40B4-BE49-F238E27FC236}">
                  <a16:creationId xmlns:a16="http://schemas.microsoft.com/office/drawing/2014/main" id="{C235F638-3E63-0805-A9FC-2115CC4677C4}"/>
                </a:ext>
              </a:extLst>
            </p:cNvPr>
            <p:cNvCxnSpPr>
              <a:cxnSpLocks/>
            </p:cNvCxnSpPr>
            <p:nvPr/>
          </p:nvCxnSpPr>
          <p:spPr>
            <a:xfrm>
              <a:off x="4951575" y="3001427"/>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68" name="Straight Connector 167">
              <a:extLst>
                <a:ext uri="{FF2B5EF4-FFF2-40B4-BE49-F238E27FC236}">
                  <a16:creationId xmlns:a16="http://schemas.microsoft.com/office/drawing/2014/main" id="{1F1EF15F-BA99-07A4-D27E-51EFE4C59B45}"/>
                </a:ext>
              </a:extLst>
            </p:cNvPr>
            <p:cNvCxnSpPr>
              <a:cxnSpLocks/>
            </p:cNvCxnSpPr>
            <p:nvPr/>
          </p:nvCxnSpPr>
          <p:spPr>
            <a:xfrm>
              <a:off x="5987269" y="3346331"/>
              <a:ext cx="356517" cy="0"/>
            </a:xfrm>
            <a:prstGeom prst="line">
              <a:avLst/>
            </a:prstGeom>
            <a:ln w="76200">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69" name="Straight Connector 168">
              <a:extLst>
                <a:ext uri="{FF2B5EF4-FFF2-40B4-BE49-F238E27FC236}">
                  <a16:creationId xmlns:a16="http://schemas.microsoft.com/office/drawing/2014/main" id="{4355973B-EDE9-F1A5-F9EB-54E6BA20313B}"/>
                </a:ext>
              </a:extLst>
            </p:cNvPr>
            <p:cNvCxnSpPr>
              <a:cxnSpLocks/>
            </p:cNvCxnSpPr>
            <p:nvPr/>
          </p:nvCxnSpPr>
          <p:spPr>
            <a:xfrm>
              <a:off x="5987269" y="3155094"/>
              <a:ext cx="356517" cy="0"/>
            </a:xfrm>
            <a:prstGeom prst="line">
              <a:avLst/>
            </a:prstGeom>
            <a:ln w="76200">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70" name="Straight Connector 169">
              <a:extLst>
                <a:ext uri="{FF2B5EF4-FFF2-40B4-BE49-F238E27FC236}">
                  <a16:creationId xmlns:a16="http://schemas.microsoft.com/office/drawing/2014/main" id="{4062FBFF-E4F6-FA05-5C0A-5CAC6B0B524B}"/>
                </a:ext>
              </a:extLst>
            </p:cNvPr>
            <p:cNvCxnSpPr>
              <a:cxnSpLocks/>
            </p:cNvCxnSpPr>
            <p:nvPr/>
          </p:nvCxnSpPr>
          <p:spPr>
            <a:xfrm>
              <a:off x="5987269" y="3001400"/>
              <a:ext cx="356517" cy="0"/>
            </a:xfrm>
            <a:prstGeom prst="line">
              <a:avLst/>
            </a:prstGeom>
            <a:ln w="76200">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71" name="Straight Connector 170">
              <a:extLst>
                <a:ext uri="{FF2B5EF4-FFF2-40B4-BE49-F238E27FC236}">
                  <a16:creationId xmlns:a16="http://schemas.microsoft.com/office/drawing/2014/main" id="{E1938105-EA8B-7556-3289-F3328BAEC43B}"/>
                </a:ext>
              </a:extLst>
            </p:cNvPr>
            <p:cNvCxnSpPr>
              <a:cxnSpLocks/>
            </p:cNvCxnSpPr>
            <p:nvPr/>
          </p:nvCxnSpPr>
          <p:spPr>
            <a:xfrm>
              <a:off x="3701597" y="2904913"/>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sp>
          <p:nvSpPr>
            <p:cNvPr id="172" name="Star: 5 Points 171">
              <a:extLst>
                <a:ext uri="{FF2B5EF4-FFF2-40B4-BE49-F238E27FC236}">
                  <a16:creationId xmlns:a16="http://schemas.microsoft.com/office/drawing/2014/main" id="{E3691090-7162-FD07-2980-D38054127153}"/>
                </a:ext>
              </a:extLst>
            </p:cNvPr>
            <p:cNvSpPr/>
            <p:nvPr/>
          </p:nvSpPr>
          <p:spPr>
            <a:xfrm>
              <a:off x="4951575" y="3563163"/>
              <a:ext cx="366688" cy="348742"/>
            </a:xfrm>
            <a:prstGeom prst="star5">
              <a:avLst/>
            </a:prstGeom>
            <a:solidFill>
              <a:schemeClr val="accent5">
                <a:lumMod val="60000"/>
                <a:lumOff val="4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Star: 5 Points 172">
              <a:extLst>
                <a:ext uri="{FF2B5EF4-FFF2-40B4-BE49-F238E27FC236}">
                  <a16:creationId xmlns:a16="http://schemas.microsoft.com/office/drawing/2014/main" id="{94D6D56D-C3E0-617E-8BA5-B7A204361B6A}"/>
                </a:ext>
              </a:extLst>
            </p:cNvPr>
            <p:cNvSpPr/>
            <p:nvPr/>
          </p:nvSpPr>
          <p:spPr>
            <a:xfrm>
              <a:off x="3701597" y="3561992"/>
              <a:ext cx="366688" cy="348742"/>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4" name="Star: 5 Points 173">
              <a:extLst>
                <a:ext uri="{FF2B5EF4-FFF2-40B4-BE49-F238E27FC236}">
                  <a16:creationId xmlns:a16="http://schemas.microsoft.com/office/drawing/2014/main" id="{4C3184B0-31E9-37DE-CCCA-853D6C6F3E88}"/>
                </a:ext>
              </a:extLst>
            </p:cNvPr>
            <p:cNvSpPr/>
            <p:nvPr/>
          </p:nvSpPr>
          <p:spPr>
            <a:xfrm>
              <a:off x="6045404" y="3561992"/>
              <a:ext cx="366688" cy="348742"/>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6" name="TextBox 195">
            <a:extLst>
              <a:ext uri="{FF2B5EF4-FFF2-40B4-BE49-F238E27FC236}">
                <a16:creationId xmlns:a16="http://schemas.microsoft.com/office/drawing/2014/main" id="{32D67A12-ED14-D0FC-3A45-B4CAB7E0EB06}"/>
              </a:ext>
            </a:extLst>
          </p:cNvPr>
          <p:cNvSpPr txBox="1"/>
          <p:nvPr/>
        </p:nvSpPr>
        <p:spPr>
          <a:xfrm>
            <a:off x="3656372" y="1760388"/>
            <a:ext cx="2780313" cy="369332"/>
          </a:xfrm>
          <a:prstGeom prst="rect">
            <a:avLst/>
          </a:prstGeom>
          <a:noFill/>
        </p:spPr>
        <p:txBody>
          <a:bodyPr wrap="none" rtlCol="0">
            <a:spAutoFit/>
          </a:bodyPr>
          <a:lstStyle/>
          <a:p>
            <a:r>
              <a:rPr lang="en-US" dirty="0">
                <a:latin typeface="Abadi" panose="020B0604020104020204" pitchFamily="34" charset="0"/>
              </a:rPr>
              <a:t>Align to reference genome</a:t>
            </a:r>
          </a:p>
        </p:txBody>
      </p:sp>
      <p:sp>
        <p:nvSpPr>
          <p:cNvPr id="221" name="TextBox 220">
            <a:extLst>
              <a:ext uri="{FF2B5EF4-FFF2-40B4-BE49-F238E27FC236}">
                <a16:creationId xmlns:a16="http://schemas.microsoft.com/office/drawing/2014/main" id="{1041A03B-0C2F-179B-FDB1-79D1DDE792AC}"/>
              </a:ext>
            </a:extLst>
          </p:cNvPr>
          <p:cNvSpPr txBox="1"/>
          <p:nvPr/>
        </p:nvSpPr>
        <p:spPr>
          <a:xfrm>
            <a:off x="10307142" y="1750970"/>
            <a:ext cx="1788631" cy="369332"/>
          </a:xfrm>
          <a:prstGeom prst="rect">
            <a:avLst/>
          </a:prstGeom>
          <a:noFill/>
        </p:spPr>
        <p:txBody>
          <a:bodyPr wrap="none" rtlCol="0">
            <a:spAutoFit/>
          </a:bodyPr>
          <a:lstStyle/>
          <a:p>
            <a:r>
              <a:rPr lang="en-US" dirty="0">
                <a:latin typeface="Abadi" panose="020B0604020104020204" pitchFamily="34" charset="0"/>
              </a:rPr>
              <a:t>Analyze variants</a:t>
            </a:r>
          </a:p>
        </p:txBody>
      </p:sp>
      <p:grpSp>
        <p:nvGrpSpPr>
          <p:cNvPr id="5" name="Group 4">
            <a:extLst>
              <a:ext uri="{FF2B5EF4-FFF2-40B4-BE49-F238E27FC236}">
                <a16:creationId xmlns:a16="http://schemas.microsoft.com/office/drawing/2014/main" id="{7D0969B0-145F-AB15-916D-B6B6B8B77106}"/>
              </a:ext>
            </a:extLst>
          </p:cNvPr>
          <p:cNvGrpSpPr/>
          <p:nvPr/>
        </p:nvGrpSpPr>
        <p:grpSpPr>
          <a:xfrm>
            <a:off x="7036878" y="2079002"/>
            <a:ext cx="5058895" cy="1937631"/>
            <a:chOff x="7036878" y="2079002"/>
            <a:chExt cx="5058895" cy="1937631"/>
          </a:xfrm>
        </p:grpSpPr>
        <p:cxnSp>
          <p:nvCxnSpPr>
            <p:cNvPr id="94" name="Straight Connector 93">
              <a:extLst>
                <a:ext uri="{FF2B5EF4-FFF2-40B4-BE49-F238E27FC236}">
                  <a16:creationId xmlns:a16="http://schemas.microsoft.com/office/drawing/2014/main" id="{2D190B68-6885-D37B-4B1F-3700BD05E298}"/>
                </a:ext>
              </a:extLst>
            </p:cNvPr>
            <p:cNvCxnSpPr>
              <a:cxnSpLocks/>
            </p:cNvCxnSpPr>
            <p:nvPr/>
          </p:nvCxnSpPr>
          <p:spPr>
            <a:xfrm>
              <a:off x="7036878" y="2352224"/>
              <a:ext cx="27432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117" name="Star: 5 Points 116">
              <a:extLst>
                <a:ext uri="{FF2B5EF4-FFF2-40B4-BE49-F238E27FC236}">
                  <a16:creationId xmlns:a16="http://schemas.microsoft.com/office/drawing/2014/main" id="{714E08AC-5224-AAD0-DD63-C89F33B7ED48}"/>
                </a:ext>
              </a:extLst>
            </p:cNvPr>
            <p:cNvSpPr/>
            <p:nvPr/>
          </p:nvSpPr>
          <p:spPr>
            <a:xfrm>
              <a:off x="8654323" y="2080478"/>
              <a:ext cx="462327" cy="439700"/>
            </a:xfrm>
            <a:prstGeom prst="star5">
              <a:avLst/>
            </a:prstGeom>
            <a:solidFill>
              <a:schemeClr val="accent5">
                <a:lumMod val="60000"/>
                <a:lumOff val="4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119" name="Star: 5 Points 118">
              <a:extLst>
                <a:ext uri="{FF2B5EF4-FFF2-40B4-BE49-F238E27FC236}">
                  <a16:creationId xmlns:a16="http://schemas.microsoft.com/office/drawing/2014/main" id="{159E055A-A332-0F53-3AE4-709320E5100E}"/>
                </a:ext>
              </a:extLst>
            </p:cNvPr>
            <p:cNvSpPr/>
            <p:nvPr/>
          </p:nvSpPr>
          <p:spPr>
            <a:xfrm>
              <a:off x="7376310" y="2079002"/>
              <a:ext cx="462327" cy="439700"/>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20" name="Star: 5 Points 119">
              <a:extLst>
                <a:ext uri="{FF2B5EF4-FFF2-40B4-BE49-F238E27FC236}">
                  <a16:creationId xmlns:a16="http://schemas.microsoft.com/office/drawing/2014/main" id="{3E5FB659-CADE-8807-84CC-11018390B117}"/>
                </a:ext>
              </a:extLst>
            </p:cNvPr>
            <p:cNvSpPr/>
            <p:nvPr/>
          </p:nvSpPr>
          <p:spPr>
            <a:xfrm>
              <a:off x="9230840" y="2079002"/>
              <a:ext cx="462327" cy="439700"/>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179" name="Straight Connector 178">
              <a:extLst>
                <a:ext uri="{FF2B5EF4-FFF2-40B4-BE49-F238E27FC236}">
                  <a16:creationId xmlns:a16="http://schemas.microsoft.com/office/drawing/2014/main" id="{E03D030B-1E76-F3E9-2FAE-6107E042B17E}"/>
                </a:ext>
              </a:extLst>
            </p:cNvPr>
            <p:cNvCxnSpPr>
              <a:cxnSpLocks/>
            </p:cNvCxnSpPr>
            <p:nvPr/>
          </p:nvCxnSpPr>
          <p:spPr>
            <a:xfrm>
              <a:off x="7037412" y="2850792"/>
              <a:ext cx="27432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180" name="Star: 5 Points 179">
              <a:extLst>
                <a:ext uri="{FF2B5EF4-FFF2-40B4-BE49-F238E27FC236}">
                  <a16:creationId xmlns:a16="http://schemas.microsoft.com/office/drawing/2014/main" id="{C926F6E0-940F-4AEA-346F-98B5727B0CA6}"/>
                </a:ext>
              </a:extLst>
            </p:cNvPr>
            <p:cNvSpPr/>
            <p:nvPr/>
          </p:nvSpPr>
          <p:spPr>
            <a:xfrm>
              <a:off x="8654856" y="2579046"/>
              <a:ext cx="462327" cy="439700"/>
            </a:xfrm>
            <a:prstGeom prst="star5">
              <a:avLst/>
            </a:prstGeom>
            <a:solidFill>
              <a:schemeClr val="accent5">
                <a:lumMod val="60000"/>
                <a:lumOff val="4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181" name="Star: 5 Points 180">
              <a:extLst>
                <a:ext uri="{FF2B5EF4-FFF2-40B4-BE49-F238E27FC236}">
                  <a16:creationId xmlns:a16="http://schemas.microsoft.com/office/drawing/2014/main" id="{CBC4EC6A-5D34-9C71-7A81-0C4733390127}"/>
                </a:ext>
              </a:extLst>
            </p:cNvPr>
            <p:cNvSpPr/>
            <p:nvPr/>
          </p:nvSpPr>
          <p:spPr>
            <a:xfrm>
              <a:off x="7376843" y="2577570"/>
              <a:ext cx="462327" cy="439700"/>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82" name="Star: 5 Points 181">
              <a:extLst>
                <a:ext uri="{FF2B5EF4-FFF2-40B4-BE49-F238E27FC236}">
                  <a16:creationId xmlns:a16="http://schemas.microsoft.com/office/drawing/2014/main" id="{E4E76518-2134-838D-6284-CB99562E256C}"/>
                </a:ext>
              </a:extLst>
            </p:cNvPr>
            <p:cNvSpPr/>
            <p:nvPr/>
          </p:nvSpPr>
          <p:spPr>
            <a:xfrm>
              <a:off x="9231374" y="2577570"/>
              <a:ext cx="462327" cy="439700"/>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183" name="Straight Connector 182">
              <a:extLst>
                <a:ext uri="{FF2B5EF4-FFF2-40B4-BE49-F238E27FC236}">
                  <a16:creationId xmlns:a16="http://schemas.microsoft.com/office/drawing/2014/main" id="{993A3E62-17AF-7288-A460-B455DD459B3C}"/>
                </a:ext>
              </a:extLst>
            </p:cNvPr>
            <p:cNvCxnSpPr>
              <a:cxnSpLocks/>
            </p:cNvCxnSpPr>
            <p:nvPr/>
          </p:nvCxnSpPr>
          <p:spPr>
            <a:xfrm>
              <a:off x="7054962" y="3350110"/>
              <a:ext cx="27432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184" name="Star: 5 Points 183">
              <a:extLst>
                <a:ext uri="{FF2B5EF4-FFF2-40B4-BE49-F238E27FC236}">
                  <a16:creationId xmlns:a16="http://schemas.microsoft.com/office/drawing/2014/main" id="{F7A2E0CB-38DC-E168-B6F2-3B0C1F97A765}"/>
                </a:ext>
              </a:extLst>
            </p:cNvPr>
            <p:cNvSpPr/>
            <p:nvPr/>
          </p:nvSpPr>
          <p:spPr>
            <a:xfrm>
              <a:off x="8672406" y="3078365"/>
              <a:ext cx="462327" cy="439700"/>
            </a:xfrm>
            <a:prstGeom prst="star5">
              <a:avLst/>
            </a:prstGeom>
            <a:solidFill>
              <a:schemeClr val="accent5">
                <a:lumMod val="60000"/>
                <a:lumOff val="4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85" name="Star: 5 Points 184">
              <a:extLst>
                <a:ext uri="{FF2B5EF4-FFF2-40B4-BE49-F238E27FC236}">
                  <a16:creationId xmlns:a16="http://schemas.microsoft.com/office/drawing/2014/main" id="{220761E2-C6CB-DCC9-3DE5-6029CE066329}"/>
                </a:ext>
              </a:extLst>
            </p:cNvPr>
            <p:cNvSpPr/>
            <p:nvPr/>
          </p:nvSpPr>
          <p:spPr>
            <a:xfrm>
              <a:off x="7394393" y="3076888"/>
              <a:ext cx="462327" cy="439700"/>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86" name="Star: 5 Points 185">
              <a:extLst>
                <a:ext uri="{FF2B5EF4-FFF2-40B4-BE49-F238E27FC236}">
                  <a16:creationId xmlns:a16="http://schemas.microsoft.com/office/drawing/2014/main" id="{1A30FDF0-95D5-4DD4-4B07-5879D43FA1EC}"/>
                </a:ext>
              </a:extLst>
            </p:cNvPr>
            <p:cNvSpPr/>
            <p:nvPr/>
          </p:nvSpPr>
          <p:spPr>
            <a:xfrm>
              <a:off x="9248924" y="3076888"/>
              <a:ext cx="462327" cy="439700"/>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cxnSp>
          <p:nvCxnSpPr>
            <p:cNvPr id="187" name="Straight Connector 186">
              <a:extLst>
                <a:ext uri="{FF2B5EF4-FFF2-40B4-BE49-F238E27FC236}">
                  <a16:creationId xmlns:a16="http://schemas.microsoft.com/office/drawing/2014/main" id="{F8C964E3-2840-C481-076B-10AFC6D67554}"/>
                </a:ext>
              </a:extLst>
            </p:cNvPr>
            <p:cNvCxnSpPr>
              <a:cxnSpLocks/>
            </p:cNvCxnSpPr>
            <p:nvPr/>
          </p:nvCxnSpPr>
          <p:spPr>
            <a:xfrm>
              <a:off x="7055495" y="3848678"/>
              <a:ext cx="27432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188" name="Star: 5 Points 187">
              <a:extLst>
                <a:ext uri="{FF2B5EF4-FFF2-40B4-BE49-F238E27FC236}">
                  <a16:creationId xmlns:a16="http://schemas.microsoft.com/office/drawing/2014/main" id="{B9A42312-38A9-7550-D7A7-5B3605AFB6B2}"/>
                </a:ext>
              </a:extLst>
            </p:cNvPr>
            <p:cNvSpPr/>
            <p:nvPr/>
          </p:nvSpPr>
          <p:spPr>
            <a:xfrm>
              <a:off x="8672940" y="3576933"/>
              <a:ext cx="462327" cy="439700"/>
            </a:xfrm>
            <a:prstGeom prst="star5">
              <a:avLst/>
            </a:prstGeom>
            <a:solidFill>
              <a:schemeClr val="accent5">
                <a:lumMod val="60000"/>
                <a:lumOff val="4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89" name="Star: 5 Points 188">
              <a:extLst>
                <a:ext uri="{FF2B5EF4-FFF2-40B4-BE49-F238E27FC236}">
                  <a16:creationId xmlns:a16="http://schemas.microsoft.com/office/drawing/2014/main" id="{8CF07BE5-DAFD-6379-C8AF-CAC76314360E}"/>
                </a:ext>
              </a:extLst>
            </p:cNvPr>
            <p:cNvSpPr/>
            <p:nvPr/>
          </p:nvSpPr>
          <p:spPr>
            <a:xfrm>
              <a:off x="7394927" y="3575456"/>
              <a:ext cx="462327" cy="439700"/>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190" name="Star: 5 Points 189">
              <a:extLst>
                <a:ext uri="{FF2B5EF4-FFF2-40B4-BE49-F238E27FC236}">
                  <a16:creationId xmlns:a16="http://schemas.microsoft.com/office/drawing/2014/main" id="{18F49A57-C91C-BC99-F881-E4B2256BB3F5}"/>
                </a:ext>
              </a:extLst>
            </p:cNvPr>
            <p:cNvSpPr/>
            <p:nvPr/>
          </p:nvSpPr>
          <p:spPr>
            <a:xfrm>
              <a:off x="9249457" y="3575456"/>
              <a:ext cx="462327" cy="439700"/>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cxnSp>
          <p:nvCxnSpPr>
            <p:cNvPr id="236" name="Straight Connector 235">
              <a:extLst>
                <a:ext uri="{FF2B5EF4-FFF2-40B4-BE49-F238E27FC236}">
                  <a16:creationId xmlns:a16="http://schemas.microsoft.com/office/drawing/2014/main" id="{5348AB58-4B63-9940-DE4A-7A77060D79BB}"/>
                </a:ext>
              </a:extLst>
            </p:cNvPr>
            <p:cNvCxnSpPr>
              <a:cxnSpLocks/>
            </p:cNvCxnSpPr>
            <p:nvPr/>
          </p:nvCxnSpPr>
          <p:spPr>
            <a:xfrm>
              <a:off x="9894268" y="2334329"/>
              <a:ext cx="154300" cy="243241"/>
            </a:xfrm>
            <a:prstGeom prst="line">
              <a:avLst/>
            </a:prstGeom>
          </p:spPr>
          <p:style>
            <a:lnRef idx="2">
              <a:schemeClr val="accent1"/>
            </a:lnRef>
            <a:fillRef idx="0">
              <a:schemeClr val="accent1"/>
            </a:fillRef>
            <a:effectRef idx="1">
              <a:schemeClr val="accent1"/>
            </a:effectRef>
            <a:fontRef idx="minor">
              <a:schemeClr val="tx1"/>
            </a:fontRef>
          </p:style>
        </p:cxnSp>
        <p:cxnSp>
          <p:nvCxnSpPr>
            <p:cNvPr id="238" name="Straight Connector 237">
              <a:extLst>
                <a:ext uri="{FF2B5EF4-FFF2-40B4-BE49-F238E27FC236}">
                  <a16:creationId xmlns:a16="http://schemas.microsoft.com/office/drawing/2014/main" id="{C3231BF5-183E-BC6B-D956-BC2E2A8CA46B}"/>
                </a:ext>
              </a:extLst>
            </p:cNvPr>
            <p:cNvCxnSpPr>
              <a:cxnSpLocks/>
            </p:cNvCxnSpPr>
            <p:nvPr/>
          </p:nvCxnSpPr>
          <p:spPr>
            <a:xfrm flipV="1">
              <a:off x="9932869" y="2562082"/>
              <a:ext cx="115699" cy="206454"/>
            </a:xfrm>
            <a:prstGeom prst="line">
              <a:avLst/>
            </a:prstGeom>
          </p:spPr>
          <p:style>
            <a:lnRef idx="2">
              <a:schemeClr val="accent1"/>
            </a:lnRef>
            <a:fillRef idx="0">
              <a:schemeClr val="accent1"/>
            </a:fillRef>
            <a:effectRef idx="1">
              <a:schemeClr val="accent1"/>
            </a:effectRef>
            <a:fontRef idx="minor">
              <a:schemeClr val="tx1"/>
            </a:fontRef>
          </p:style>
        </p:cxnSp>
        <p:cxnSp>
          <p:nvCxnSpPr>
            <p:cNvPr id="243" name="Straight Connector 242">
              <a:extLst>
                <a:ext uri="{FF2B5EF4-FFF2-40B4-BE49-F238E27FC236}">
                  <a16:creationId xmlns:a16="http://schemas.microsoft.com/office/drawing/2014/main" id="{E8F0E8D7-F293-2B31-873E-078DC0628459}"/>
                </a:ext>
              </a:extLst>
            </p:cNvPr>
            <p:cNvCxnSpPr>
              <a:cxnSpLocks/>
            </p:cNvCxnSpPr>
            <p:nvPr/>
          </p:nvCxnSpPr>
          <p:spPr>
            <a:xfrm>
              <a:off x="9932869" y="3346331"/>
              <a:ext cx="837449" cy="6443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5" name="Straight Connector 244">
              <a:extLst>
                <a:ext uri="{FF2B5EF4-FFF2-40B4-BE49-F238E27FC236}">
                  <a16:creationId xmlns:a16="http://schemas.microsoft.com/office/drawing/2014/main" id="{437B9C15-3516-4229-AE3A-3544D3635A8F}"/>
                </a:ext>
              </a:extLst>
            </p:cNvPr>
            <p:cNvCxnSpPr>
              <a:cxnSpLocks/>
            </p:cNvCxnSpPr>
            <p:nvPr/>
          </p:nvCxnSpPr>
          <p:spPr>
            <a:xfrm flipV="1">
              <a:off x="9971418" y="3429000"/>
              <a:ext cx="798900" cy="374599"/>
            </a:xfrm>
            <a:prstGeom prst="line">
              <a:avLst/>
            </a:prstGeom>
          </p:spPr>
          <p:style>
            <a:lnRef idx="2">
              <a:schemeClr val="accent1"/>
            </a:lnRef>
            <a:fillRef idx="0">
              <a:schemeClr val="accent1"/>
            </a:fillRef>
            <a:effectRef idx="1">
              <a:schemeClr val="accent1"/>
            </a:effectRef>
            <a:fontRef idx="minor">
              <a:schemeClr val="tx1"/>
            </a:fontRef>
          </p:style>
        </p:cxnSp>
        <p:cxnSp>
          <p:nvCxnSpPr>
            <p:cNvPr id="248" name="Straight Connector 247">
              <a:extLst>
                <a:ext uri="{FF2B5EF4-FFF2-40B4-BE49-F238E27FC236}">
                  <a16:creationId xmlns:a16="http://schemas.microsoft.com/office/drawing/2014/main" id="{FEE04C7E-E9F5-3D5C-5A67-9455DE46EA0D}"/>
                </a:ext>
              </a:extLst>
            </p:cNvPr>
            <p:cNvCxnSpPr>
              <a:cxnSpLocks/>
            </p:cNvCxnSpPr>
            <p:nvPr/>
          </p:nvCxnSpPr>
          <p:spPr>
            <a:xfrm flipV="1">
              <a:off x="10770318" y="2915631"/>
              <a:ext cx="1294867" cy="513369"/>
            </a:xfrm>
            <a:prstGeom prst="line">
              <a:avLst/>
            </a:prstGeom>
          </p:spPr>
          <p:style>
            <a:lnRef idx="2">
              <a:schemeClr val="accent1"/>
            </a:lnRef>
            <a:fillRef idx="0">
              <a:schemeClr val="accent1"/>
            </a:fillRef>
            <a:effectRef idx="1">
              <a:schemeClr val="accent1"/>
            </a:effectRef>
            <a:fontRef idx="minor">
              <a:schemeClr val="tx1"/>
            </a:fontRef>
          </p:style>
        </p:cxnSp>
        <p:cxnSp>
          <p:nvCxnSpPr>
            <p:cNvPr id="250" name="Straight Connector 249">
              <a:extLst>
                <a:ext uri="{FF2B5EF4-FFF2-40B4-BE49-F238E27FC236}">
                  <a16:creationId xmlns:a16="http://schemas.microsoft.com/office/drawing/2014/main" id="{DEE21D72-507C-F6ED-2BBF-8971DF6C0182}"/>
                </a:ext>
              </a:extLst>
            </p:cNvPr>
            <p:cNvCxnSpPr/>
            <p:nvPr/>
          </p:nvCxnSpPr>
          <p:spPr>
            <a:xfrm>
              <a:off x="10048568" y="2562082"/>
              <a:ext cx="2047205" cy="342831"/>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258" name="Connector: Curved 257">
            <a:extLst>
              <a:ext uri="{FF2B5EF4-FFF2-40B4-BE49-F238E27FC236}">
                <a16:creationId xmlns:a16="http://schemas.microsoft.com/office/drawing/2014/main" id="{A47D6B23-E5CC-9702-80CB-BC1885C85529}"/>
              </a:ext>
            </a:extLst>
          </p:cNvPr>
          <p:cNvCxnSpPr/>
          <p:nvPr/>
        </p:nvCxnSpPr>
        <p:spPr>
          <a:xfrm>
            <a:off x="1741331" y="3981880"/>
            <a:ext cx="1529227" cy="1037954"/>
          </a:xfrm>
          <a:prstGeom prst="curvedConnector3">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260" name="TextBox 259">
            <a:extLst>
              <a:ext uri="{FF2B5EF4-FFF2-40B4-BE49-F238E27FC236}">
                <a16:creationId xmlns:a16="http://schemas.microsoft.com/office/drawing/2014/main" id="{90AB0639-2778-2C0E-A1F9-C50D04CB1F2F}"/>
              </a:ext>
            </a:extLst>
          </p:cNvPr>
          <p:cNvSpPr txBox="1"/>
          <p:nvPr/>
        </p:nvSpPr>
        <p:spPr>
          <a:xfrm>
            <a:off x="3701597" y="4145817"/>
            <a:ext cx="2581604" cy="369332"/>
          </a:xfrm>
          <a:prstGeom prst="rect">
            <a:avLst/>
          </a:prstGeom>
          <a:noFill/>
        </p:spPr>
        <p:txBody>
          <a:bodyPr wrap="none" rtlCol="0">
            <a:spAutoFit/>
          </a:bodyPr>
          <a:lstStyle/>
          <a:p>
            <a:r>
              <a:rPr lang="en-US" dirty="0">
                <a:latin typeface="Abadi" panose="020B0604020104020204" pitchFamily="34" charset="0"/>
              </a:rPr>
              <a:t>Assemble reads de novo</a:t>
            </a:r>
          </a:p>
        </p:txBody>
      </p:sp>
      <p:sp>
        <p:nvSpPr>
          <p:cNvPr id="282" name="TextBox 281">
            <a:extLst>
              <a:ext uri="{FF2B5EF4-FFF2-40B4-BE49-F238E27FC236}">
                <a16:creationId xmlns:a16="http://schemas.microsoft.com/office/drawing/2014/main" id="{97D4BCF6-35EA-C1E7-BA1E-C403685B7B83}"/>
              </a:ext>
            </a:extLst>
          </p:cNvPr>
          <p:cNvSpPr txBox="1"/>
          <p:nvPr/>
        </p:nvSpPr>
        <p:spPr>
          <a:xfrm>
            <a:off x="6966699" y="4131525"/>
            <a:ext cx="3081869" cy="369332"/>
          </a:xfrm>
          <a:prstGeom prst="rect">
            <a:avLst/>
          </a:prstGeom>
          <a:noFill/>
        </p:spPr>
        <p:txBody>
          <a:bodyPr wrap="none" rtlCol="0">
            <a:spAutoFit/>
          </a:bodyPr>
          <a:lstStyle/>
          <a:p>
            <a:r>
              <a:rPr lang="en-US" dirty="0">
                <a:latin typeface="Abadi" panose="020B0604020104020204" pitchFamily="34" charset="0"/>
              </a:rPr>
              <a:t>Align and determine variants</a:t>
            </a:r>
          </a:p>
        </p:txBody>
      </p:sp>
      <p:grpSp>
        <p:nvGrpSpPr>
          <p:cNvPr id="6" name="Group 5">
            <a:extLst>
              <a:ext uri="{FF2B5EF4-FFF2-40B4-BE49-F238E27FC236}">
                <a16:creationId xmlns:a16="http://schemas.microsoft.com/office/drawing/2014/main" id="{83926AD8-FBDE-25F0-69CC-A50FC1FA576F}"/>
              </a:ext>
            </a:extLst>
          </p:cNvPr>
          <p:cNvGrpSpPr/>
          <p:nvPr/>
        </p:nvGrpSpPr>
        <p:grpSpPr>
          <a:xfrm>
            <a:off x="7284477" y="4722654"/>
            <a:ext cx="2507905" cy="1649290"/>
            <a:chOff x="7284477" y="4722654"/>
            <a:chExt cx="2507905" cy="1649290"/>
          </a:xfrm>
        </p:grpSpPr>
        <p:sp>
          <p:nvSpPr>
            <p:cNvPr id="283" name="Rectangle 282">
              <a:extLst>
                <a:ext uri="{FF2B5EF4-FFF2-40B4-BE49-F238E27FC236}">
                  <a16:creationId xmlns:a16="http://schemas.microsoft.com/office/drawing/2014/main" id="{E835DC0B-34FF-8BF5-B8F9-5CD88A1531A5}"/>
                </a:ext>
              </a:extLst>
            </p:cNvPr>
            <p:cNvSpPr/>
            <p:nvPr/>
          </p:nvSpPr>
          <p:spPr>
            <a:xfrm>
              <a:off x="7285703" y="4722654"/>
              <a:ext cx="571017" cy="28439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85" name="Rectangle 284">
              <a:extLst>
                <a:ext uri="{FF2B5EF4-FFF2-40B4-BE49-F238E27FC236}">
                  <a16:creationId xmlns:a16="http://schemas.microsoft.com/office/drawing/2014/main" id="{648E9621-B966-A77C-F7E4-4B0DC0AA9BE5}"/>
                </a:ext>
              </a:extLst>
            </p:cNvPr>
            <p:cNvSpPr/>
            <p:nvPr/>
          </p:nvSpPr>
          <p:spPr>
            <a:xfrm>
              <a:off x="8247382" y="4722654"/>
              <a:ext cx="571017" cy="284395"/>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287" name="Rectangle 286">
              <a:extLst>
                <a:ext uri="{FF2B5EF4-FFF2-40B4-BE49-F238E27FC236}">
                  <a16:creationId xmlns:a16="http://schemas.microsoft.com/office/drawing/2014/main" id="{31D16C76-CAD8-EFE7-C42C-08F617653A1B}"/>
                </a:ext>
              </a:extLst>
            </p:cNvPr>
            <p:cNvSpPr/>
            <p:nvPr/>
          </p:nvSpPr>
          <p:spPr>
            <a:xfrm>
              <a:off x="9209061" y="4722654"/>
              <a:ext cx="571017" cy="284395"/>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289" name="Rectangle 288">
              <a:extLst>
                <a:ext uri="{FF2B5EF4-FFF2-40B4-BE49-F238E27FC236}">
                  <a16:creationId xmlns:a16="http://schemas.microsoft.com/office/drawing/2014/main" id="{80019A5C-47CA-D147-D7DE-2C9D3DC04E88}"/>
                </a:ext>
              </a:extLst>
            </p:cNvPr>
            <p:cNvSpPr/>
            <p:nvPr/>
          </p:nvSpPr>
          <p:spPr>
            <a:xfrm>
              <a:off x="7284477" y="5129564"/>
              <a:ext cx="571017" cy="28439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91" name="Rectangle 290">
              <a:extLst>
                <a:ext uri="{FF2B5EF4-FFF2-40B4-BE49-F238E27FC236}">
                  <a16:creationId xmlns:a16="http://schemas.microsoft.com/office/drawing/2014/main" id="{C38BD0BD-D149-91C0-55CC-3EA770EC17DE}"/>
                </a:ext>
              </a:extLst>
            </p:cNvPr>
            <p:cNvSpPr/>
            <p:nvPr/>
          </p:nvSpPr>
          <p:spPr>
            <a:xfrm>
              <a:off x="8246156" y="5129564"/>
              <a:ext cx="571017" cy="284395"/>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293" name="Rectangle 292">
              <a:extLst>
                <a:ext uri="{FF2B5EF4-FFF2-40B4-BE49-F238E27FC236}">
                  <a16:creationId xmlns:a16="http://schemas.microsoft.com/office/drawing/2014/main" id="{DB4CC613-AB13-DED2-E4FC-228E27A371F2}"/>
                </a:ext>
              </a:extLst>
            </p:cNvPr>
            <p:cNvSpPr/>
            <p:nvPr/>
          </p:nvSpPr>
          <p:spPr>
            <a:xfrm>
              <a:off x="9207835" y="5129564"/>
              <a:ext cx="571017" cy="284395"/>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295" name="Rectangle 294">
              <a:extLst>
                <a:ext uri="{FF2B5EF4-FFF2-40B4-BE49-F238E27FC236}">
                  <a16:creationId xmlns:a16="http://schemas.microsoft.com/office/drawing/2014/main" id="{A5D40E15-EF4E-1325-F038-4127322B2F96}"/>
                </a:ext>
              </a:extLst>
            </p:cNvPr>
            <p:cNvSpPr/>
            <p:nvPr/>
          </p:nvSpPr>
          <p:spPr>
            <a:xfrm>
              <a:off x="7298007" y="5601394"/>
              <a:ext cx="571017" cy="28439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97" name="Rectangle 296">
              <a:extLst>
                <a:ext uri="{FF2B5EF4-FFF2-40B4-BE49-F238E27FC236}">
                  <a16:creationId xmlns:a16="http://schemas.microsoft.com/office/drawing/2014/main" id="{8E746030-B0B5-853A-F5A5-DC889A001476}"/>
                </a:ext>
              </a:extLst>
            </p:cNvPr>
            <p:cNvSpPr/>
            <p:nvPr/>
          </p:nvSpPr>
          <p:spPr>
            <a:xfrm>
              <a:off x="8259686" y="5601394"/>
              <a:ext cx="571017" cy="284395"/>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299" name="Rectangle 298">
              <a:extLst>
                <a:ext uri="{FF2B5EF4-FFF2-40B4-BE49-F238E27FC236}">
                  <a16:creationId xmlns:a16="http://schemas.microsoft.com/office/drawing/2014/main" id="{A01FD695-2826-3BC7-F48B-F57466C871B8}"/>
                </a:ext>
              </a:extLst>
            </p:cNvPr>
            <p:cNvSpPr/>
            <p:nvPr/>
          </p:nvSpPr>
          <p:spPr>
            <a:xfrm>
              <a:off x="9221365" y="5601394"/>
              <a:ext cx="571017" cy="284395"/>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301" name="Rectangle 300">
              <a:extLst>
                <a:ext uri="{FF2B5EF4-FFF2-40B4-BE49-F238E27FC236}">
                  <a16:creationId xmlns:a16="http://schemas.microsoft.com/office/drawing/2014/main" id="{CF3F91C3-B392-8567-1D81-1E41C5E2DBC6}"/>
                </a:ext>
              </a:extLst>
            </p:cNvPr>
            <p:cNvSpPr/>
            <p:nvPr/>
          </p:nvSpPr>
          <p:spPr>
            <a:xfrm>
              <a:off x="7293955" y="6087549"/>
              <a:ext cx="571017" cy="28439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303" name="Rectangle 302">
              <a:extLst>
                <a:ext uri="{FF2B5EF4-FFF2-40B4-BE49-F238E27FC236}">
                  <a16:creationId xmlns:a16="http://schemas.microsoft.com/office/drawing/2014/main" id="{4B8BC08A-ABC6-E04C-5776-014F847942EF}"/>
                </a:ext>
              </a:extLst>
            </p:cNvPr>
            <p:cNvSpPr/>
            <p:nvPr/>
          </p:nvSpPr>
          <p:spPr>
            <a:xfrm>
              <a:off x="8255634" y="6087549"/>
              <a:ext cx="571017" cy="284395"/>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305" name="Rectangle 304">
              <a:extLst>
                <a:ext uri="{FF2B5EF4-FFF2-40B4-BE49-F238E27FC236}">
                  <a16:creationId xmlns:a16="http://schemas.microsoft.com/office/drawing/2014/main" id="{257436F7-A5D6-8738-38A2-D329BDC5D513}"/>
                </a:ext>
              </a:extLst>
            </p:cNvPr>
            <p:cNvSpPr/>
            <p:nvPr/>
          </p:nvSpPr>
          <p:spPr>
            <a:xfrm>
              <a:off x="9217313" y="6087549"/>
              <a:ext cx="571017" cy="284395"/>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grpSp>
      <p:cxnSp>
        <p:nvCxnSpPr>
          <p:cNvPr id="309" name="Connector: Curved 308">
            <a:extLst>
              <a:ext uri="{FF2B5EF4-FFF2-40B4-BE49-F238E27FC236}">
                <a16:creationId xmlns:a16="http://schemas.microsoft.com/office/drawing/2014/main" id="{8A75D317-8FF2-8B85-07DA-CE5ABA03588B}"/>
              </a:ext>
            </a:extLst>
          </p:cNvPr>
          <p:cNvCxnSpPr/>
          <p:nvPr/>
        </p:nvCxnSpPr>
        <p:spPr>
          <a:xfrm rot="5400000" flipH="1" flipV="1">
            <a:off x="9589692" y="4132790"/>
            <a:ext cx="1822319" cy="904567"/>
          </a:xfrm>
          <a:prstGeom prst="curvedConnector3">
            <a:avLst/>
          </a:prstGeom>
          <a:ln w="76200">
            <a:tailEnd type="triangle"/>
          </a:ln>
        </p:spPr>
        <p:style>
          <a:lnRef idx="2">
            <a:schemeClr val="accent1"/>
          </a:lnRef>
          <a:fillRef idx="0">
            <a:schemeClr val="accent1"/>
          </a:fillRef>
          <a:effectRef idx="1">
            <a:schemeClr val="accent1"/>
          </a:effectRef>
          <a:fontRef idx="minor">
            <a:schemeClr val="tx1"/>
          </a:fontRef>
        </p:style>
      </p:cxnSp>
      <p:grpSp>
        <p:nvGrpSpPr>
          <p:cNvPr id="7" name="Group 6">
            <a:extLst>
              <a:ext uri="{FF2B5EF4-FFF2-40B4-BE49-F238E27FC236}">
                <a16:creationId xmlns:a16="http://schemas.microsoft.com/office/drawing/2014/main" id="{E7F44C82-ACD3-E199-E090-9989C6388FB0}"/>
              </a:ext>
            </a:extLst>
          </p:cNvPr>
          <p:cNvGrpSpPr/>
          <p:nvPr/>
        </p:nvGrpSpPr>
        <p:grpSpPr>
          <a:xfrm>
            <a:off x="3656372" y="4714565"/>
            <a:ext cx="2725136" cy="1630241"/>
            <a:chOff x="3656372" y="4714565"/>
            <a:chExt cx="2725136" cy="1630241"/>
          </a:xfrm>
        </p:grpSpPr>
        <p:cxnSp>
          <p:nvCxnSpPr>
            <p:cNvPr id="261" name="Straight Connector 260">
              <a:extLst>
                <a:ext uri="{FF2B5EF4-FFF2-40B4-BE49-F238E27FC236}">
                  <a16:creationId xmlns:a16="http://schemas.microsoft.com/office/drawing/2014/main" id="{7111CEEE-0E31-6E33-1153-965470EC0786}"/>
                </a:ext>
              </a:extLst>
            </p:cNvPr>
            <p:cNvCxnSpPr>
              <a:cxnSpLocks/>
            </p:cNvCxnSpPr>
            <p:nvPr/>
          </p:nvCxnSpPr>
          <p:spPr>
            <a:xfrm>
              <a:off x="3711768" y="4929064"/>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262" name="Straight Connector 261">
              <a:extLst>
                <a:ext uri="{FF2B5EF4-FFF2-40B4-BE49-F238E27FC236}">
                  <a16:creationId xmlns:a16="http://schemas.microsoft.com/office/drawing/2014/main" id="{3E8FC58F-0FA4-7E61-EE48-44B4EF9598FB}"/>
                </a:ext>
              </a:extLst>
            </p:cNvPr>
            <p:cNvCxnSpPr>
              <a:cxnSpLocks/>
            </p:cNvCxnSpPr>
            <p:nvPr/>
          </p:nvCxnSpPr>
          <p:spPr>
            <a:xfrm>
              <a:off x="3711768" y="5123899"/>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263" name="Straight Connector 262">
              <a:extLst>
                <a:ext uri="{FF2B5EF4-FFF2-40B4-BE49-F238E27FC236}">
                  <a16:creationId xmlns:a16="http://schemas.microsoft.com/office/drawing/2014/main" id="{000AD75F-4AF7-D487-5B9F-06A07E856921}"/>
                </a:ext>
              </a:extLst>
            </p:cNvPr>
            <p:cNvCxnSpPr>
              <a:cxnSpLocks/>
            </p:cNvCxnSpPr>
            <p:nvPr/>
          </p:nvCxnSpPr>
          <p:spPr>
            <a:xfrm>
              <a:off x="3711768" y="5259742"/>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264" name="Straight Connector 263">
              <a:extLst>
                <a:ext uri="{FF2B5EF4-FFF2-40B4-BE49-F238E27FC236}">
                  <a16:creationId xmlns:a16="http://schemas.microsoft.com/office/drawing/2014/main" id="{770C0E6A-931D-8993-C243-64472D278010}"/>
                </a:ext>
              </a:extLst>
            </p:cNvPr>
            <p:cNvCxnSpPr>
              <a:cxnSpLocks/>
            </p:cNvCxnSpPr>
            <p:nvPr/>
          </p:nvCxnSpPr>
          <p:spPr>
            <a:xfrm>
              <a:off x="3711768" y="5942567"/>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265" name="Straight Connector 264">
              <a:extLst>
                <a:ext uri="{FF2B5EF4-FFF2-40B4-BE49-F238E27FC236}">
                  <a16:creationId xmlns:a16="http://schemas.microsoft.com/office/drawing/2014/main" id="{FF2D04E0-0941-70F7-DFF5-4394D94628FC}"/>
                </a:ext>
              </a:extLst>
            </p:cNvPr>
            <p:cNvCxnSpPr>
              <a:cxnSpLocks/>
            </p:cNvCxnSpPr>
            <p:nvPr/>
          </p:nvCxnSpPr>
          <p:spPr>
            <a:xfrm>
              <a:off x="3711768" y="5737900"/>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266" name="Straight Connector 265">
              <a:extLst>
                <a:ext uri="{FF2B5EF4-FFF2-40B4-BE49-F238E27FC236}">
                  <a16:creationId xmlns:a16="http://schemas.microsoft.com/office/drawing/2014/main" id="{FEDA9F67-520C-19EB-93FE-C783D6D8D035}"/>
                </a:ext>
              </a:extLst>
            </p:cNvPr>
            <p:cNvCxnSpPr>
              <a:cxnSpLocks/>
            </p:cNvCxnSpPr>
            <p:nvPr/>
          </p:nvCxnSpPr>
          <p:spPr>
            <a:xfrm>
              <a:off x="3711768" y="4752083"/>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267" name="Straight Connector 266">
              <a:extLst>
                <a:ext uri="{FF2B5EF4-FFF2-40B4-BE49-F238E27FC236}">
                  <a16:creationId xmlns:a16="http://schemas.microsoft.com/office/drawing/2014/main" id="{90461927-2660-7D43-4B2B-C85F644E536B}"/>
                </a:ext>
              </a:extLst>
            </p:cNvPr>
            <p:cNvCxnSpPr>
              <a:cxnSpLocks/>
            </p:cNvCxnSpPr>
            <p:nvPr/>
          </p:nvCxnSpPr>
          <p:spPr>
            <a:xfrm>
              <a:off x="3711768" y="5436719"/>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268" name="Straight Connector 267">
              <a:extLst>
                <a:ext uri="{FF2B5EF4-FFF2-40B4-BE49-F238E27FC236}">
                  <a16:creationId xmlns:a16="http://schemas.microsoft.com/office/drawing/2014/main" id="{AF7AC3E1-865D-F5D7-0997-0F634AF3410B}"/>
                </a:ext>
              </a:extLst>
            </p:cNvPr>
            <p:cNvCxnSpPr>
              <a:cxnSpLocks/>
            </p:cNvCxnSpPr>
            <p:nvPr/>
          </p:nvCxnSpPr>
          <p:spPr>
            <a:xfrm>
              <a:off x="4821419" y="5737900"/>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69" name="Straight Connector 268">
              <a:extLst>
                <a:ext uri="{FF2B5EF4-FFF2-40B4-BE49-F238E27FC236}">
                  <a16:creationId xmlns:a16="http://schemas.microsoft.com/office/drawing/2014/main" id="{F5834FDD-49F2-03C7-AF76-FCD750BD47BD}"/>
                </a:ext>
              </a:extLst>
            </p:cNvPr>
            <p:cNvCxnSpPr>
              <a:cxnSpLocks/>
            </p:cNvCxnSpPr>
            <p:nvPr/>
          </p:nvCxnSpPr>
          <p:spPr>
            <a:xfrm>
              <a:off x="4821419" y="5942567"/>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70" name="Straight Connector 269">
              <a:extLst>
                <a:ext uri="{FF2B5EF4-FFF2-40B4-BE49-F238E27FC236}">
                  <a16:creationId xmlns:a16="http://schemas.microsoft.com/office/drawing/2014/main" id="{CD48F407-F8F1-A3BC-6A74-DCEDE0F97031}"/>
                </a:ext>
              </a:extLst>
            </p:cNvPr>
            <p:cNvCxnSpPr>
              <a:cxnSpLocks/>
            </p:cNvCxnSpPr>
            <p:nvPr/>
          </p:nvCxnSpPr>
          <p:spPr>
            <a:xfrm>
              <a:off x="4821419" y="4714565"/>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71" name="Straight Connector 270">
              <a:extLst>
                <a:ext uri="{FF2B5EF4-FFF2-40B4-BE49-F238E27FC236}">
                  <a16:creationId xmlns:a16="http://schemas.microsoft.com/office/drawing/2014/main" id="{A9B3F349-68A5-5BFB-6DD9-0DD65745F352}"/>
                </a:ext>
              </a:extLst>
            </p:cNvPr>
            <p:cNvCxnSpPr>
              <a:cxnSpLocks/>
            </p:cNvCxnSpPr>
            <p:nvPr/>
          </p:nvCxnSpPr>
          <p:spPr>
            <a:xfrm>
              <a:off x="4821419" y="4919232"/>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72" name="Straight Connector 271">
              <a:extLst>
                <a:ext uri="{FF2B5EF4-FFF2-40B4-BE49-F238E27FC236}">
                  <a16:creationId xmlns:a16="http://schemas.microsoft.com/office/drawing/2014/main" id="{C1186EAE-95A3-4105-EB3C-274BF6BD7061}"/>
                </a:ext>
              </a:extLst>
            </p:cNvPr>
            <p:cNvCxnSpPr>
              <a:cxnSpLocks/>
            </p:cNvCxnSpPr>
            <p:nvPr/>
          </p:nvCxnSpPr>
          <p:spPr>
            <a:xfrm>
              <a:off x="4821419" y="5123899"/>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73" name="Straight Connector 272">
              <a:extLst>
                <a:ext uri="{FF2B5EF4-FFF2-40B4-BE49-F238E27FC236}">
                  <a16:creationId xmlns:a16="http://schemas.microsoft.com/office/drawing/2014/main" id="{A49B6818-EDFD-4F16-F62B-0E1793EF1DCF}"/>
                </a:ext>
              </a:extLst>
            </p:cNvPr>
            <p:cNvCxnSpPr>
              <a:cxnSpLocks/>
            </p:cNvCxnSpPr>
            <p:nvPr/>
          </p:nvCxnSpPr>
          <p:spPr>
            <a:xfrm>
              <a:off x="4821419" y="5123899"/>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74" name="Straight Connector 273">
              <a:extLst>
                <a:ext uri="{FF2B5EF4-FFF2-40B4-BE49-F238E27FC236}">
                  <a16:creationId xmlns:a16="http://schemas.microsoft.com/office/drawing/2014/main" id="{E09068A9-234D-C6F3-53BC-29924927B50E}"/>
                </a:ext>
              </a:extLst>
            </p:cNvPr>
            <p:cNvCxnSpPr>
              <a:cxnSpLocks/>
            </p:cNvCxnSpPr>
            <p:nvPr/>
          </p:nvCxnSpPr>
          <p:spPr>
            <a:xfrm>
              <a:off x="4821419" y="5328566"/>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75" name="Straight Connector 274">
              <a:extLst>
                <a:ext uri="{FF2B5EF4-FFF2-40B4-BE49-F238E27FC236}">
                  <a16:creationId xmlns:a16="http://schemas.microsoft.com/office/drawing/2014/main" id="{378AFB88-AA9E-4D65-7A87-3E7E342E23AC}"/>
                </a:ext>
              </a:extLst>
            </p:cNvPr>
            <p:cNvCxnSpPr>
              <a:cxnSpLocks/>
            </p:cNvCxnSpPr>
            <p:nvPr/>
          </p:nvCxnSpPr>
          <p:spPr>
            <a:xfrm>
              <a:off x="4821419" y="5533233"/>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76" name="Straight Connector 275">
              <a:extLst>
                <a:ext uri="{FF2B5EF4-FFF2-40B4-BE49-F238E27FC236}">
                  <a16:creationId xmlns:a16="http://schemas.microsoft.com/office/drawing/2014/main" id="{F7D90FCF-1828-B4FA-E2BA-974571CD6C63}"/>
                </a:ext>
              </a:extLst>
            </p:cNvPr>
            <p:cNvCxnSpPr>
              <a:cxnSpLocks/>
            </p:cNvCxnSpPr>
            <p:nvPr/>
          </p:nvCxnSpPr>
          <p:spPr>
            <a:xfrm>
              <a:off x="5926684" y="5158318"/>
              <a:ext cx="356517" cy="0"/>
            </a:xfrm>
            <a:prstGeom prst="line">
              <a:avLst/>
            </a:prstGeom>
            <a:ln w="76200">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277" name="Straight Connector 276">
              <a:extLst>
                <a:ext uri="{FF2B5EF4-FFF2-40B4-BE49-F238E27FC236}">
                  <a16:creationId xmlns:a16="http://schemas.microsoft.com/office/drawing/2014/main" id="{967AA4C4-B8C9-CC75-803B-771208A20058}"/>
                </a:ext>
              </a:extLst>
            </p:cNvPr>
            <p:cNvCxnSpPr>
              <a:cxnSpLocks/>
            </p:cNvCxnSpPr>
            <p:nvPr/>
          </p:nvCxnSpPr>
          <p:spPr>
            <a:xfrm>
              <a:off x="5926684" y="5364772"/>
              <a:ext cx="356517" cy="0"/>
            </a:xfrm>
            <a:prstGeom prst="line">
              <a:avLst/>
            </a:prstGeom>
            <a:ln w="76200">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278" name="Straight Connector 277">
              <a:extLst>
                <a:ext uri="{FF2B5EF4-FFF2-40B4-BE49-F238E27FC236}">
                  <a16:creationId xmlns:a16="http://schemas.microsoft.com/office/drawing/2014/main" id="{D283F06C-1129-13CE-CB50-77A02A630004}"/>
                </a:ext>
              </a:extLst>
            </p:cNvPr>
            <p:cNvCxnSpPr>
              <a:cxnSpLocks/>
            </p:cNvCxnSpPr>
            <p:nvPr/>
          </p:nvCxnSpPr>
          <p:spPr>
            <a:xfrm>
              <a:off x="5926684" y="5942567"/>
              <a:ext cx="356517" cy="0"/>
            </a:xfrm>
            <a:prstGeom prst="line">
              <a:avLst/>
            </a:prstGeom>
            <a:ln w="76200">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279" name="Straight Connector 278">
              <a:extLst>
                <a:ext uri="{FF2B5EF4-FFF2-40B4-BE49-F238E27FC236}">
                  <a16:creationId xmlns:a16="http://schemas.microsoft.com/office/drawing/2014/main" id="{9EF50F24-D350-567D-E199-7938A8BC19E8}"/>
                </a:ext>
              </a:extLst>
            </p:cNvPr>
            <p:cNvCxnSpPr>
              <a:cxnSpLocks/>
            </p:cNvCxnSpPr>
            <p:nvPr/>
          </p:nvCxnSpPr>
          <p:spPr>
            <a:xfrm>
              <a:off x="5926684" y="5751330"/>
              <a:ext cx="356517" cy="0"/>
            </a:xfrm>
            <a:prstGeom prst="line">
              <a:avLst/>
            </a:prstGeom>
            <a:ln w="76200">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280" name="Straight Connector 279">
              <a:extLst>
                <a:ext uri="{FF2B5EF4-FFF2-40B4-BE49-F238E27FC236}">
                  <a16:creationId xmlns:a16="http://schemas.microsoft.com/office/drawing/2014/main" id="{6C23A332-7B82-896A-2921-D385DBAABB71}"/>
                </a:ext>
              </a:extLst>
            </p:cNvPr>
            <p:cNvCxnSpPr>
              <a:cxnSpLocks/>
            </p:cNvCxnSpPr>
            <p:nvPr/>
          </p:nvCxnSpPr>
          <p:spPr>
            <a:xfrm>
              <a:off x="5926684" y="5597636"/>
              <a:ext cx="356517" cy="0"/>
            </a:xfrm>
            <a:prstGeom prst="line">
              <a:avLst/>
            </a:prstGeom>
            <a:ln w="76200">
              <a:solidFill>
                <a:srgbClr val="00B0F0"/>
              </a:solidFill>
            </a:ln>
          </p:spPr>
          <p:style>
            <a:lnRef idx="2">
              <a:schemeClr val="accent1"/>
            </a:lnRef>
            <a:fillRef idx="0">
              <a:schemeClr val="accent1"/>
            </a:fillRef>
            <a:effectRef idx="1">
              <a:schemeClr val="accent1"/>
            </a:effectRef>
            <a:fontRef idx="minor">
              <a:schemeClr val="tx1"/>
            </a:fontRef>
          </p:style>
        </p:cxnSp>
        <p:sp>
          <p:nvSpPr>
            <p:cNvPr id="311" name="Rectangle 310">
              <a:extLst>
                <a:ext uri="{FF2B5EF4-FFF2-40B4-BE49-F238E27FC236}">
                  <a16:creationId xmlns:a16="http://schemas.microsoft.com/office/drawing/2014/main" id="{7B4EA58A-4F2E-1A62-DDC3-D683D3022F8A}"/>
                </a:ext>
              </a:extLst>
            </p:cNvPr>
            <p:cNvSpPr/>
            <p:nvPr/>
          </p:nvSpPr>
          <p:spPr>
            <a:xfrm>
              <a:off x="3656372" y="6059240"/>
              <a:ext cx="571017" cy="284395"/>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3" name="Rectangle 312">
              <a:extLst>
                <a:ext uri="{FF2B5EF4-FFF2-40B4-BE49-F238E27FC236}">
                  <a16:creationId xmlns:a16="http://schemas.microsoft.com/office/drawing/2014/main" id="{5691C41F-93BD-AA1A-ED2F-61DC9110C854}"/>
                </a:ext>
              </a:extLst>
            </p:cNvPr>
            <p:cNvSpPr/>
            <p:nvPr/>
          </p:nvSpPr>
          <p:spPr>
            <a:xfrm>
              <a:off x="4737075" y="6060411"/>
              <a:ext cx="571017" cy="284395"/>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5" name="Rectangle 314">
              <a:extLst>
                <a:ext uri="{FF2B5EF4-FFF2-40B4-BE49-F238E27FC236}">
                  <a16:creationId xmlns:a16="http://schemas.microsoft.com/office/drawing/2014/main" id="{8A1F864B-CDBC-37C1-E6AF-D73EA3824900}"/>
                </a:ext>
              </a:extLst>
            </p:cNvPr>
            <p:cNvSpPr/>
            <p:nvPr/>
          </p:nvSpPr>
          <p:spPr>
            <a:xfrm>
              <a:off x="5810491" y="6059240"/>
              <a:ext cx="571017" cy="284395"/>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600083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0" grpId="0"/>
      <p:bldP spid="196" grpId="0"/>
      <p:bldP spid="221" grpId="0"/>
      <p:bldP spid="260" grpId="0"/>
      <p:bldP spid="28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D95FB-E53D-F1AD-3296-F463B00AB5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3EBFE-CC0D-B2F3-F0DC-2271CABC31D7}"/>
              </a:ext>
            </a:extLst>
          </p:cNvPr>
          <p:cNvSpPr>
            <a:spLocks noGrp="1"/>
          </p:cNvSpPr>
          <p:nvPr>
            <p:ph type="title"/>
          </p:nvPr>
        </p:nvSpPr>
        <p:spPr>
          <a:xfrm>
            <a:off x="798870" y="304625"/>
            <a:ext cx="10999839" cy="1325563"/>
          </a:xfrm>
        </p:spPr>
        <p:txBody>
          <a:bodyPr/>
          <a:lstStyle/>
          <a:p>
            <a:r>
              <a:rPr lang="en-US" dirty="0" err="1">
                <a:latin typeface="Aharoni" panose="02010803020104030203" pitchFamily="2" charset="-79"/>
                <a:cs typeface="Aharoni" panose="02010803020104030203" pitchFamily="2" charset="-79"/>
              </a:rPr>
              <a:t>RADSeq</a:t>
            </a:r>
            <a:r>
              <a:rPr lang="en-US" dirty="0">
                <a:latin typeface="Aharoni" panose="02010803020104030203" pitchFamily="2" charset="-79"/>
                <a:cs typeface="Aharoni" panose="02010803020104030203" pitchFamily="2" charset="-79"/>
              </a:rPr>
              <a:t> and Resequencing</a:t>
            </a:r>
          </a:p>
        </p:txBody>
      </p:sp>
      <p:sp>
        <p:nvSpPr>
          <p:cNvPr id="9" name="TextBox 8">
            <a:extLst>
              <a:ext uri="{FF2B5EF4-FFF2-40B4-BE49-F238E27FC236}">
                <a16:creationId xmlns:a16="http://schemas.microsoft.com/office/drawing/2014/main" id="{3C7D0F26-D64D-4AB3-58AF-E0C68340648F}"/>
              </a:ext>
            </a:extLst>
          </p:cNvPr>
          <p:cNvSpPr txBox="1"/>
          <p:nvPr/>
        </p:nvSpPr>
        <p:spPr>
          <a:xfrm>
            <a:off x="218767" y="1710813"/>
            <a:ext cx="3045129" cy="646331"/>
          </a:xfrm>
          <a:prstGeom prst="rect">
            <a:avLst/>
          </a:prstGeom>
          <a:noFill/>
        </p:spPr>
        <p:txBody>
          <a:bodyPr wrap="none" rtlCol="0">
            <a:spAutoFit/>
          </a:bodyPr>
          <a:lstStyle/>
          <a:p>
            <a:r>
              <a:rPr lang="en-US" dirty="0">
                <a:latin typeface="Abadi" panose="020B0604020104020204" pitchFamily="34" charset="0"/>
              </a:rPr>
              <a:t>Clean and demultiplex reads </a:t>
            </a:r>
          </a:p>
          <a:p>
            <a:r>
              <a:rPr lang="en-US" dirty="0">
                <a:latin typeface="Abadi" panose="020B0604020104020204" pitchFamily="34" charset="0"/>
              </a:rPr>
              <a:t>(find ones with cut sites)</a:t>
            </a:r>
          </a:p>
        </p:txBody>
      </p:sp>
      <p:cxnSp>
        <p:nvCxnSpPr>
          <p:cNvPr id="123" name="Straight Connector 122">
            <a:extLst>
              <a:ext uri="{FF2B5EF4-FFF2-40B4-BE49-F238E27FC236}">
                <a16:creationId xmlns:a16="http://schemas.microsoft.com/office/drawing/2014/main" id="{77B91D7D-43F5-7530-7D4A-983C93D63DB3}"/>
              </a:ext>
            </a:extLst>
          </p:cNvPr>
          <p:cNvCxnSpPr/>
          <p:nvPr/>
        </p:nvCxnSpPr>
        <p:spPr>
          <a:xfrm>
            <a:off x="1094260" y="2650578"/>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24" name="Straight Connector 123">
            <a:extLst>
              <a:ext uri="{FF2B5EF4-FFF2-40B4-BE49-F238E27FC236}">
                <a16:creationId xmlns:a16="http://schemas.microsoft.com/office/drawing/2014/main" id="{24DB6382-4DD4-690F-ADCE-661D601AD21B}"/>
              </a:ext>
            </a:extLst>
          </p:cNvPr>
          <p:cNvCxnSpPr/>
          <p:nvPr/>
        </p:nvCxnSpPr>
        <p:spPr>
          <a:xfrm>
            <a:off x="1298927" y="2855245"/>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19E16298-6323-C9BB-3418-8B015BE4DFD0}"/>
              </a:ext>
            </a:extLst>
          </p:cNvPr>
          <p:cNvCxnSpPr/>
          <p:nvPr/>
        </p:nvCxnSpPr>
        <p:spPr>
          <a:xfrm>
            <a:off x="1503594" y="3059912"/>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677AB784-69B9-A4CA-A2C4-F7F3417DC9AC}"/>
              </a:ext>
            </a:extLst>
          </p:cNvPr>
          <p:cNvCxnSpPr/>
          <p:nvPr/>
        </p:nvCxnSpPr>
        <p:spPr>
          <a:xfrm>
            <a:off x="2165584" y="3416972"/>
            <a:ext cx="356517" cy="0"/>
          </a:xfrm>
          <a:prstGeom prst="line">
            <a:avLst/>
          </a:prstGeom>
          <a:ln w="7620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27" name="Straight Connector 126">
            <a:extLst>
              <a:ext uri="{FF2B5EF4-FFF2-40B4-BE49-F238E27FC236}">
                <a16:creationId xmlns:a16="http://schemas.microsoft.com/office/drawing/2014/main" id="{10083B7A-CE41-7EC0-024A-8E72B66E07E9}"/>
              </a:ext>
            </a:extLst>
          </p:cNvPr>
          <p:cNvCxnSpPr/>
          <p:nvPr/>
        </p:nvCxnSpPr>
        <p:spPr>
          <a:xfrm>
            <a:off x="2370251" y="3621639"/>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28" name="Straight Connector 127">
            <a:extLst>
              <a:ext uri="{FF2B5EF4-FFF2-40B4-BE49-F238E27FC236}">
                <a16:creationId xmlns:a16="http://schemas.microsoft.com/office/drawing/2014/main" id="{9C1522C8-E3EE-96BA-2AF8-E77F379A6A82}"/>
              </a:ext>
            </a:extLst>
          </p:cNvPr>
          <p:cNvCxnSpPr/>
          <p:nvPr/>
        </p:nvCxnSpPr>
        <p:spPr>
          <a:xfrm>
            <a:off x="2013734" y="2393637"/>
            <a:ext cx="356517" cy="0"/>
          </a:xfrm>
          <a:prstGeom prst="line">
            <a:avLst/>
          </a:prstGeom>
          <a:ln w="7620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29" name="Straight Connector 128">
            <a:extLst>
              <a:ext uri="{FF2B5EF4-FFF2-40B4-BE49-F238E27FC236}">
                <a16:creationId xmlns:a16="http://schemas.microsoft.com/office/drawing/2014/main" id="{38634FA1-88EB-1189-8B44-EE167BABFF75}"/>
              </a:ext>
            </a:extLst>
          </p:cNvPr>
          <p:cNvCxnSpPr/>
          <p:nvPr/>
        </p:nvCxnSpPr>
        <p:spPr>
          <a:xfrm>
            <a:off x="2218401" y="2598304"/>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30" name="Straight Connector 129">
            <a:extLst>
              <a:ext uri="{FF2B5EF4-FFF2-40B4-BE49-F238E27FC236}">
                <a16:creationId xmlns:a16="http://schemas.microsoft.com/office/drawing/2014/main" id="{E603B36B-B022-92C2-9DC9-6E10DAD10CAB}"/>
              </a:ext>
            </a:extLst>
          </p:cNvPr>
          <p:cNvCxnSpPr/>
          <p:nvPr/>
        </p:nvCxnSpPr>
        <p:spPr>
          <a:xfrm>
            <a:off x="2423068" y="2802971"/>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145B0721-7D9B-0503-F762-124257BA80DA}"/>
              </a:ext>
            </a:extLst>
          </p:cNvPr>
          <p:cNvCxnSpPr/>
          <p:nvPr/>
        </p:nvCxnSpPr>
        <p:spPr>
          <a:xfrm>
            <a:off x="425244" y="2848485"/>
            <a:ext cx="356517" cy="0"/>
          </a:xfrm>
          <a:prstGeom prst="line">
            <a:avLst/>
          </a:prstGeom>
          <a:ln w="7620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88AC3D34-3C68-B5DA-81DF-5F81A3950C22}"/>
              </a:ext>
            </a:extLst>
          </p:cNvPr>
          <p:cNvCxnSpPr/>
          <p:nvPr/>
        </p:nvCxnSpPr>
        <p:spPr>
          <a:xfrm>
            <a:off x="1180089" y="3673913"/>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04E6FFD5-0D42-9DCC-CF45-B0A58DA9FA26}"/>
              </a:ext>
            </a:extLst>
          </p:cNvPr>
          <p:cNvCxnSpPr/>
          <p:nvPr/>
        </p:nvCxnSpPr>
        <p:spPr>
          <a:xfrm>
            <a:off x="1503594" y="3469246"/>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1F8561C5-D1DE-89AC-CA65-D663C2094BDA}"/>
              </a:ext>
            </a:extLst>
          </p:cNvPr>
          <p:cNvCxnSpPr/>
          <p:nvPr/>
        </p:nvCxnSpPr>
        <p:spPr>
          <a:xfrm>
            <a:off x="1556411" y="2650578"/>
            <a:ext cx="356517" cy="0"/>
          </a:xfrm>
          <a:prstGeom prst="line">
            <a:avLst/>
          </a:prstGeom>
          <a:ln w="7620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35" name="Straight Connector 134">
            <a:extLst>
              <a:ext uri="{FF2B5EF4-FFF2-40B4-BE49-F238E27FC236}">
                <a16:creationId xmlns:a16="http://schemas.microsoft.com/office/drawing/2014/main" id="{22245682-9B66-CC99-4E12-68B520426BC0}"/>
              </a:ext>
            </a:extLst>
          </p:cNvPr>
          <p:cNvCxnSpPr/>
          <p:nvPr/>
        </p:nvCxnSpPr>
        <p:spPr>
          <a:xfrm>
            <a:off x="425244" y="3054939"/>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37989B98-954F-321F-5084-E45AAC7037A6}"/>
              </a:ext>
            </a:extLst>
          </p:cNvPr>
          <p:cNvCxnSpPr/>
          <p:nvPr/>
        </p:nvCxnSpPr>
        <p:spPr>
          <a:xfrm>
            <a:off x="2013734" y="2802971"/>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37" name="Straight Connector 136">
            <a:extLst>
              <a:ext uri="{FF2B5EF4-FFF2-40B4-BE49-F238E27FC236}">
                <a16:creationId xmlns:a16="http://schemas.microsoft.com/office/drawing/2014/main" id="{C9651365-FA88-CFAE-E308-67EA5613E6D9}"/>
              </a:ext>
            </a:extLst>
          </p:cNvPr>
          <p:cNvCxnSpPr/>
          <p:nvPr/>
        </p:nvCxnSpPr>
        <p:spPr>
          <a:xfrm>
            <a:off x="2218401" y="3007638"/>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38" name="Straight Connector 137">
            <a:extLst>
              <a:ext uri="{FF2B5EF4-FFF2-40B4-BE49-F238E27FC236}">
                <a16:creationId xmlns:a16="http://schemas.microsoft.com/office/drawing/2014/main" id="{09347573-156F-5E75-57EB-17F60D202F46}"/>
              </a:ext>
            </a:extLst>
          </p:cNvPr>
          <p:cNvCxnSpPr/>
          <p:nvPr/>
        </p:nvCxnSpPr>
        <p:spPr>
          <a:xfrm>
            <a:off x="2013734" y="3212305"/>
            <a:ext cx="356517" cy="0"/>
          </a:xfrm>
          <a:prstGeom prst="line">
            <a:avLst/>
          </a:prstGeom>
          <a:ln w="7620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39" name="Straight Connector 138">
            <a:extLst>
              <a:ext uri="{FF2B5EF4-FFF2-40B4-BE49-F238E27FC236}">
                <a16:creationId xmlns:a16="http://schemas.microsoft.com/office/drawing/2014/main" id="{581A5810-44DB-D325-A427-6562489059C9}"/>
              </a:ext>
            </a:extLst>
          </p:cNvPr>
          <p:cNvCxnSpPr/>
          <p:nvPr/>
        </p:nvCxnSpPr>
        <p:spPr>
          <a:xfrm>
            <a:off x="676128" y="3490683"/>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40" name="Straight Connector 139">
            <a:extLst>
              <a:ext uri="{FF2B5EF4-FFF2-40B4-BE49-F238E27FC236}">
                <a16:creationId xmlns:a16="http://schemas.microsoft.com/office/drawing/2014/main" id="{BB73E94D-636C-5A10-1352-C902BA0CE132}"/>
              </a:ext>
            </a:extLst>
          </p:cNvPr>
          <p:cNvCxnSpPr/>
          <p:nvPr/>
        </p:nvCxnSpPr>
        <p:spPr>
          <a:xfrm>
            <a:off x="781761" y="3287803"/>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41" name="Straight Connector 140">
            <a:extLst>
              <a:ext uri="{FF2B5EF4-FFF2-40B4-BE49-F238E27FC236}">
                <a16:creationId xmlns:a16="http://schemas.microsoft.com/office/drawing/2014/main" id="{F0EF8345-087F-2BC6-3D90-8CF0ED7F8205}"/>
              </a:ext>
            </a:extLst>
          </p:cNvPr>
          <p:cNvCxnSpPr/>
          <p:nvPr/>
        </p:nvCxnSpPr>
        <p:spPr>
          <a:xfrm>
            <a:off x="372427" y="3287803"/>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42" name="Straight Connector 141">
            <a:extLst>
              <a:ext uri="{FF2B5EF4-FFF2-40B4-BE49-F238E27FC236}">
                <a16:creationId xmlns:a16="http://schemas.microsoft.com/office/drawing/2014/main" id="{48D2A627-D3AB-F415-CAA0-37673F3504C0}"/>
              </a:ext>
            </a:extLst>
          </p:cNvPr>
          <p:cNvCxnSpPr/>
          <p:nvPr/>
        </p:nvCxnSpPr>
        <p:spPr>
          <a:xfrm>
            <a:off x="968818" y="3059912"/>
            <a:ext cx="356517" cy="0"/>
          </a:xfrm>
          <a:prstGeom prst="line">
            <a:avLst/>
          </a:prstGeom>
          <a:ln w="76200">
            <a:solidFill>
              <a:schemeClr val="accent4"/>
            </a:solidFill>
          </a:ln>
        </p:spPr>
        <p:style>
          <a:lnRef idx="2">
            <a:schemeClr val="accent1"/>
          </a:lnRef>
          <a:fillRef idx="0">
            <a:schemeClr val="accent1"/>
          </a:fillRef>
          <a:effectRef idx="1">
            <a:schemeClr val="accent1"/>
          </a:effectRef>
          <a:fontRef idx="minor">
            <a:schemeClr val="tx1"/>
          </a:fontRef>
        </p:style>
      </p:cxnSp>
      <p:sp>
        <p:nvSpPr>
          <p:cNvPr id="150" name="TextBox 149">
            <a:extLst>
              <a:ext uri="{FF2B5EF4-FFF2-40B4-BE49-F238E27FC236}">
                <a16:creationId xmlns:a16="http://schemas.microsoft.com/office/drawing/2014/main" id="{7DA5DEAE-7006-1BF3-61BD-FD170F59A31D}"/>
              </a:ext>
            </a:extLst>
          </p:cNvPr>
          <p:cNvSpPr txBox="1"/>
          <p:nvPr/>
        </p:nvSpPr>
        <p:spPr>
          <a:xfrm>
            <a:off x="6705900" y="1727252"/>
            <a:ext cx="3601242" cy="369332"/>
          </a:xfrm>
          <a:prstGeom prst="rect">
            <a:avLst/>
          </a:prstGeom>
          <a:noFill/>
        </p:spPr>
        <p:txBody>
          <a:bodyPr wrap="none" rtlCol="0">
            <a:spAutoFit/>
          </a:bodyPr>
          <a:lstStyle/>
          <a:p>
            <a:r>
              <a:rPr lang="en-US" dirty="0">
                <a:latin typeface="Abadi" panose="020B0604020104020204" pitchFamily="34" charset="0"/>
              </a:rPr>
              <a:t>Determine variants across samples</a:t>
            </a:r>
          </a:p>
        </p:txBody>
      </p:sp>
      <p:cxnSp>
        <p:nvCxnSpPr>
          <p:cNvPr id="151" name="Straight Connector 150">
            <a:extLst>
              <a:ext uri="{FF2B5EF4-FFF2-40B4-BE49-F238E27FC236}">
                <a16:creationId xmlns:a16="http://schemas.microsoft.com/office/drawing/2014/main" id="{0C42A1E5-114A-95A5-276E-E30075D2D8EC}"/>
              </a:ext>
            </a:extLst>
          </p:cNvPr>
          <p:cNvCxnSpPr>
            <a:cxnSpLocks/>
          </p:cNvCxnSpPr>
          <p:nvPr/>
        </p:nvCxnSpPr>
        <p:spPr>
          <a:xfrm>
            <a:off x="3432382" y="3778694"/>
            <a:ext cx="3038856"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33526D84-16AF-B100-9562-68E78E86D717}"/>
              </a:ext>
            </a:extLst>
          </p:cNvPr>
          <p:cNvCxnSpPr>
            <a:cxnSpLocks/>
          </p:cNvCxnSpPr>
          <p:nvPr/>
        </p:nvCxnSpPr>
        <p:spPr>
          <a:xfrm>
            <a:off x="3701597" y="2397258"/>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53" name="Straight Connector 152">
            <a:extLst>
              <a:ext uri="{FF2B5EF4-FFF2-40B4-BE49-F238E27FC236}">
                <a16:creationId xmlns:a16="http://schemas.microsoft.com/office/drawing/2014/main" id="{DE8CB9F5-3FE2-0A75-C71E-5D7137C61C0A}"/>
              </a:ext>
            </a:extLst>
          </p:cNvPr>
          <p:cNvCxnSpPr>
            <a:cxnSpLocks/>
          </p:cNvCxnSpPr>
          <p:nvPr/>
        </p:nvCxnSpPr>
        <p:spPr>
          <a:xfrm>
            <a:off x="3701597" y="2592093"/>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54" name="Straight Connector 153">
            <a:extLst>
              <a:ext uri="{FF2B5EF4-FFF2-40B4-BE49-F238E27FC236}">
                <a16:creationId xmlns:a16="http://schemas.microsoft.com/office/drawing/2014/main" id="{73C0DE88-760C-3555-6FEE-268D3AB667D3}"/>
              </a:ext>
            </a:extLst>
          </p:cNvPr>
          <p:cNvCxnSpPr>
            <a:cxnSpLocks/>
          </p:cNvCxnSpPr>
          <p:nvPr/>
        </p:nvCxnSpPr>
        <p:spPr>
          <a:xfrm>
            <a:off x="3701597" y="2727936"/>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55" name="Straight Connector 154">
            <a:extLst>
              <a:ext uri="{FF2B5EF4-FFF2-40B4-BE49-F238E27FC236}">
                <a16:creationId xmlns:a16="http://schemas.microsoft.com/office/drawing/2014/main" id="{7195126A-44EA-0A78-9C9E-4EA2F8B2F1BF}"/>
              </a:ext>
            </a:extLst>
          </p:cNvPr>
          <p:cNvCxnSpPr>
            <a:cxnSpLocks/>
          </p:cNvCxnSpPr>
          <p:nvPr/>
        </p:nvCxnSpPr>
        <p:spPr>
          <a:xfrm>
            <a:off x="4951575" y="3206094"/>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56" name="Straight Connector 155">
            <a:extLst>
              <a:ext uri="{FF2B5EF4-FFF2-40B4-BE49-F238E27FC236}">
                <a16:creationId xmlns:a16="http://schemas.microsoft.com/office/drawing/2014/main" id="{44901590-57E1-3F7C-4EBA-45C427C22AFF}"/>
              </a:ext>
            </a:extLst>
          </p:cNvPr>
          <p:cNvCxnSpPr>
            <a:cxnSpLocks/>
          </p:cNvCxnSpPr>
          <p:nvPr/>
        </p:nvCxnSpPr>
        <p:spPr>
          <a:xfrm>
            <a:off x="4951575" y="3410761"/>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57" name="Straight Connector 156">
            <a:extLst>
              <a:ext uri="{FF2B5EF4-FFF2-40B4-BE49-F238E27FC236}">
                <a16:creationId xmlns:a16="http://schemas.microsoft.com/office/drawing/2014/main" id="{58ED3B57-9BF3-E44E-BC6E-5C7396D32406}"/>
              </a:ext>
            </a:extLst>
          </p:cNvPr>
          <p:cNvCxnSpPr>
            <a:cxnSpLocks/>
          </p:cNvCxnSpPr>
          <p:nvPr/>
        </p:nvCxnSpPr>
        <p:spPr>
          <a:xfrm>
            <a:off x="4951575" y="2182759"/>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58" name="Straight Connector 157">
            <a:extLst>
              <a:ext uri="{FF2B5EF4-FFF2-40B4-BE49-F238E27FC236}">
                <a16:creationId xmlns:a16="http://schemas.microsoft.com/office/drawing/2014/main" id="{97DB264B-2AE3-674F-0E32-72A5B6FEEA36}"/>
              </a:ext>
            </a:extLst>
          </p:cNvPr>
          <p:cNvCxnSpPr>
            <a:cxnSpLocks/>
          </p:cNvCxnSpPr>
          <p:nvPr/>
        </p:nvCxnSpPr>
        <p:spPr>
          <a:xfrm>
            <a:off x="4951575" y="2387426"/>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59" name="Straight Connector 158">
            <a:extLst>
              <a:ext uri="{FF2B5EF4-FFF2-40B4-BE49-F238E27FC236}">
                <a16:creationId xmlns:a16="http://schemas.microsoft.com/office/drawing/2014/main" id="{B4E7B5A9-B8FE-E51B-FF41-F8FE2B08545D}"/>
              </a:ext>
            </a:extLst>
          </p:cNvPr>
          <p:cNvCxnSpPr>
            <a:cxnSpLocks/>
          </p:cNvCxnSpPr>
          <p:nvPr/>
        </p:nvCxnSpPr>
        <p:spPr>
          <a:xfrm>
            <a:off x="4951575" y="2592093"/>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60" name="Straight Connector 159">
            <a:extLst>
              <a:ext uri="{FF2B5EF4-FFF2-40B4-BE49-F238E27FC236}">
                <a16:creationId xmlns:a16="http://schemas.microsoft.com/office/drawing/2014/main" id="{966ABA84-BD77-053B-F993-21F216C9F6D6}"/>
              </a:ext>
            </a:extLst>
          </p:cNvPr>
          <p:cNvCxnSpPr>
            <a:cxnSpLocks/>
          </p:cNvCxnSpPr>
          <p:nvPr/>
        </p:nvCxnSpPr>
        <p:spPr>
          <a:xfrm>
            <a:off x="5987269" y="2562082"/>
            <a:ext cx="356517" cy="0"/>
          </a:xfrm>
          <a:prstGeom prst="line">
            <a:avLst/>
          </a:prstGeom>
          <a:ln w="76200">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61" name="Straight Connector 160">
            <a:extLst>
              <a:ext uri="{FF2B5EF4-FFF2-40B4-BE49-F238E27FC236}">
                <a16:creationId xmlns:a16="http://schemas.microsoft.com/office/drawing/2014/main" id="{93370E1F-7A21-0732-5945-A6C610FEDAA1}"/>
              </a:ext>
            </a:extLst>
          </p:cNvPr>
          <p:cNvCxnSpPr>
            <a:cxnSpLocks/>
          </p:cNvCxnSpPr>
          <p:nvPr/>
        </p:nvCxnSpPr>
        <p:spPr>
          <a:xfrm>
            <a:off x="3701597" y="3410761"/>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62" name="Straight Connector 161">
            <a:extLst>
              <a:ext uri="{FF2B5EF4-FFF2-40B4-BE49-F238E27FC236}">
                <a16:creationId xmlns:a16="http://schemas.microsoft.com/office/drawing/2014/main" id="{03838500-8007-136C-4415-E03B03089266}"/>
              </a:ext>
            </a:extLst>
          </p:cNvPr>
          <p:cNvCxnSpPr>
            <a:cxnSpLocks/>
          </p:cNvCxnSpPr>
          <p:nvPr/>
        </p:nvCxnSpPr>
        <p:spPr>
          <a:xfrm>
            <a:off x="3701597" y="3206094"/>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63" name="Straight Connector 162">
            <a:extLst>
              <a:ext uri="{FF2B5EF4-FFF2-40B4-BE49-F238E27FC236}">
                <a16:creationId xmlns:a16="http://schemas.microsoft.com/office/drawing/2014/main" id="{A26F1734-8293-5B57-7650-B33E56CA2B9F}"/>
              </a:ext>
            </a:extLst>
          </p:cNvPr>
          <p:cNvCxnSpPr>
            <a:cxnSpLocks/>
          </p:cNvCxnSpPr>
          <p:nvPr/>
        </p:nvCxnSpPr>
        <p:spPr>
          <a:xfrm>
            <a:off x="3701597" y="2220277"/>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64" name="Straight Connector 163">
            <a:extLst>
              <a:ext uri="{FF2B5EF4-FFF2-40B4-BE49-F238E27FC236}">
                <a16:creationId xmlns:a16="http://schemas.microsoft.com/office/drawing/2014/main" id="{BA9467A3-825A-2671-14FA-F921A573B3C1}"/>
              </a:ext>
            </a:extLst>
          </p:cNvPr>
          <p:cNvCxnSpPr>
            <a:cxnSpLocks/>
          </p:cNvCxnSpPr>
          <p:nvPr/>
        </p:nvCxnSpPr>
        <p:spPr>
          <a:xfrm>
            <a:off x="5987269" y="2768536"/>
            <a:ext cx="356517" cy="0"/>
          </a:xfrm>
          <a:prstGeom prst="line">
            <a:avLst/>
          </a:prstGeom>
          <a:ln w="76200">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65" name="Straight Connector 164">
            <a:extLst>
              <a:ext uri="{FF2B5EF4-FFF2-40B4-BE49-F238E27FC236}">
                <a16:creationId xmlns:a16="http://schemas.microsoft.com/office/drawing/2014/main" id="{EB11DF7E-E4DE-51FF-B8F7-AD4596CA44E0}"/>
              </a:ext>
            </a:extLst>
          </p:cNvPr>
          <p:cNvCxnSpPr>
            <a:cxnSpLocks/>
          </p:cNvCxnSpPr>
          <p:nvPr/>
        </p:nvCxnSpPr>
        <p:spPr>
          <a:xfrm>
            <a:off x="4951575" y="2592093"/>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66" name="Straight Connector 165">
            <a:extLst>
              <a:ext uri="{FF2B5EF4-FFF2-40B4-BE49-F238E27FC236}">
                <a16:creationId xmlns:a16="http://schemas.microsoft.com/office/drawing/2014/main" id="{03A76FFD-C318-AAF1-80FF-1EF58BC03A21}"/>
              </a:ext>
            </a:extLst>
          </p:cNvPr>
          <p:cNvCxnSpPr>
            <a:cxnSpLocks/>
          </p:cNvCxnSpPr>
          <p:nvPr/>
        </p:nvCxnSpPr>
        <p:spPr>
          <a:xfrm>
            <a:off x="4951575" y="2796760"/>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67" name="Straight Connector 166">
            <a:extLst>
              <a:ext uri="{FF2B5EF4-FFF2-40B4-BE49-F238E27FC236}">
                <a16:creationId xmlns:a16="http://schemas.microsoft.com/office/drawing/2014/main" id="{788BE855-2C17-9DFD-2420-94E64B5AE35C}"/>
              </a:ext>
            </a:extLst>
          </p:cNvPr>
          <p:cNvCxnSpPr>
            <a:cxnSpLocks/>
          </p:cNvCxnSpPr>
          <p:nvPr/>
        </p:nvCxnSpPr>
        <p:spPr>
          <a:xfrm>
            <a:off x="4951575" y="3001427"/>
            <a:ext cx="356517" cy="0"/>
          </a:xfrm>
          <a:prstGeom prst="line">
            <a:avLst/>
          </a:prstGeom>
          <a:ln w="76200">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68" name="Straight Connector 167">
            <a:extLst>
              <a:ext uri="{FF2B5EF4-FFF2-40B4-BE49-F238E27FC236}">
                <a16:creationId xmlns:a16="http://schemas.microsoft.com/office/drawing/2014/main" id="{70CE5369-DD0B-20F3-E9E9-B1AF142A1673}"/>
              </a:ext>
            </a:extLst>
          </p:cNvPr>
          <p:cNvCxnSpPr>
            <a:cxnSpLocks/>
          </p:cNvCxnSpPr>
          <p:nvPr/>
        </p:nvCxnSpPr>
        <p:spPr>
          <a:xfrm>
            <a:off x="5987269" y="3346331"/>
            <a:ext cx="356517" cy="0"/>
          </a:xfrm>
          <a:prstGeom prst="line">
            <a:avLst/>
          </a:prstGeom>
          <a:ln w="76200">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69" name="Straight Connector 168">
            <a:extLst>
              <a:ext uri="{FF2B5EF4-FFF2-40B4-BE49-F238E27FC236}">
                <a16:creationId xmlns:a16="http://schemas.microsoft.com/office/drawing/2014/main" id="{694BE9B4-81DC-9193-07F8-93CE247BEF8A}"/>
              </a:ext>
            </a:extLst>
          </p:cNvPr>
          <p:cNvCxnSpPr>
            <a:cxnSpLocks/>
          </p:cNvCxnSpPr>
          <p:nvPr/>
        </p:nvCxnSpPr>
        <p:spPr>
          <a:xfrm>
            <a:off x="5987269" y="3155094"/>
            <a:ext cx="356517" cy="0"/>
          </a:xfrm>
          <a:prstGeom prst="line">
            <a:avLst/>
          </a:prstGeom>
          <a:ln w="76200">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70" name="Straight Connector 169">
            <a:extLst>
              <a:ext uri="{FF2B5EF4-FFF2-40B4-BE49-F238E27FC236}">
                <a16:creationId xmlns:a16="http://schemas.microsoft.com/office/drawing/2014/main" id="{061EF499-4EAC-7A1B-8427-C22A75368F46}"/>
              </a:ext>
            </a:extLst>
          </p:cNvPr>
          <p:cNvCxnSpPr>
            <a:cxnSpLocks/>
          </p:cNvCxnSpPr>
          <p:nvPr/>
        </p:nvCxnSpPr>
        <p:spPr>
          <a:xfrm>
            <a:off x="5987269" y="3001400"/>
            <a:ext cx="356517" cy="0"/>
          </a:xfrm>
          <a:prstGeom prst="line">
            <a:avLst/>
          </a:prstGeom>
          <a:ln w="76200">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71" name="Straight Connector 170">
            <a:extLst>
              <a:ext uri="{FF2B5EF4-FFF2-40B4-BE49-F238E27FC236}">
                <a16:creationId xmlns:a16="http://schemas.microsoft.com/office/drawing/2014/main" id="{8E78087F-00B6-53C2-C44F-523EC001D85A}"/>
              </a:ext>
            </a:extLst>
          </p:cNvPr>
          <p:cNvCxnSpPr>
            <a:cxnSpLocks/>
          </p:cNvCxnSpPr>
          <p:nvPr/>
        </p:nvCxnSpPr>
        <p:spPr>
          <a:xfrm>
            <a:off x="3701597" y="2904913"/>
            <a:ext cx="356517" cy="0"/>
          </a:xfrm>
          <a:prstGeom prst="line">
            <a:avLst/>
          </a:prstGeom>
          <a:ln w="76200">
            <a:solidFill>
              <a:srgbClr val="FFC000"/>
            </a:solidFill>
          </a:ln>
        </p:spPr>
        <p:style>
          <a:lnRef idx="2">
            <a:schemeClr val="accent1"/>
          </a:lnRef>
          <a:fillRef idx="0">
            <a:schemeClr val="accent1"/>
          </a:fillRef>
          <a:effectRef idx="1">
            <a:schemeClr val="accent1"/>
          </a:effectRef>
          <a:fontRef idx="minor">
            <a:schemeClr val="tx1"/>
          </a:fontRef>
        </p:style>
      </p:cxnSp>
      <p:sp>
        <p:nvSpPr>
          <p:cNvPr id="172" name="Star: 5 Points 171">
            <a:extLst>
              <a:ext uri="{FF2B5EF4-FFF2-40B4-BE49-F238E27FC236}">
                <a16:creationId xmlns:a16="http://schemas.microsoft.com/office/drawing/2014/main" id="{27B7C202-41C7-14F6-28FC-411BD0A4EE12}"/>
              </a:ext>
            </a:extLst>
          </p:cNvPr>
          <p:cNvSpPr/>
          <p:nvPr/>
        </p:nvSpPr>
        <p:spPr>
          <a:xfrm>
            <a:off x="4951575" y="3563163"/>
            <a:ext cx="366688" cy="348742"/>
          </a:xfrm>
          <a:prstGeom prst="star5">
            <a:avLst/>
          </a:prstGeom>
          <a:solidFill>
            <a:schemeClr val="accent5">
              <a:lumMod val="60000"/>
              <a:lumOff val="4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Star: 5 Points 172">
            <a:extLst>
              <a:ext uri="{FF2B5EF4-FFF2-40B4-BE49-F238E27FC236}">
                <a16:creationId xmlns:a16="http://schemas.microsoft.com/office/drawing/2014/main" id="{26980C7E-0FC5-B2FE-D416-3FB2C17EF6D9}"/>
              </a:ext>
            </a:extLst>
          </p:cNvPr>
          <p:cNvSpPr/>
          <p:nvPr/>
        </p:nvSpPr>
        <p:spPr>
          <a:xfrm>
            <a:off x="3701597" y="3561992"/>
            <a:ext cx="366688" cy="348742"/>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4" name="Star: 5 Points 173">
            <a:extLst>
              <a:ext uri="{FF2B5EF4-FFF2-40B4-BE49-F238E27FC236}">
                <a16:creationId xmlns:a16="http://schemas.microsoft.com/office/drawing/2014/main" id="{10F3971D-6AD3-42D1-AE53-9730521859CA}"/>
              </a:ext>
            </a:extLst>
          </p:cNvPr>
          <p:cNvSpPr/>
          <p:nvPr/>
        </p:nvSpPr>
        <p:spPr>
          <a:xfrm>
            <a:off x="6045404" y="3561992"/>
            <a:ext cx="366688" cy="348742"/>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4" name="Straight Connector 93">
            <a:extLst>
              <a:ext uri="{FF2B5EF4-FFF2-40B4-BE49-F238E27FC236}">
                <a16:creationId xmlns:a16="http://schemas.microsoft.com/office/drawing/2014/main" id="{8E5C8F15-72DD-5EEE-DBC9-90DF74D6D214}"/>
              </a:ext>
            </a:extLst>
          </p:cNvPr>
          <p:cNvCxnSpPr>
            <a:cxnSpLocks/>
          </p:cNvCxnSpPr>
          <p:nvPr/>
        </p:nvCxnSpPr>
        <p:spPr>
          <a:xfrm>
            <a:off x="7036878" y="2352224"/>
            <a:ext cx="27432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117" name="Star: 5 Points 116">
            <a:extLst>
              <a:ext uri="{FF2B5EF4-FFF2-40B4-BE49-F238E27FC236}">
                <a16:creationId xmlns:a16="http://schemas.microsoft.com/office/drawing/2014/main" id="{78A04AE3-9D11-B7C5-24C1-B843025DFE3B}"/>
              </a:ext>
            </a:extLst>
          </p:cNvPr>
          <p:cNvSpPr/>
          <p:nvPr/>
        </p:nvSpPr>
        <p:spPr>
          <a:xfrm>
            <a:off x="8497006" y="2080478"/>
            <a:ext cx="462327" cy="439700"/>
          </a:xfrm>
          <a:prstGeom prst="star5">
            <a:avLst/>
          </a:prstGeom>
          <a:solidFill>
            <a:schemeClr val="accent5">
              <a:lumMod val="60000"/>
              <a:lumOff val="4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119" name="Star: 5 Points 118">
            <a:extLst>
              <a:ext uri="{FF2B5EF4-FFF2-40B4-BE49-F238E27FC236}">
                <a16:creationId xmlns:a16="http://schemas.microsoft.com/office/drawing/2014/main" id="{B9208EEC-64A8-F5AE-2EA4-E82CAB72E75C}"/>
              </a:ext>
            </a:extLst>
          </p:cNvPr>
          <p:cNvSpPr/>
          <p:nvPr/>
        </p:nvSpPr>
        <p:spPr>
          <a:xfrm>
            <a:off x="7376310" y="2079002"/>
            <a:ext cx="462327" cy="439700"/>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20" name="Star: 5 Points 119">
            <a:extLst>
              <a:ext uri="{FF2B5EF4-FFF2-40B4-BE49-F238E27FC236}">
                <a16:creationId xmlns:a16="http://schemas.microsoft.com/office/drawing/2014/main" id="{B05B3405-B99F-4B8B-08BA-7BF6E15B4C00}"/>
              </a:ext>
            </a:extLst>
          </p:cNvPr>
          <p:cNvSpPr/>
          <p:nvPr/>
        </p:nvSpPr>
        <p:spPr>
          <a:xfrm>
            <a:off x="9230840" y="2079002"/>
            <a:ext cx="462327" cy="439700"/>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179" name="Straight Connector 178">
            <a:extLst>
              <a:ext uri="{FF2B5EF4-FFF2-40B4-BE49-F238E27FC236}">
                <a16:creationId xmlns:a16="http://schemas.microsoft.com/office/drawing/2014/main" id="{2B6CC846-0C5C-8557-61AF-8CDF3452DC95}"/>
              </a:ext>
            </a:extLst>
          </p:cNvPr>
          <p:cNvCxnSpPr>
            <a:cxnSpLocks/>
          </p:cNvCxnSpPr>
          <p:nvPr/>
        </p:nvCxnSpPr>
        <p:spPr>
          <a:xfrm>
            <a:off x="7037412" y="2850792"/>
            <a:ext cx="27432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180" name="Star: 5 Points 179">
            <a:extLst>
              <a:ext uri="{FF2B5EF4-FFF2-40B4-BE49-F238E27FC236}">
                <a16:creationId xmlns:a16="http://schemas.microsoft.com/office/drawing/2014/main" id="{C524158B-3248-6924-9871-AA7805AA573B}"/>
              </a:ext>
            </a:extLst>
          </p:cNvPr>
          <p:cNvSpPr/>
          <p:nvPr/>
        </p:nvSpPr>
        <p:spPr>
          <a:xfrm>
            <a:off x="8497539" y="2579046"/>
            <a:ext cx="462327" cy="439700"/>
          </a:xfrm>
          <a:prstGeom prst="star5">
            <a:avLst/>
          </a:prstGeom>
          <a:solidFill>
            <a:schemeClr val="accent5">
              <a:lumMod val="60000"/>
              <a:lumOff val="4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181" name="Star: 5 Points 180">
            <a:extLst>
              <a:ext uri="{FF2B5EF4-FFF2-40B4-BE49-F238E27FC236}">
                <a16:creationId xmlns:a16="http://schemas.microsoft.com/office/drawing/2014/main" id="{78D17A11-9943-7491-BD9B-F693425A1327}"/>
              </a:ext>
            </a:extLst>
          </p:cNvPr>
          <p:cNvSpPr/>
          <p:nvPr/>
        </p:nvSpPr>
        <p:spPr>
          <a:xfrm>
            <a:off x="7376843" y="2577570"/>
            <a:ext cx="462327" cy="439700"/>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82" name="Star: 5 Points 181">
            <a:extLst>
              <a:ext uri="{FF2B5EF4-FFF2-40B4-BE49-F238E27FC236}">
                <a16:creationId xmlns:a16="http://schemas.microsoft.com/office/drawing/2014/main" id="{BC4880E4-C18B-ED34-0A19-34821E03610A}"/>
              </a:ext>
            </a:extLst>
          </p:cNvPr>
          <p:cNvSpPr/>
          <p:nvPr/>
        </p:nvSpPr>
        <p:spPr>
          <a:xfrm>
            <a:off x="9231374" y="2577570"/>
            <a:ext cx="462327" cy="439700"/>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183" name="Straight Connector 182">
            <a:extLst>
              <a:ext uri="{FF2B5EF4-FFF2-40B4-BE49-F238E27FC236}">
                <a16:creationId xmlns:a16="http://schemas.microsoft.com/office/drawing/2014/main" id="{154024FB-3338-EDCE-134F-1BED8F5E4701}"/>
              </a:ext>
            </a:extLst>
          </p:cNvPr>
          <p:cNvCxnSpPr>
            <a:cxnSpLocks/>
          </p:cNvCxnSpPr>
          <p:nvPr/>
        </p:nvCxnSpPr>
        <p:spPr>
          <a:xfrm>
            <a:off x="7054962" y="3350110"/>
            <a:ext cx="27432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184" name="Star: 5 Points 183">
            <a:extLst>
              <a:ext uri="{FF2B5EF4-FFF2-40B4-BE49-F238E27FC236}">
                <a16:creationId xmlns:a16="http://schemas.microsoft.com/office/drawing/2014/main" id="{D75FE453-63EE-7FA1-3307-DF8663A296C6}"/>
              </a:ext>
            </a:extLst>
          </p:cNvPr>
          <p:cNvSpPr/>
          <p:nvPr/>
        </p:nvSpPr>
        <p:spPr>
          <a:xfrm>
            <a:off x="8515089" y="3078365"/>
            <a:ext cx="462327" cy="439700"/>
          </a:xfrm>
          <a:prstGeom prst="star5">
            <a:avLst/>
          </a:prstGeom>
          <a:solidFill>
            <a:schemeClr val="accent5">
              <a:lumMod val="60000"/>
              <a:lumOff val="4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85" name="Star: 5 Points 184">
            <a:extLst>
              <a:ext uri="{FF2B5EF4-FFF2-40B4-BE49-F238E27FC236}">
                <a16:creationId xmlns:a16="http://schemas.microsoft.com/office/drawing/2014/main" id="{A45FB3D7-830E-7AF8-5365-9FF7669B3631}"/>
              </a:ext>
            </a:extLst>
          </p:cNvPr>
          <p:cNvSpPr/>
          <p:nvPr/>
        </p:nvSpPr>
        <p:spPr>
          <a:xfrm>
            <a:off x="7394393" y="3076888"/>
            <a:ext cx="462327" cy="439700"/>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86" name="Star: 5 Points 185">
            <a:extLst>
              <a:ext uri="{FF2B5EF4-FFF2-40B4-BE49-F238E27FC236}">
                <a16:creationId xmlns:a16="http://schemas.microsoft.com/office/drawing/2014/main" id="{4A53F843-AA8A-5EAC-FE0A-59D13F45BBC8}"/>
              </a:ext>
            </a:extLst>
          </p:cNvPr>
          <p:cNvSpPr/>
          <p:nvPr/>
        </p:nvSpPr>
        <p:spPr>
          <a:xfrm>
            <a:off x="9248924" y="3076888"/>
            <a:ext cx="462327" cy="439700"/>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cxnSp>
        <p:nvCxnSpPr>
          <p:cNvPr id="187" name="Straight Connector 186">
            <a:extLst>
              <a:ext uri="{FF2B5EF4-FFF2-40B4-BE49-F238E27FC236}">
                <a16:creationId xmlns:a16="http://schemas.microsoft.com/office/drawing/2014/main" id="{F93EF58E-126E-EA48-2E7F-CE349A4C367C}"/>
              </a:ext>
            </a:extLst>
          </p:cNvPr>
          <p:cNvCxnSpPr>
            <a:cxnSpLocks/>
          </p:cNvCxnSpPr>
          <p:nvPr/>
        </p:nvCxnSpPr>
        <p:spPr>
          <a:xfrm>
            <a:off x="7055495" y="3848678"/>
            <a:ext cx="27432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188" name="Star: 5 Points 187">
            <a:extLst>
              <a:ext uri="{FF2B5EF4-FFF2-40B4-BE49-F238E27FC236}">
                <a16:creationId xmlns:a16="http://schemas.microsoft.com/office/drawing/2014/main" id="{F1A616F2-5DCE-59C0-FAEC-FC87512C5602}"/>
              </a:ext>
            </a:extLst>
          </p:cNvPr>
          <p:cNvSpPr/>
          <p:nvPr/>
        </p:nvSpPr>
        <p:spPr>
          <a:xfrm>
            <a:off x="8515623" y="3576933"/>
            <a:ext cx="462327" cy="439700"/>
          </a:xfrm>
          <a:prstGeom prst="star5">
            <a:avLst/>
          </a:prstGeom>
          <a:solidFill>
            <a:schemeClr val="accent5">
              <a:lumMod val="60000"/>
              <a:lumOff val="4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89" name="Star: 5 Points 188">
            <a:extLst>
              <a:ext uri="{FF2B5EF4-FFF2-40B4-BE49-F238E27FC236}">
                <a16:creationId xmlns:a16="http://schemas.microsoft.com/office/drawing/2014/main" id="{BBBEA415-7A5B-8A3B-592D-A9A96462E272}"/>
              </a:ext>
            </a:extLst>
          </p:cNvPr>
          <p:cNvSpPr/>
          <p:nvPr/>
        </p:nvSpPr>
        <p:spPr>
          <a:xfrm>
            <a:off x="7394927" y="3575456"/>
            <a:ext cx="462327" cy="439700"/>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190" name="Star: 5 Points 189">
            <a:extLst>
              <a:ext uri="{FF2B5EF4-FFF2-40B4-BE49-F238E27FC236}">
                <a16:creationId xmlns:a16="http://schemas.microsoft.com/office/drawing/2014/main" id="{13D9DEC8-25E1-A1DB-C871-DF5059CC0632}"/>
              </a:ext>
            </a:extLst>
          </p:cNvPr>
          <p:cNvSpPr/>
          <p:nvPr/>
        </p:nvSpPr>
        <p:spPr>
          <a:xfrm>
            <a:off x="9249457" y="3575456"/>
            <a:ext cx="462327" cy="439700"/>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196" name="TextBox 195">
            <a:extLst>
              <a:ext uri="{FF2B5EF4-FFF2-40B4-BE49-F238E27FC236}">
                <a16:creationId xmlns:a16="http://schemas.microsoft.com/office/drawing/2014/main" id="{721BFB4C-02C6-3511-EDA0-5C651A75FEA8}"/>
              </a:ext>
            </a:extLst>
          </p:cNvPr>
          <p:cNvSpPr txBox="1"/>
          <p:nvPr/>
        </p:nvSpPr>
        <p:spPr>
          <a:xfrm>
            <a:off x="3656372" y="1760388"/>
            <a:ext cx="2780313" cy="369332"/>
          </a:xfrm>
          <a:prstGeom prst="rect">
            <a:avLst/>
          </a:prstGeom>
          <a:noFill/>
        </p:spPr>
        <p:txBody>
          <a:bodyPr wrap="none" rtlCol="0">
            <a:spAutoFit/>
          </a:bodyPr>
          <a:lstStyle/>
          <a:p>
            <a:r>
              <a:rPr lang="en-US" dirty="0">
                <a:latin typeface="Abadi" panose="020B0604020104020204" pitchFamily="34" charset="0"/>
              </a:rPr>
              <a:t>Align to reference genome</a:t>
            </a:r>
          </a:p>
        </p:txBody>
      </p:sp>
      <p:sp>
        <p:nvSpPr>
          <p:cNvPr id="221" name="TextBox 220">
            <a:extLst>
              <a:ext uri="{FF2B5EF4-FFF2-40B4-BE49-F238E27FC236}">
                <a16:creationId xmlns:a16="http://schemas.microsoft.com/office/drawing/2014/main" id="{E4AC1081-D6C9-B12C-54E4-F4F9E2FF9D41}"/>
              </a:ext>
            </a:extLst>
          </p:cNvPr>
          <p:cNvSpPr txBox="1"/>
          <p:nvPr/>
        </p:nvSpPr>
        <p:spPr>
          <a:xfrm>
            <a:off x="10307142" y="1750970"/>
            <a:ext cx="1788631" cy="369332"/>
          </a:xfrm>
          <a:prstGeom prst="rect">
            <a:avLst/>
          </a:prstGeom>
          <a:noFill/>
        </p:spPr>
        <p:txBody>
          <a:bodyPr wrap="none" rtlCol="0">
            <a:spAutoFit/>
          </a:bodyPr>
          <a:lstStyle/>
          <a:p>
            <a:r>
              <a:rPr lang="en-US" dirty="0">
                <a:latin typeface="Abadi" panose="020B0604020104020204" pitchFamily="34" charset="0"/>
              </a:rPr>
              <a:t>Analyze variants</a:t>
            </a:r>
          </a:p>
        </p:txBody>
      </p:sp>
      <p:cxnSp>
        <p:nvCxnSpPr>
          <p:cNvPr id="236" name="Straight Connector 235">
            <a:extLst>
              <a:ext uri="{FF2B5EF4-FFF2-40B4-BE49-F238E27FC236}">
                <a16:creationId xmlns:a16="http://schemas.microsoft.com/office/drawing/2014/main" id="{86CA2FB9-766D-07E4-9AF5-13239B5E110E}"/>
              </a:ext>
            </a:extLst>
          </p:cNvPr>
          <p:cNvCxnSpPr>
            <a:cxnSpLocks/>
          </p:cNvCxnSpPr>
          <p:nvPr/>
        </p:nvCxnSpPr>
        <p:spPr>
          <a:xfrm>
            <a:off x="9894268" y="2334329"/>
            <a:ext cx="154300" cy="243241"/>
          </a:xfrm>
          <a:prstGeom prst="line">
            <a:avLst/>
          </a:prstGeom>
        </p:spPr>
        <p:style>
          <a:lnRef idx="2">
            <a:schemeClr val="accent1"/>
          </a:lnRef>
          <a:fillRef idx="0">
            <a:schemeClr val="accent1"/>
          </a:fillRef>
          <a:effectRef idx="1">
            <a:schemeClr val="accent1"/>
          </a:effectRef>
          <a:fontRef idx="minor">
            <a:schemeClr val="tx1"/>
          </a:fontRef>
        </p:style>
      </p:cxnSp>
      <p:cxnSp>
        <p:nvCxnSpPr>
          <p:cNvPr id="238" name="Straight Connector 237">
            <a:extLst>
              <a:ext uri="{FF2B5EF4-FFF2-40B4-BE49-F238E27FC236}">
                <a16:creationId xmlns:a16="http://schemas.microsoft.com/office/drawing/2014/main" id="{DEE7F911-822B-B448-7CA2-D3E996184D9A}"/>
              </a:ext>
            </a:extLst>
          </p:cNvPr>
          <p:cNvCxnSpPr>
            <a:cxnSpLocks/>
          </p:cNvCxnSpPr>
          <p:nvPr/>
        </p:nvCxnSpPr>
        <p:spPr>
          <a:xfrm flipV="1">
            <a:off x="9932869" y="2562082"/>
            <a:ext cx="115699" cy="206454"/>
          </a:xfrm>
          <a:prstGeom prst="line">
            <a:avLst/>
          </a:prstGeom>
        </p:spPr>
        <p:style>
          <a:lnRef idx="2">
            <a:schemeClr val="accent1"/>
          </a:lnRef>
          <a:fillRef idx="0">
            <a:schemeClr val="accent1"/>
          </a:fillRef>
          <a:effectRef idx="1">
            <a:schemeClr val="accent1"/>
          </a:effectRef>
          <a:fontRef idx="minor">
            <a:schemeClr val="tx1"/>
          </a:fontRef>
        </p:style>
      </p:cxnSp>
      <p:cxnSp>
        <p:nvCxnSpPr>
          <p:cNvPr id="243" name="Straight Connector 242">
            <a:extLst>
              <a:ext uri="{FF2B5EF4-FFF2-40B4-BE49-F238E27FC236}">
                <a16:creationId xmlns:a16="http://schemas.microsoft.com/office/drawing/2014/main" id="{63DD6E98-FA69-2E03-F7A9-7204BAAB4166}"/>
              </a:ext>
            </a:extLst>
          </p:cNvPr>
          <p:cNvCxnSpPr>
            <a:cxnSpLocks/>
          </p:cNvCxnSpPr>
          <p:nvPr/>
        </p:nvCxnSpPr>
        <p:spPr>
          <a:xfrm>
            <a:off x="9932869" y="3346331"/>
            <a:ext cx="837449" cy="6443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5" name="Straight Connector 244">
            <a:extLst>
              <a:ext uri="{FF2B5EF4-FFF2-40B4-BE49-F238E27FC236}">
                <a16:creationId xmlns:a16="http://schemas.microsoft.com/office/drawing/2014/main" id="{37C0EED8-ECB3-7517-5FA9-3A64C2663AF1}"/>
              </a:ext>
            </a:extLst>
          </p:cNvPr>
          <p:cNvCxnSpPr>
            <a:cxnSpLocks/>
          </p:cNvCxnSpPr>
          <p:nvPr/>
        </p:nvCxnSpPr>
        <p:spPr>
          <a:xfrm flipV="1">
            <a:off x="9971418" y="3429000"/>
            <a:ext cx="798900" cy="374599"/>
          </a:xfrm>
          <a:prstGeom prst="line">
            <a:avLst/>
          </a:prstGeom>
        </p:spPr>
        <p:style>
          <a:lnRef idx="2">
            <a:schemeClr val="accent1"/>
          </a:lnRef>
          <a:fillRef idx="0">
            <a:schemeClr val="accent1"/>
          </a:fillRef>
          <a:effectRef idx="1">
            <a:schemeClr val="accent1"/>
          </a:effectRef>
          <a:fontRef idx="minor">
            <a:schemeClr val="tx1"/>
          </a:fontRef>
        </p:style>
      </p:cxnSp>
      <p:cxnSp>
        <p:nvCxnSpPr>
          <p:cNvPr id="248" name="Straight Connector 247">
            <a:extLst>
              <a:ext uri="{FF2B5EF4-FFF2-40B4-BE49-F238E27FC236}">
                <a16:creationId xmlns:a16="http://schemas.microsoft.com/office/drawing/2014/main" id="{A074A5B0-DD0B-2A4C-C58D-53E48F43F5F4}"/>
              </a:ext>
            </a:extLst>
          </p:cNvPr>
          <p:cNvCxnSpPr>
            <a:cxnSpLocks/>
          </p:cNvCxnSpPr>
          <p:nvPr/>
        </p:nvCxnSpPr>
        <p:spPr>
          <a:xfrm flipV="1">
            <a:off x="10770318" y="2915631"/>
            <a:ext cx="1294867" cy="513369"/>
          </a:xfrm>
          <a:prstGeom prst="line">
            <a:avLst/>
          </a:prstGeom>
        </p:spPr>
        <p:style>
          <a:lnRef idx="2">
            <a:schemeClr val="accent1"/>
          </a:lnRef>
          <a:fillRef idx="0">
            <a:schemeClr val="accent1"/>
          </a:fillRef>
          <a:effectRef idx="1">
            <a:schemeClr val="accent1"/>
          </a:effectRef>
          <a:fontRef idx="minor">
            <a:schemeClr val="tx1"/>
          </a:fontRef>
        </p:style>
      </p:cxnSp>
      <p:cxnSp>
        <p:nvCxnSpPr>
          <p:cNvPr id="250" name="Straight Connector 249">
            <a:extLst>
              <a:ext uri="{FF2B5EF4-FFF2-40B4-BE49-F238E27FC236}">
                <a16:creationId xmlns:a16="http://schemas.microsoft.com/office/drawing/2014/main" id="{C77BCFD3-02E5-CF3D-2C38-57EB886C8635}"/>
              </a:ext>
            </a:extLst>
          </p:cNvPr>
          <p:cNvCxnSpPr/>
          <p:nvPr/>
        </p:nvCxnSpPr>
        <p:spPr>
          <a:xfrm>
            <a:off x="10048568" y="2562082"/>
            <a:ext cx="2047205" cy="342831"/>
          </a:xfrm>
          <a:prstGeom prst="line">
            <a:avLst/>
          </a:prstGeom>
        </p:spPr>
        <p:style>
          <a:lnRef idx="2">
            <a:schemeClr val="accent1"/>
          </a:lnRef>
          <a:fillRef idx="0">
            <a:schemeClr val="accent1"/>
          </a:fillRef>
          <a:effectRef idx="1">
            <a:schemeClr val="accent1"/>
          </a:effectRef>
          <a:fontRef idx="minor">
            <a:schemeClr val="tx1"/>
          </a:fontRef>
        </p:style>
      </p:cxnSp>
      <p:cxnSp>
        <p:nvCxnSpPr>
          <p:cNvPr id="258" name="Connector: Curved 257">
            <a:extLst>
              <a:ext uri="{FF2B5EF4-FFF2-40B4-BE49-F238E27FC236}">
                <a16:creationId xmlns:a16="http://schemas.microsoft.com/office/drawing/2014/main" id="{BF0D5858-0C89-CFA1-283C-BA974469D27B}"/>
              </a:ext>
            </a:extLst>
          </p:cNvPr>
          <p:cNvCxnSpPr>
            <a:cxnSpLocks/>
          </p:cNvCxnSpPr>
          <p:nvPr/>
        </p:nvCxnSpPr>
        <p:spPr>
          <a:xfrm rot="16200000" flipH="1">
            <a:off x="1273174" y="4051209"/>
            <a:ext cx="1146227" cy="791021"/>
          </a:xfrm>
          <a:prstGeom prst="curvedConnector3">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309" name="Connector: Curved 308">
            <a:extLst>
              <a:ext uri="{FF2B5EF4-FFF2-40B4-BE49-F238E27FC236}">
                <a16:creationId xmlns:a16="http://schemas.microsoft.com/office/drawing/2014/main" id="{5C89F09A-37D2-73E2-C6BA-D65F4839A0FD}"/>
              </a:ext>
            </a:extLst>
          </p:cNvPr>
          <p:cNvCxnSpPr/>
          <p:nvPr/>
        </p:nvCxnSpPr>
        <p:spPr>
          <a:xfrm rot="5400000" flipH="1" flipV="1">
            <a:off x="9589692" y="4132790"/>
            <a:ext cx="1822319" cy="904567"/>
          </a:xfrm>
          <a:prstGeom prst="curvedConnector3">
            <a:avLst/>
          </a:prstGeom>
          <a:ln w="76200">
            <a:tailEnd type="triangle"/>
          </a:ln>
        </p:spPr>
        <p:style>
          <a:lnRef idx="2">
            <a:schemeClr val="accent1"/>
          </a:lnRef>
          <a:fillRef idx="0">
            <a:schemeClr val="accent1"/>
          </a:fillRef>
          <a:effectRef idx="1">
            <a:schemeClr val="accent1"/>
          </a:effectRef>
          <a:fontRef idx="minor">
            <a:schemeClr val="tx1"/>
          </a:fontRef>
        </p:style>
      </p:cxnSp>
      <p:grpSp>
        <p:nvGrpSpPr>
          <p:cNvPr id="64" name="Group 63">
            <a:extLst>
              <a:ext uri="{FF2B5EF4-FFF2-40B4-BE49-F238E27FC236}">
                <a16:creationId xmlns:a16="http://schemas.microsoft.com/office/drawing/2014/main" id="{8B09859D-7B63-4910-C0AF-5747C09432CE}"/>
              </a:ext>
            </a:extLst>
          </p:cNvPr>
          <p:cNvGrpSpPr/>
          <p:nvPr/>
        </p:nvGrpSpPr>
        <p:grpSpPr>
          <a:xfrm>
            <a:off x="7091759" y="4430049"/>
            <a:ext cx="2832573" cy="1937631"/>
            <a:chOff x="7091759" y="4430049"/>
            <a:chExt cx="2832573" cy="1937631"/>
          </a:xfrm>
        </p:grpSpPr>
        <p:cxnSp>
          <p:nvCxnSpPr>
            <p:cNvPr id="65" name="Straight Connector 64">
              <a:extLst>
                <a:ext uri="{FF2B5EF4-FFF2-40B4-BE49-F238E27FC236}">
                  <a16:creationId xmlns:a16="http://schemas.microsoft.com/office/drawing/2014/main" id="{17402507-0706-42EF-BE69-8CDC8C5BF34C}"/>
                </a:ext>
              </a:extLst>
            </p:cNvPr>
            <p:cNvCxnSpPr>
              <a:cxnSpLocks/>
            </p:cNvCxnSpPr>
            <p:nvPr/>
          </p:nvCxnSpPr>
          <p:spPr>
            <a:xfrm>
              <a:off x="7162515" y="4703271"/>
              <a:ext cx="27432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66" name="Star: 5 Points 65">
              <a:extLst>
                <a:ext uri="{FF2B5EF4-FFF2-40B4-BE49-F238E27FC236}">
                  <a16:creationId xmlns:a16="http://schemas.microsoft.com/office/drawing/2014/main" id="{3C6A4A1B-859D-6358-8969-1C6D1CD3F8B3}"/>
                </a:ext>
              </a:extLst>
            </p:cNvPr>
            <p:cNvSpPr/>
            <p:nvPr/>
          </p:nvSpPr>
          <p:spPr>
            <a:xfrm>
              <a:off x="8563651" y="4431525"/>
              <a:ext cx="462327" cy="439700"/>
            </a:xfrm>
            <a:prstGeom prst="star5">
              <a:avLst/>
            </a:prstGeom>
            <a:solidFill>
              <a:schemeClr val="accent5">
                <a:lumMod val="60000"/>
                <a:lumOff val="4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67" name="Star: 5 Points 66">
              <a:extLst>
                <a:ext uri="{FF2B5EF4-FFF2-40B4-BE49-F238E27FC236}">
                  <a16:creationId xmlns:a16="http://schemas.microsoft.com/office/drawing/2014/main" id="{0FC88DFD-A43D-39DB-9B6D-0626D671389A}"/>
                </a:ext>
              </a:extLst>
            </p:cNvPr>
            <p:cNvSpPr/>
            <p:nvPr/>
          </p:nvSpPr>
          <p:spPr>
            <a:xfrm>
              <a:off x="7501947" y="4430049"/>
              <a:ext cx="462327" cy="439700"/>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68" name="Star: 5 Points 67">
              <a:extLst>
                <a:ext uri="{FF2B5EF4-FFF2-40B4-BE49-F238E27FC236}">
                  <a16:creationId xmlns:a16="http://schemas.microsoft.com/office/drawing/2014/main" id="{AB753DDB-B05D-BDA2-F0C1-88AA4C7DFAA5}"/>
                </a:ext>
              </a:extLst>
            </p:cNvPr>
            <p:cNvSpPr/>
            <p:nvPr/>
          </p:nvSpPr>
          <p:spPr>
            <a:xfrm>
              <a:off x="9356477" y="4430049"/>
              <a:ext cx="462327" cy="439700"/>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69" name="Straight Connector 68">
              <a:extLst>
                <a:ext uri="{FF2B5EF4-FFF2-40B4-BE49-F238E27FC236}">
                  <a16:creationId xmlns:a16="http://schemas.microsoft.com/office/drawing/2014/main" id="{E75950F8-0926-24E7-4BCC-A9F17506890C}"/>
                </a:ext>
              </a:extLst>
            </p:cNvPr>
            <p:cNvCxnSpPr>
              <a:cxnSpLocks/>
            </p:cNvCxnSpPr>
            <p:nvPr/>
          </p:nvCxnSpPr>
          <p:spPr>
            <a:xfrm>
              <a:off x="7163049" y="5201839"/>
              <a:ext cx="27432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70" name="Star: 5 Points 69">
              <a:extLst>
                <a:ext uri="{FF2B5EF4-FFF2-40B4-BE49-F238E27FC236}">
                  <a16:creationId xmlns:a16="http://schemas.microsoft.com/office/drawing/2014/main" id="{B8FF01C2-87DC-AA9E-3612-AE55A1F85380}"/>
                </a:ext>
              </a:extLst>
            </p:cNvPr>
            <p:cNvSpPr/>
            <p:nvPr/>
          </p:nvSpPr>
          <p:spPr>
            <a:xfrm>
              <a:off x="8564184" y="4930093"/>
              <a:ext cx="462327" cy="439700"/>
            </a:xfrm>
            <a:prstGeom prst="star5">
              <a:avLst/>
            </a:prstGeom>
            <a:solidFill>
              <a:schemeClr val="accent5">
                <a:lumMod val="60000"/>
                <a:lumOff val="4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71" name="Star: 5 Points 70">
              <a:extLst>
                <a:ext uri="{FF2B5EF4-FFF2-40B4-BE49-F238E27FC236}">
                  <a16:creationId xmlns:a16="http://schemas.microsoft.com/office/drawing/2014/main" id="{A572C2F0-A1C1-AE9F-5DD7-B08A7E45E5E4}"/>
                </a:ext>
              </a:extLst>
            </p:cNvPr>
            <p:cNvSpPr/>
            <p:nvPr/>
          </p:nvSpPr>
          <p:spPr>
            <a:xfrm>
              <a:off x="7502480" y="4928617"/>
              <a:ext cx="462327" cy="439700"/>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2" name="Star: 5 Points 71">
              <a:extLst>
                <a:ext uri="{FF2B5EF4-FFF2-40B4-BE49-F238E27FC236}">
                  <a16:creationId xmlns:a16="http://schemas.microsoft.com/office/drawing/2014/main" id="{0128EA60-78BD-F8D3-13E0-AC6F5B4524C7}"/>
                </a:ext>
              </a:extLst>
            </p:cNvPr>
            <p:cNvSpPr/>
            <p:nvPr/>
          </p:nvSpPr>
          <p:spPr>
            <a:xfrm>
              <a:off x="9357011" y="4928617"/>
              <a:ext cx="462327" cy="439700"/>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73" name="Straight Connector 72">
              <a:extLst>
                <a:ext uri="{FF2B5EF4-FFF2-40B4-BE49-F238E27FC236}">
                  <a16:creationId xmlns:a16="http://schemas.microsoft.com/office/drawing/2014/main" id="{62F00B53-C752-98BF-FACD-0B3A2214D340}"/>
                </a:ext>
              </a:extLst>
            </p:cNvPr>
            <p:cNvCxnSpPr>
              <a:cxnSpLocks/>
            </p:cNvCxnSpPr>
            <p:nvPr/>
          </p:nvCxnSpPr>
          <p:spPr>
            <a:xfrm>
              <a:off x="7180599" y="5701157"/>
              <a:ext cx="27432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74" name="Star: 5 Points 73">
              <a:extLst>
                <a:ext uri="{FF2B5EF4-FFF2-40B4-BE49-F238E27FC236}">
                  <a16:creationId xmlns:a16="http://schemas.microsoft.com/office/drawing/2014/main" id="{FD289B02-31CE-1B03-434B-94A5B6D31CD3}"/>
                </a:ext>
              </a:extLst>
            </p:cNvPr>
            <p:cNvSpPr/>
            <p:nvPr/>
          </p:nvSpPr>
          <p:spPr>
            <a:xfrm>
              <a:off x="8581734" y="5429412"/>
              <a:ext cx="462327" cy="439700"/>
            </a:xfrm>
            <a:prstGeom prst="star5">
              <a:avLst/>
            </a:prstGeom>
            <a:solidFill>
              <a:schemeClr val="accent5">
                <a:lumMod val="60000"/>
                <a:lumOff val="4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75" name="Star: 5 Points 74">
              <a:extLst>
                <a:ext uri="{FF2B5EF4-FFF2-40B4-BE49-F238E27FC236}">
                  <a16:creationId xmlns:a16="http://schemas.microsoft.com/office/drawing/2014/main" id="{62780B65-DF84-9342-A9A8-8765277747DB}"/>
                </a:ext>
              </a:extLst>
            </p:cNvPr>
            <p:cNvSpPr/>
            <p:nvPr/>
          </p:nvSpPr>
          <p:spPr>
            <a:xfrm>
              <a:off x="7520030" y="5427935"/>
              <a:ext cx="462327" cy="439700"/>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6" name="Star: 5 Points 75">
              <a:extLst>
                <a:ext uri="{FF2B5EF4-FFF2-40B4-BE49-F238E27FC236}">
                  <a16:creationId xmlns:a16="http://schemas.microsoft.com/office/drawing/2014/main" id="{648725B1-0165-CC2A-1E51-D4B1B8A9BBD6}"/>
                </a:ext>
              </a:extLst>
            </p:cNvPr>
            <p:cNvSpPr/>
            <p:nvPr/>
          </p:nvSpPr>
          <p:spPr>
            <a:xfrm>
              <a:off x="9374561" y="5427935"/>
              <a:ext cx="462327" cy="439700"/>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cxnSp>
          <p:nvCxnSpPr>
            <p:cNvPr id="77" name="Straight Connector 76">
              <a:extLst>
                <a:ext uri="{FF2B5EF4-FFF2-40B4-BE49-F238E27FC236}">
                  <a16:creationId xmlns:a16="http://schemas.microsoft.com/office/drawing/2014/main" id="{268DBDBF-8D22-E671-387A-162698BF38D6}"/>
                </a:ext>
              </a:extLst>
            </p:cNvPr>
            <p:cNvCxnSpPr>
              <a:cxnSpLocks/>
            </p:cNvCxnSpPr>
            <p:nvPr/>
          </p:nvCxnSpPr>
          <p:spPr>
            <a:xfrm>
              <a:off x="7181132" y="6199725"/>
              <a:ext cx="274320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78" name="Star: 5 Points 77">
              <a:extLst>
                <a:ext uri="{FF2B5EF4-FFF2-40B4-BE49-F238E27FC236}">
                  <a16:creationId xmlns:a16="http://schemas.microsoft.com/office/drawing/2014/main" id="{4806CD90-887F-1EE6-1A9C-803509B1C0E4}"/>
                </a:ext>
              </a:extLst>
            </p:cNvPr>
            <p:cNvSpPr/>
            <p:nvPr/>
          </p:nvSpPr>
          <p:spPr>
            <a:xfrm>
              <a:off x="8582268" y="5927980"/>
              <a:ext cx="462327" cy="439700"/>
            </a:xfrm>
            <a:prstGeom prst="star5">
              <a:avLst/>
            </a:prstGeom>
            <a:solidFill>
              <a:schemeClr val="accent5">
                <a:lumMod val="60000"/>
                <a:lumOff val="4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79" name="Star: 5 Points 78">
              <a:extLst>
                <a:ext uri="{FF2B5EF4-FFF2-40B4-BE49-F238E27FC236}">
                  <a16:creationId xmlns:a16="http://schemas.microsoft.com/office/drawing/2014/main" id="{D378C2C7-33AF-45B6-FA2F-8AF5CAC49EE0}"/>
                </a:ext>
              </a:extLst>
            </p:cNvPr>
            <p:cNvSpPr/>
            <p:nvPr/>
          </p:nvSpPr>
          <p:spPr>
            <a:xfrm>
              <a:off x="7520564" y="5926503"/>
              <a:ext cx="462327" cy="439700"/>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80" name="Star: 5 Points 79">
              <a:extLst>
                <a:ext uri="{FF2B5EF4-FFF2-40B4-BE49-F238E27FC236}">
                  <a16:creationId xmlns:a16="http://schemas.microsoft.com/office/drawing/2014/main" id="{71C01E9B-2641-712F-EE3A-F5D78C2C3A42}"/>
                </a:ext>
              </a:extLst>
            </p:cNvPr>
            <p:cNvSpPr/>
            <p:nvPr/>
          </p:nvSpPr>
          <p:spPr>
            <a:xfrm>
              <a:off x="9375094" y="5926503"/>
              <a:ext cx="462327" cy="439700"/>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82" name="Star: 5 Points 81">
              <a:extLst>
                <a:ext uri="{FF2B5EF4-FFF2-40B4-BE49-F238E27FC236}">
                  <a16:creationId xmlns:a16="http://schemas.microsoft.com/office/drawing/2014/main" id="{E01711CD-6D72-1240-9649-F4870FD2BB1C}"/>
                </a:ext>
              </a:extLst>
            </p:cNvPr>
            <p:cNvSpPr/>
            <p:nvPr/>
          </p:nvSpPr>
          <p:spPr>
            <a:xfrm>
              <a:off x="7091759" y="4430049"/>
              <a:ext cx="462327" cy="439700"/>
            </a:xfrm>
            <a:prstGeom prst="star5">
              <a:avLst/>
            </a:prstGeom>
            <a:solidFill>
              <a:srgbClr val="FFFF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84" name="Star: 5 Points 83">
              <a:extLst>
                <a:ext uri="{FF2B5EF4-FFF2-40B4-BE49-F238E27FC236}">
                  <a16:creationId xmlns:a16="http://schemas.microsoft.com/office/drawing/2014/main" id="{66574EB6-D9F3-D49E-B7C5-68395CD811AD}"/>
                </a:ext>
              </a:extLst>
            </p:cNvPr>
            <p:cNvSpPr/>
            <p:nvPr/>
          </p:nvSpPr>
          <p:spPr>
            <a:xfrm>
              <a:off x="7092292" y="4928617"/>
              <a:ext cx="462327" cy="439700"/>
            </a:xfrm>
            <a:prstGeom prst="star5">
              <a:avLst/>
            </a:prstGeom>
            <a:solidFill>
              <a:srgbClr val="FFFF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t>
              </a:r>
            </a:p>
          </p:txBody>
        </p:sp>
        <p:sp>
          <p:nvSpPr>
            <p:cNvPr id="86" name="Star: 5 Points 85">
              <a:extLst>
                <a:ext uri="{FF2B5EF4-FFF2-40B4-BE49-F238E27FC236}">
                  <a16:creationId xmlns:a16="http://schemas.microsoft.com/office/drawing/2014/main" id="{246E2944-5374-0CAF-88CA-3583C65591EE}"/>
                </a:ext>
              </a:extLst>
            </p:cNvPr>
            <p:cNvSpPr/>
            <p:nvPr/>
          </p:nvSpPr>
          <p:spPr>
            <a:xfrm>
              <a:off x="7109842" y="5427935"/>
              <a:ext cx="462327" cy="439700"/>
            </a:xfrm>
            <a:prstGeom prst="star5">
              <a:avLst/>
            </a:prstGeom>
            <a:solidFill>
              <a:srgbClr val="FFFF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t>
              </a:r>
            </a:p>
          </p:txBody>
        </p:sp>
        <p:sp>
          <p:nvSpPr>
            <p:cNvPr id="88" name="Star: 5 Points 87">
              <a:extLst>
                <a:ext uri="{FF2B5EF4-FFF2-40B4-BE49-F238E27FC236}">
                  <a16:creationId xmlns:a16="http://schemas.microsoft.com/office/drawing/2014/main" id="{81016B18-F9F6-DA59-91A6-63D579EC5EBE}"/>
                </a:ext>
              </a:extLst>
            </p:cNvPr>
            <p:cNvSpPr/>
            <p:nvPr/>
          </p:nvSpPr>
          <p:spPr>
            <a:xfrm>
              <a:off x="7110376" y="5926503"/>
              <a:ext cx="462327" cy="439700"/>
            </a:xfrm>
            <a:prstGeom prst="star5">
              <a:avLst/>
            </a:prstGeom>
            <a:solidFill>
              <a:srgbClr val="FFFF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t>
              </a:r>
            </a:p>
          </p:txBody>
        </p:sp>
        <p:sp>
          <p:nvSpPr>
            <p:cNvPr id="98" name="Star: 5 Points 97">
              <a:extLst>
                <a:ext uri="{FF2B5EF4-FFF2-40B4-BE49-F238E27FC236}">
                  <a16:creationId xmlns:a16="http://schemas.microsoft.com/office/drawing/2014/main" id="{0B1246D1-B15B-D75A-96DB-95D2DC3140AA}"/>
                </a:ext>
              </a:extLst>
            </p:cNvPr>
            <p:cNvSpPr/>
            <p:nvPr/>
          </p:nvSpPr>
          <p:spPr>
            <a:xfrm>
              <a:off x="8040891" y="4430049"/>
              <a:ext cx="462327" cy="439700"/>
            </a:xfrm>
            <a:prstGeom prst="star5">
              <a:avLst/>
            </a:prstGeom>
            <a:solidFill>
              <a:srgbClr val="FF0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99" name="Star: 5 Points 98">
              <a:extLst>
                <a:ext uri="{FF2B5EF4-FFF2-40B4-BE49-F238E27FC236}">
                  <a16:creationId xmlns:a16="http://schemas.microsoft.com/office/drawing/2014/main" id="{6056CC12-2176-D8AE-AABC-1597FB706466}"/>
                </a:ext>
              </a:extLst>
            </p:cNvPr>
            <p:cNvSpPr/>
            <p:nvPr/>
          </p:nvSpPr>
          <p:spPr>
            <a:xfrm>
              <a:off x="8041424" y="4928617"/>
              <a:ext cx="462327" cy="439700"/>
            </a:xfrm>
            <a:prstGeom prst="star5">
              <a:avLst/>
            </a:prstGeom>
            <a:solidFill>
              <a:srgbClr val="FF0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00" name="Star: 5 Points 99">
              <a:extLst>
                <a:ext uri="{FF2B5EF4-FFF2-40B4-BE49-F238E27FC236}">
                  <a16:creationId xmlns:a16="http://schemas.microsoft.com/office/drawing/2014/main" id="{80681C6C-3E9B-E24A-4CDB-2F84C0461D3C}"/>
                </a:ext>
              </a:extLst>
            </p:cNvPr>
            <p:cNvSpPr/>
            <p:nvPr/>
          </p:nvSpPr>
          <p:spPr>
            <a:xfrm>
              <a:off x="8058974" y="5427935"/>
              <a:ext cx="462327" cy="439700"/>
            </a:xfrm>
            <a:prstGeom prst="star5">
              <a:avLst/>
            </a:prstGeom>
            <a:solidFill>
              <a:srgbClr val="FF0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01" name="Star: 5 Points 100">
              <a:extLst>
                <a:ext uri="{FF2B5EF4-FFF2-40B4-BE49-F238E27FC236}">
                  <a16:creationId xmlns:a16="http://schemas.microsoft.com/office/drawing/2014/main" id="{65149E2E-21F4-7EA8-60DC-C59E2B54A385}"/>
                </a:ext>
              </a:extLst>
            </p:cNvPr>
            <p:cNvSpPr/>
            <p:nvPr/>
          </p:nvSpPr>
          <p:spPr>
            <a:xfrm>
              <a:off x="8059508" y="5926503"/>
              <a:ext cx="462327" cy="439700"/>
            </a:xfrm>
            <a:prstGeom prst="star5">
              <a:avLst/>
            </a:prstGeom>
            <a:solidFill>
              <a:srgbClr val="FF0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103" name="Star: 5 Points 102">
              <a:extLst>
                <a:ext uri="{FF2B5EF4-FFF2-40B4-BE49-F238E27FC236}">
                  <a16:creationId xmlns:a16="http://schemas.microsoft.com/office/drawing/2014/main" id="{2FAD17FD-D691-A7CC-F994-A80DC98CC445}"/>
                </a:ext>
              </a:extLst>
            </p:cNvPr>
            <p:cNvSpPr/>
            <p:nvPr/>
          </p:nvSpPr>
          <p:spPr>
            <a:xfrm>
              <a:off x="8996659" y="4430049"/>
              <a:ext cx="462327" cy="439700"/>
            </a:xfrm>
            <a:prstGeom prst="star5">
              <a:avLst>
                <a:gd name="adj" fmla="val 19098"/>
                <a:gd name="hf" fmla="val 105146"/>
                <a:gd name="vf" fmla="val 110557"/>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a:t>
              </a:r>
            </a:p>
          </p:txBody>
        </p:sp>
        <p:sp>
          <p:nvSpPr>
            <p:cNvPr id="105" name="Star: 5 Points 104">
              <a:extLst>
                <a:ext uri="{FF2B5EF4-FFF2-40B4-BE49-F238E27FC236}">
                  <a16:creationId xmlns:a16="http://schemas.microsoft.com/office/drawing/2014/main" id="{31D7F607-0033-6216-3452-E03944186529}"/>
                </a:ext>
              </a:extLst>
            </p:cNvPr>
            <p:cNvSpPr/>
            <p:nvPr/>
          </p:nvSpPr>
          <p:spPr>
            <a:xfrm>
              <a:off x="8997193" y="4928617"/>
              <a:ext cx="462327" cy="439700"/>
            </a:xfrm>
            <a:prstGeom prst="star5">
              <a:avLst>
                <a:gd name="adj" fmla="val 19098"/>
                <a:gd name="hf" fmla="val 105146"/>
                <a:gd name="vf" fmla="val 110557"/>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a:t>
              </a:r>
            </a:p>
          </p:txBody>
        </p:sp>
        <p:sp>
          <p:nvSpPr>
            <p:cNvPr id="107" name="Star: 5 Points 106">
              <a:extLst>
                <a:ext uri="{FF2B5EF4-FFF2-40B4-BE49-F238E27FC236}">
                  <a16:creationId xmlns:a16="http://schemas.microsoft.com/office/drawing/2014/main" id="{0AB9DF67-A1C0-E7E2-AF70-CB7A5B472106}"/>
                </a:ext>
              </a:extLst>
            </p:cNvPr>
            <p:cNvSpPr/>
            <p:nvPr/>
          </p:nvSpPr>
          <p:spPr>
            <a:xfrm>
              <a:off x="9014743" y="5427935"/>
              <a:ext cx="462327" cy="439700"/>
            </a:xfrm>
            <a:prstGeom prst="star5">
              <a:avLst>
                <a:gd name="adj" fmla="val 19098"/>
                <a:gd name="hf" fmla="val 105146"/>
                <a:gd name="vf" fmla="val 110557"/>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a:t>
              </a:r>
            </a:p>
          </p:txBody>
        </p:sp>
        <p:sp>
          <p:nvSpPr>
            <p:cNvPr id="109" name="Star: 5 Points 108">
              <a:extLst>
                <a:ext uri="{FF2B5EF4-FFF2-40B4-BE49-F238E27FC236}">
                  <a16:creationId xmlns:a16="http://schemas.microsoft.com/office/drawing/2014/main" id="{1EB8B858-FAEE-71D0-6F1C-90E623CD557A}"/>
                </a:ext>
              </a:extLst>
            </p:cNvPr>
            <p:cNvSpPr/>
            <p:nvPr/>
          </p:nvSpPr>
          <p:spPr>
            <a:xfrm>
              <a:off x="9015276" y="5926503"/>
              <a:ext cx="462327" cy="439700"/>
            </a:xfrm>
            <a:prstGeom prst="star5">
              <a:avLst>
                <a:gd name="adj" fmla="val 19098"/>
                <a:gd name="hf" fmla="val 105146"/>
                <a:gd name="vf" fmla="val 110557"/>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T</a:t>
              </a:r>
            </a:p>
          </p:txBody>
        </p:sp>
      </p:grpSp>
      <p:grpSp>
        <p:nvGrpSpPr>
          <p:cNvPr id="3" name="Group 2">
            <a:extLst>
              <a:ext uri="{FF2B5EF4-FFF2-40B4-BE49-F238E27FC236}">
                <a16:creationId xmlns:a16="http://schemas.microsoft.com/office/drawing/2014/main" id="{AD7B6D69-C245-CCED-51FA-5C877E5510AA}"/>
              </a:ext>
            </a:extLst>
          </p:cNvPr>
          <p:cNvGrpSpPr/>
          <p:nvPr/>
        </p:nvGrpSpPr>
        <p:grpSpPr>
          <a:xfrm>
            <a:off x="2364966" y="4795381"/>
            <a:ext cx="4666627" cy="1527773"/>
            <a:chOff x="7816645" y="365125"/>
            <a:chExt cx="3932903" cy="1287564"/>
          </a:xfrm>
        </p:grpSpPr>
        <p:cxnSp>
          <p:nvCxnSpPr>
            <p:cNvPr id="4" name="Straight Connector 3">
              <a:extLst>
                <a:ext uri="{FF2B5EF4-FFF2-40B4-BE49-F238E27FC236}">
                  <a16:creationId xmlns:a16="http://schemas.microsoft.com/office/drawing/2014/main" id="{A79B649C-87C3-F42B-4377-6E3457770259}"/>
                </a:ext>
              </a:extLst>
            </p:cNvPr>
            <p:cNvCxnSpPr/>
            <p:nvPr/>
          </p:nvCxnSpPr>
          <p:spPr>
            <a:xfrm>
              <a:off x="8082116" y="1553497"/>
              <a:ext cx="3667432"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88509E84-7D9B-1A0B-ABF9-9AD01E7B19C9}"/>
                </a:ext>
              </a:extLst>
            </p:cNvPr>
            <p:cNvCxnSpPr/>
            <p:nvPr/>
          </p:nvCxnSpPr>
          <p:spPr>
            <a:xfrm>
              <a:off x="8150942" y="365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E427308-D9A4-5032-9B71-4F2CEA2E246D}"/>
                </a:ext>
              </a:extLst>
            </p:cNvPr>
            <p:cNvCxnSpPr/>
            <p:nvPr/>
          </p:nvCxnSpPr>
          <p:spPr>
            <a:xfrm>
              <a:off x="8303342" y="517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3847253-1D5A-F361-3C0B-374F340EC759}"/>
                </a:ext>
              </a:extLst>
            </p:cNvPr>
            <p:cNvCxnSpPr/>
            <p:nvPr/>
          </p:nvCxnSpPr>
          <p:spPr>
            <a:xfrm>
              <a:off x="8455742" y="6699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BA733B5-B3C9-AFD2-B4C7-0D5D421C89DA}"/>
                </a:ext>
              </a:extLst>
            </p:cNvPr>
            <p:cNvCxnSpPr/>
            <p:nvPr/>
          </p:nvCxnSpPr>
          <p:spPr>
            <a:xfrm>
              <a:off x="8608142" y="8223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81E3920-994B-1561-3B54-AF32D7986B55}"/>
                </a:ext>
              </a:extLst>
            </p:cNvPr>
            <p:cNvCxnSpPr/>
            <p:nvPr/>
          </p:nvCxnSpPr>
          <p:spPr>
            <a:xfrm>
              <a:off x="8760542" y="9747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BD47EF0-7F54-31FC-3425-5FCC15A0606C}"/>
                </a:ext>
              </a:extLst>
            </p:cNvPr>
            <p:cNvCxnSpPr/>
            <p:nvPr/>
          </p:nvCxnSpPr>
          <p:spPr>
            <a:xfrm>
              <a:off x="8912942" y="1127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FDE94AB-D10D-F5D2-7B0C-6DC646AA6AD9}"/>
                </a:ext>
              </a:extLst>
            </p:cNvPr>
            <p:cNvCxnSpPr/>
            <p:nvPr/>
          </p:nvCxnSpPr>
          <p:spPr>
            <a:xfrm>
              <a:off x="9266904" y="8223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5AC32A87-C52D-D1C4-F4DC-E1C7D99D588C}"/>
                </a:ext>
              </a:extLst>
            </p:cNvPr>
            <p:cNvCxnSpPr/>
            <p:nvPr/>
          </p:nvCxnSpPr>
          <p:spPr>
            <a:xfrm>
              <a:off x="9419304" y="9747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15AB13A-7705-B320-3F02-FE78A222F067}"/>
                </a:ext>
              </a:extLst>
            </p:cNvPr>
            <p:cNvCxnSpPr/>
            <p:nvPr/>
          </p:nvCxnSpPr>
          <p:spPr>
            <a:xfrm>
              <a:off x="9571704" y="1127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94C23F7-2A64-489D-B71F-59757D4AD1F3}"/>
                </a:ext>
              </a:extLst>
            </p:cNvPr>
            <p:cNvCxnSpPr/>
            <p:nvPr/>
          </p:nvCxnSpPr>
          <p:spPr>
            <a:xfrm>
              <a:off x="9724104" y="1279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7BBE924-EEC9-DE30-9D36-9955B954E0C1}"/>
                </a:ext>
              </a:extLst>
            </p:cNvPr>
            <p:cNvCxnSpPr/>
            <p:nvPr/>
          </p:nvCxnSpPr>
          <p:spPr>
            <a:xfrm>
              <a:off x="9964994" y="1127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7392CE9-D001-C9A6-BE1F-34C2AA846948}"/>
                </a:ext>
              </a:extLst>
            </p:cNvPr>
            <p:cNvCxnSpPr/>
            <p:nvPr/>
          </p:nvCxnSpPr>
          <p:spPr>
            <a:xfrm>
              <a:off x="10117394" y="1279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91010428-064D-C66C-7D5C-7C1CB207B6B6}"/>
                </a:ext>
              </a:extLst>
            </p:cNvPr>
            <p:cNvCxnSpPr/>
            <p:nvPr/>
          </p:nvCxnSpPr>
          <p:spPr>
            <a:xfrm>
              <a:off x="10269794" y="14319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294732F-0812-32FA-3C9E-1B44789335E6}"/>
                </a:ext>
              </a:extLst>
            </p:cNvPr>
            <p:cNvCxnSpPr/>
            <p:nvPr/>
          </p:nvCxnSpPr>
          <p:spPr>
            <a:xfrm>
              <a:off x="10776156" y="1279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43616DC8-37EB-1124-6FC4-812E99D4E7DE}"/>
                </a:ext>
              </a:extLst>
            </p:cNvPr>
            <p:cNvCxnSpPr/>
            <p:nvPr/>
          </p:nvCxnSpPr>
          <p:spPr>
            <a:xfrm>
              <a:off x="10928556" y="14319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F53D3F8-714C-6B6A-E9BC-9BDD53488720}"/>
                </a:ext>
              </a:extLst>
            </p:cNvPr>
            <p:cNvCxnSpPr/>
            <p:nvPr/>
          </p:nvCxnSpPr>
          <p:spPr>
            <a:xfrm>
              <a:off x="9851923" y="365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9DD20641-84A3-57B9-618D-27221D53550A}"/>
                </a:ext>
              </a:extLst>
            </p:cNvPr>
            <p:cNvCxnSpPr/>
            <p:nvPr/>
          </p:nvCxnSpPr>
          <p:spPr>
            <a:xfrm>
              <a:off x="10004323" y="517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2F22225B-130A-43A2-9B29-83713B7339C1}"/>
                </a:ext>
              </a:extLst>
            </p:cNvPr>
            <p:cNvCxnSpPr/>
            <p:nvPr/>
          </p:nvCxnSpPr>
          <p:spPr>
            <a:xfrm>
              <a:off x="10156723" y="6699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05100E8-B606-CAD4-2313-B47F19033296}"/>
                </a:ext>
              </a:extLst>
            </p:cNvPr>
            <p:cNvCxnSpPr/>
            <p:nvPr/>
          </p:nvCxnSpPr>
          <p:spPr>
            <a:xfrm>
              <a:off x="10510685" y="365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264FBDCB-7523-27CC-FF91-D8224BFDF635}"/>
                </a:ext>
              </a:extLst>
            </p:cNvPr>
            <p:cNvCxnSpPr/>
            <p:nvPr/>
          </p:nvCxnSpPr>
          <p:spPr>
            <a:xfrm>
              <a:off x="10663085" y="517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36EDBCA0-6165-4D54-57E7-8366B979250C}"/>
                </a:ext>
              </a:extLst>
            </p:cNvPr>
            <p:cNvCxnSpPr/>
            <p:nvPr/>
          </p:nvCxnSpPr>
          <p:spPr>
            <a:xfrm>
              <a:off x="10815485" y="6699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736FC345-EF5C-A6A7-5F66-5AD7231B8239}"/>
                </a:ext>
              </a:extLst>
            </p:cNvPr>
            <p:cNvCxnSpPr/>
            <p:nvPr/>
          </p:nvCxnSpPr>
          <p:spPr>
            <a:xfrm>
              <a:off x="11208775" y="6699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29085A54-3D5D-8AEB-1CC5-F928A8599BAF}"/>
                </a:ext>
              </a:extLst>
            </p:cNvPr>
            <p:cNvCxnSpPr/>
            <p:nvPr/>
          </p:nvCxnSpPr>
          <p:spPr>
            <a:xfrm>
              <a:off x="8214852" y="1127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3534C840-EA1D-2C9A-84E1-7CCE7853F2EF}"/>
                </a:ext>
              </a:extLst>
            </p:cNvPr>
            <p:cNvCxnSpPr/>
            <p:nvPr/>
          </p:nvCxnSpPr>
          <p:spPr>
            <a:xfrm>
              <a:off x="8367252" y="1279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385E3FFC-07C9-1180-AE26-BFA9C6C9ED9D}"/>
                </a:ext>
              </a:extLst>
            </p:cNvPr>
            <p:cNvCxnSpPr/>
            <p:nvPr/>
          </p:nvCxnSpPr>
          <p:spPr>
            <a:xfrm>
              <a:off x="8608142" y="1127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D240B904-AE3D-160A-1ADD-94757125741C}"/>
                </a:ext>
              </a:extLst>
            </p:cNvPr>
            <p:cNvCxnSpPr/>
            <p:nvPr/>
          </p:nvCxnSpPr>
          <p:spPr>
            <a:xfrm>
              <a:off x="8647471" y="517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5572CB43-200F-099D-4525-DB6B83BFBD18}"/>
                </a:ext>
              </a:extLst>
            </p:cNvPr>
            <p:cNvCxnSpPr/>
            <p:nvPr/>
          </p:nvCxnSpPr>
          <p:spPr>
            <a:xfrm>
              <a:off x="10550013" y="823656"/>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7A591440-01AA-2F55-A0D6-89779FD323E1}"/>
                </a:ext>
              </a:extLst>
            </p:cNvPr>
            <p:cNvCxnSpPr/>
            <p:nvPr/>
          </p:nvCxnSpPr>
          <p:spPr>
            <a:xfrm>
              <a:off x="10702413" y="976056"/>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157A720C-4964-D6BE-FDB8-41E4548871EB}"/>
                </a:ext>
              </a:extLst>
            </p:cNvPr>
            <p:cNvCxnSpPr/>
            <p:nvPr/>
          </p:nvCxnSpPr>
          <p:spPr>
            <a:xfrm>
              <a:off x="10854813" y="1128456"/>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0697BAD9-1145-B7C4-7FC3-F27C0F7EC7EF}"/>
                </a:ext>
              </a:extLst>
            </p:cNvPr>
            <p:cNvCxnSpPr/>
            <p:nvPr/>
          </p:nvCxnSpPr>
          <p:spPr>
            <a:xfrm>
              <a:off x="11208775" y="823656"/>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3717D17A-F64A-C3B1-63DE-06B26865173E}"/>
                </a:ext>
              </a:extLst>
            </p:cNvPr>
            <p:cNvCxnSpPr/>
            <p:nvPr/>
          </p:nvCxnSpPr>
          <p:spPr>
            <a:xfrm>
              <a:off x="10550013" y="1128456"/>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97489397-58F9-F10F-F5BB-2150296AA37D}"/>
                </a:ext>
              </a:extLst>
            </p:cNvPr>
            <p:cNvCxnSpPr/>
            <p:nvPr/>
          </p:nvCxnSpPr>
          <p:spPr>
            <a:xfrm>
              <a:off x="9532376" y="668594"/>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6BFEAA8C-B069-27CE-7DBA-18CA388E9C3F}"/>
                </a:ext>
              </a:extLst>
            </p:cNvPr>
            <p:cNvCxnSpPr/>
            <p:nvPr/>
          </p:nvCxnSpPr>
          <p:spPr>
            <a:xfrm>
              <a:off x="9458633" y="3651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EAF4C4CF-B2B6-6A87-E021-C34762AB000F}"/>
                </a:ext>
              </a:extLst>
            </p:cNvPr>
            <p:cNvCxnSpPr/>
            <p:nvPr/>
          </p:nvCxnSpPr>
          <p:spPr>
            <a:xfrm>
              <a:off x="9611033" y="517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DF3FEBB9-5BB7-5062-BC64-502AC6A9352B}"/>
                </a:ext>
              </a:extLst>
            </p:cNvPr>
            <p:cNvCxnSpPr/>
            <p:nvPr/>
          </p:nvCxnSpPr>
          <p:spPr>
            <a:xfrm>
              <a:off x="9306233" y="5175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5F26733D-3965-8841-768B-0C92F06CBA70}"/>
                </a:ext>
              </a:extLst>
            </p:cNvPr>
            <p:cNvCxnSpPr/>
            <p:nvPr/>
          </p:nvCxnSpPr>
          <p:spPr>
            <a:xfrm>
              <a:off x="8868697" y="39595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F8A960F3-3560-DF73-3F31-AFAE7D29AE32}"/>
                </a:ext>
              </a:extLst>
            </p:cNvPr>
            <p:cNvCxnSpPr/>
            <p:nvPr/>
          </p:nvCxnSpPr>
          <p:spPr>
            <a:xfrm>
              <a:off x="9021097" y="54835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1F2C33C-9C61-C686-6730-0FB8542695E0}"/>
                </a:ext>
              </a:extLst>
            </p:cNvPr>
            <p:cNvCxnSpPr/>
            <p:nvPr/>
          </p:nvCxnSpPr>
          <p:spPr>
            <a:xfrm>
              <a:off x="9173497" y="70075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41B999ED-4E0D-A523-0560-44F2F4CE71F2}"/>
                </a:ext>
              </a:extLst>
            </p:cNvPr>
            <p:cNvCxnSpPr/>
            <p:nvPr/>
          </p:nvCxnSpPr>
          <p:spPr>
            <a:xfrm>
              <a:off x="8868697" y="70075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41BAFE36-9CAD-9EE7-F5F8-DB5381C2C94F}"/>
                </a:ext>
              </a:extLst>
            </p:cNvPr>
            <p:cNvCxnSpPr/>
            <p:nvPr/>
          </p:nvCxnSpPr>
          <p:spPr>
            <a:xfrm>
              <a:off x="9851923" y="6699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10DD61E3-E36E-A3B5-8C61-8F624EB4C4E1}"/>
                </a:ext>
              </a:extLst>
            </p:cNvPr>
            <p:cNvCxnSpPr/>
            <p:nvPr/>
          </p:nvCxnSpPr>
          <p:spPr>
            <a:xfrm>
              <a:off x="10004323" y="8223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BC4F2E0-FF9E-569F-0E53-E8B88358022A}"/>
                </a:ext>
              </a:extLst>
            </p:cNvPr>
            <p:cNvCxnSpPr/>
            <p:nvPr/>
          </p:nvCxnSpPr>
          <p:spPr>
            <a:xfrm>
              <a:off x="9851923" y="9747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150A6BBC-1EE7-0611-EB89-320E420FB637}"/>
                </a:ext>
              </a:extLst>
            </p:cNvPr>
            <p:cNvCxnSpPr/>
            <p:nvPr/>
          </p:nvCxnSpPr>
          <p:spPr>
            <a:xfrm>
              <a:off x="11395589" y="1148121"/>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EEDF5530-DEB5-51C2-BD1D-77EE273D46DB}"/>
                </a:ext>
              </a:extLst>
            </p:cNvPr>
            <p:cNvCxnSpPr/>
            <p:nvPr/>
          </p:nvCxnSpPr>
          <p:spPr>
            <a:xfrm>
              <a:off x="11474246" y="997052"/>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0F313473-B0BB-C164-790C-8F9A7D9DAA12}"/>
                </a:ext>
              </a:extLst>
            </p:cNvPr>
            <p:cNvCxnSpPr/>
            <p:nvPr/>
          </p:nvCxnSpPr>
          <p:spPr>
            <a:xfrm>
              <a:off x="11169446" y="997052"/>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D6178174-94AD-2251-9F8A-EAF0DBE10D44}"/>
                </a:ext>
              </a:extLst>
            </p:cNvPr>
            <p:cNvCxnSpPr/>
            <p:nvPr/>
          </p:nvCxnSpPr>
          <p:spPr>
            <a:xfrm>
              <a:off x="9193162" y="113337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E4E3F265-D196-C790-0830-7099138CDB4F}"/>
                </a:ext>
              </a:extLst>
            </p:cNvPr>
            <p:cNvCxnSpPr/>
            <p:nvPr/>
          </p:nvCxnSpPr>
          <p:spPr>
            <a:xfrm>
              <a:off x="9345562" y="128577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8DF540AB-BC70-74BC-6248-8728AFBE20D2}"/>
                </a:ext>
              </a:extLst>
            </p:cNvPr>
            <p:cNvCxnSpPr/>
            <p:nvPr/>
          </p:nvCxnSpPr>
          <p:spPr>
            <a:xfrm>
              <a:off x="9193162" y="1438173"/>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C931FA59-EA00-4A8E-D247-28F28BB6BFC9}"/>
                </a:ext>
              </a:extLst>
            </p:cNvPr>
            <p:cNvCxnSpPr/>
            <p:nvPr/>
          </p:nvCxnSpPr>
          <p:spPr>
            <a:xfrm>
              <a:off x="7816645" y="8223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915BA2A0-D6CA-C1DA-E0A9-1A48446EB95A}"/>
                </a:ext>
              </a:extLst>
            </p:cNvPr>
            <p:cNvCxnSpPr/>
            <p:nvPr/>
          </p:nvCxnSpPr>
          <p:spPr>
            <a:xfrm>
              <a:off x="7969045" y="9747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FB5905F6-0589-F9B8-86BC-EDE42359BF17}"/>
                </a:ext>
              </a:extLst>
            </p:cNvPr>
            <p:cNvCxnSpPr/>
            <p:nvPr/>
          </p:nvCxnSpPr>
          <p:spPr>
            <a:xfrm>
              <a:off x="8209935" y="822325"/>
              <a:ext cx="26547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E573041B-2063-A467-839F-50813B26F41F}"/>
                </a:ext>
              </a:extLst>
            </p:cNvPr>
            <p:cNvCxnSpPr/>
            <p:nvPr/>
          </p:nvCxnSpPr>
          <p:spPr>
            <a:xfrm>
              <a:off x="8096864" y="669925"/>
              <a:ext cx="265471" cy="0"/>
            </a:xfrm>
            <a:prstGeom prst="line">
              <a:avLst/>
            </a:prstGeom>
          </p:spPr>
          <p:style>
            <a:lnRef idx="2">
              <a:schemeClr val="accent1"/>
            </a:lnRef>
            <a:fillRef idx="0">
              <a:schemeClr val="accent1"/>
            </a:fillRef>
            <a:effectRef idx="1">
              <a:schemeClr val="accent1"/>
            </a:effectRef>
            <a:fontRef idx="minor">
              <a:schemeClr val="tx1"/>
            </a:fontRef>
          </p:style>
        </p:cxnSp>
        <p:sp>
          <p:nvSpPr>
            <p:cNvPr id="58" name="Star: 5 Points 57">
              <a:extLst>
                <a:ext uri="{FF2B5EF4-FFF2-40B4-BE49-F238E27FC236}">
                  <a16:creationId xmlns:a16="http://schemas.microsoft.com/office/drawing/2014/main" id="{03EB7753-FECE-A154-4F27-10D9E3E2F665}"/>
                </a:ext>
              </a:extLst>
            </p:cNvPr>
            <p:cNvSpPr/>
            <p:nvPr/>
          </p:nvSpPr>
          <p:spPr>
            <a:xfrm>
              <a:off x="8284806" y="1393007"/>
              <a:ext cx="273045" cy="259682"/>
            </a:xfrm>
            <a:prstGeom prst="star5">
              <a:avLst/>
            </a:prstGeom>
            <a:solidFill>
              <a:srgbClr val="FFFF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Star: 5 Points 58">
              <a:extLst>
                <a:ext uri="{FF2B5EF4-FFF2-40B4-BE49-F238E27FC236}">
                  <a16:creationId xmlns:a16="http://schemas.microsoft.com/office/drawing/2014/main" id="{44A526C4-5A56-BEDF-708A-7A9F6C50AC37}"/>
                </a:ext>
              </a:extLst>
            </p:cNvPr>
            <p:cNvSpPr/>
            <p:nvPr/>
          </p:nvSpPr>
          <p:spPr>
            <a:xfrm>
              <a:off x="8934864" y="1393007"/>
              <a:ext cx="273045" cy="259682"/>
            </a:xfrm>
            <a:prstGeom prst="star5">
              <a:avLst/>
            </a:prstGeom>
            <a:solidFill>
              <a:srgbClr val="FF0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Star: 5 Points 59">
              <a:extLst>
                <a:ext uri="{FF2B5EF4-FFF2-40B4-BE49-F238E27FC236}">
                  <a16:creationId xmlns:a16="http://schemas.microsoft.com/office/drawing/2014/main" id="{D0B031B2-9793-D40F-7F80-FA9A4D04B9BF}"/>
                </a:ext>
              </a:extLst>
            </p:cNvPr>
            <p:cNvSpPr/>
            <p:nvPr/>
          </p:nvSpPr>
          <p:spPr>
            <a:xfrm>
              <a:off x="10052155" y="1393007"/>
              <a:ext cx="273045" cy="259682"/>
            </a:xfrm>
            <a:prstGeom prst="star5">
              <a:avLst/>
            </a:prstGeom>
            <a:solidFill>
              <a:schemeClr val="accent5">
                <a:lumMod val="60000"/>
                <a:lumOff val="4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Star: 5 Points 60">
              <a:extLst>
                <a:ext uri="{FF2B5EF4-FFF2-40B4-BE49-F238E27FC236}">
                  <a16:creationId xmlns:a16="http://schemas.microsoft.com/office/drawing/2014/main" id="{4D5693D9-BB8A-87A4-13C0-38602C4F909C}"/>
                </a:ext>
              </a:extLst>
            </p:cNvPr>
            <p:cNvSpPr/>
            <p:nvPr/>
          </p:nvSpPr>
          <p:spPr>
            <a:xfrm>
              <a:off x="10589145" y="1393007"/>
              <a:ext cx="273045" cy="259682"/>
            </a:xfrm>
            <a:prstGeom prst="star5">
              <a:avLst>
                <a:gd name="adj" fmla="val 19098"/>
                <a:gd name="hf" fmla="val 105146"/>
                <a:gd name="vf" fmla="val 110557"/>
              </a:avLst>
            </a:prstGeom>
            <a:solidFill>
              <a:schemeClr val="tx2">
                <a:lumMod val="10000"/>
                <a:lumOff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Star: 5 Points 61">
              <a:extLst>
                <a:ext uri="{FF2B5EF4-FFF2-40B4-BE49-F238E27FC236}">
                  <a16:creationId xmlns:a16="http://schemas.microsoft.com/office/drawing/2014/main" id="{5E7AD4ED-1A3A-4701-3089-0077E685E25D}"/>
                </a:ext>
              </a:extLst>
            </p:cNvPr>
            <p:cNvSpPr/>
            <p:nvPr/>
          </p:nvSpPr>
          <p:spPr>
            <a:xfrm>
              <a:off x="8535728" y="1392135"/>
              <a:ext cx="273045" cy="259682"/>
            </a:xfrm>
            <a:prstGeom prst="star5">
              <a:avLst/>
            </a:prstGeom>
            <a:solidFill>
              <a:srgbClr val="FFC0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Star: 5 Points 62">
              <a:extLst>
                <a:ext uri="{FF2B5EF4-FFF2-40B4-BE49-F238E27FC236}">
                  <a16:creationId xmlns:a16="http://schemas.microsoft.com/office/drawing/2014/main" id="{B8668CCA-81B8-B8DA-320A-BE1566A89A52}"/>
                </a:ext>
              </a:extLst>
            </p:cNvPr>
            <p:cNvSpPr/>
            <p:nvPr/>
          </p:nvSpPr>
          <p:spPr>
            <a:xfrm>
              <a:off x="11432462" y="1392135"/>
              <a:ext cx="273045" cy="259682"/>
            </a:xfrm>
            <a:prstGeom prst="star5">
              <a:avLst>
                <a:gd name="adj" fmla="val 19098"/>
                <a:gd name="hf" fmla="val 105146"/>
                <a:gd name="vf" fmla="val 110557"/>
              </a:avLst>
            </a:prstGeom>
            <a:solidFill>
              <a:srgbClr val="0070C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06296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D3A8D-D9A8-2C1E-F112-678CF9D99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26E80-6A86-3CE2-F08B-EF5FFADDDE2E}"/>
              </a:ext>
            </a:extLst>
          </p:cNvPr>
          <p:cNvSpPr>
            <a:spLocks noGrp="1"/>
          </p:cNvSpPr>
          <p:nvPr>
            <p:ph type="title"/>
          </p:nvPr>
        </p:nvSpPr>
        <p:spPr>
          <a:xfrm>
            <a:off x="798870" y="304625"/>
            <a:ext cx="10999839" cy="1325563"/>
          </a:xfrm>
        </p:spPr>
        <p:txBody>
          <a:bodyPr/>
          <a:lstStyle/>
          <a:p>
            <a:r>
              <a:rPr lang="en-US" dirty="0" err="1">
                <a:latin typeface="Aharoni" panose="02010803020104030203" pitchFamily="2" charset="-79"/>
                <a:cs typeface="Aharoni" panose="02010803020104030203" pitchFamily="2" charset="-79"/>
              </a:rPr>
              <a:t>RADSeq</a:t>
            </a:r>
            <a:r>
              <a:rPr lang="en-US" dirty="0">
                <a:latin typeface="Aharoni" panose="02010803020104030203" pitchFamily="2" charset="-79"/>
                <a:cs typeface="Aharoni" panose="02010803020104030203" pitchFamily="2" charset="-79"/>
              </a:rPr>
              <a:t> and Resequencing</a:t>
            </a:r>
          </a:p>
        </p:txBody>
      </p:sp>
      <p:sp>
        <p:nvSpPr>
          <p:cNvPr id="9" name="TextBox 8">
            <a:extLst>
              <a:ext uri="{FF2B5EF4-FFF2-40B4-BE49-F238E27FC236}">
                <a16:creationId xmlns:a16="http://schemas.microsoft.com/office/drawing/2014/main" id="{AC812A18-1CBD-FFAA-D8B4-C019F16089A6}"/>
              </a:ext>
            </a:extLst>
          </p:cNvPr>
          <p:cNvSpPr txBox="1"/>
          <p:nvPr/>
        </p:nvSpPr>
        <p:spPr>
          <a:xfrm>
            <a:off x="218767" y="1710813"/>
            <a:ext cx="3045129" cy="646331"/>
          </a:xfrm>
          <a:prstGeom prst="rect">
            <a:avLst/>
          </a:prstGeom>
          <a:noFill/>
        </p:spPr>
        <p:txBody>
          <a:bodyPr wrap="none" rtlCol="0">
            <a:spAutoFit/>
          </a:bodyPr>
          <a:lstStyle/>
          <a:p>
            <a:r>
              <a:rPr lang="en-US" dirty="0">
                <a:latin typeface="Abadi" panose="020B0604020104020204" pitchFamily="34" charset="0"/>
              </a:rPr>
              <a:t>Clean and demultiplex reads </a:t>
            </a:r>
          </a:p>
          <a:p>
            <a:r>
              <a:rPr lang="en-US" dirty="0">
                <a:latin typeface="Abadi" panose="020B0604020104020204" pitchFamily="34" charset="0"/>
              </a:rPr>
              <a:t>(find ones with cut sites)</a:t>
            </a:r>
          </a:p>
        </p:txBody>
      </p:sp>
      <p:sp>
        <p:nvSpPr>
          <p:cNvPr id="150" name="TextBox 149">
            <a:extLst>
              <a:ext uri="{FF2B5EF4-FFF2-40B4-BE49-F238E27FC236}">
                <a16:creationId xmlns:a16="http://schemas.microsoft.com/office/drawing/2014/main" id="{F0604768-D0C6-DDA6-572F-E2F8F7503EBE}"/>
              </a:ext>
            </a:extLst>
          </p:cNvPr>
          <p:cNvSpPr txBox="1"/>
          <p:nvPr/>
        </p:nvSpPr>
        <p:spPr>
          <a:xfrm>
            <a:off x="6705900" y="1727252"/>
            <a:ext cx="3601242" cy="369332"/>
          </a:xfrm>
          <a:prstGeom prst="rect">
            <a:avLst/>
          </a:prstGeom>
          <a:noFill/>
        </p:spPr>
        <p:txBody>
          <a:bodyPr wrap="none" rtlCol="0">
            <a:spAutoFit/>
          </a:bodyPr>
          <a:lstStyle/>
          <a:p>
            <a:r>
              <a:rPr lang="en-US" dirty="0">
                <a:latin typeface="Abadi" panose="020B0604020104020204" pitchFamily="34" charset="0"/>
              </a:rPr>
              <a:t>Determine variants across samples</a:t>
            </a:r>
          </a:p>
        </p:txBody>
      </p:sp>
      <p:sp>
        <p:nvSpPr>
          <p:cNvPr id="196" name="TextBox 195">
            <a:extLst>
              <a:ext uri="{FF2B5EF4-FFF2-40B4-BE49-F238E27FC236}">
                <a16:creationId xmlns:a16="http://schemas.microsoft.com/office/drawing/2014/main" id="{FC38F539-F030-26A3-ACCB-01E1CCEAC3BF}"/>
              </a:ext>
            </a:extLst>
          </p:cNvPr>
          <p:cNvSpPr txBox="1"/>
          <p:nvPr/>
        </p:nvSpPr>
        <p:spPr>
          <a:xfrm>
            <a:off x="3656372" y="1760388"/>
            <a:ext cx="2780313" cy="369332"/>
          </a:xfrm>
          <a:prstGeom prst="rect">
            <a:avLst/>
          </a:prstGeom>
          <a:noFill/>
        </p:spPr>
        <p:txBody>
          <a:bodyPr wrap="none" rtlCol="0">
            <a:spAutoFit/>
          </a:bodyPr>
          <a:lstStyle/>
          <a:p>
            <a:r>
              <a:rPr lang="en-US" dirty="0">
                <a:latin typeface="Abadi" panose="020B0604020104020204" pitchFamily="34" charset="0"/>
              </a:rPr>
              <a:t>Align to reference genome</a:t>
            </a:r>
          </a:p>
        </p:txBody>
      </p:sp>
      <p:sp>
        <p:nvSpPr>
          <p:cNvPr id="221" name="TextBox 220">
            <a:extLst>
              <a:ext uri="{FF2B5EF4-FFF2-40B4-BE49-F238E27FC236}">
                <a16:creationId xmlns:a16="http://schemas.microsoft.com/office/drawing/2014/main" id="{C4E66922-71AB-81A4-DC3D-572D3E3DF73F}"/>
              </a:ext>
            </a:extLst>
          </p:cNvPr>
          <p:cNvSpPr txBox="1"/>
          <p:nvPr/>
        </p:nvSpPr>
        <p:spPr>
          <a:xfrm>
            <a:off x="10307142" y="1750970"/>
            <a:ext cx="1788631" cy="369332"/>
          </a:xfrm>
          <a:prstGeom prst="rect">
            <a:avLst/>
          </a:prstGeom>
          <a:noFill/>
        </p:spPr>
        <p:txBody>
          <a:bodyPr wrap="none" rtlCol="0">
            <a:spAutoFit/>
          </a:bodyPr>
          <a:lstStyle/>
          <a:p>
            <a:r>
              <a:rPr lang="en-US" dirty="0">
                <a:latin typeface="Abadi" panose="020B0604020104020204" pitchFamily="34" charset="0"/>
              </a:rPr>
              <a:t>Analyze variants</a:t>
            </a:r>
          </a:p>
        </p:txBody>
      </p:sp>
      <p:sp>
        <p:nvSpPr>
          <p:cNvPr id="64" name="TextBox 63">
            <a:extLst>
              <a:ext uri="{FF2B5EF4-FFF2-40B4-BE49-F238E27FC236}">
                <a16:creationId xmlns:a16="http://schemas.microsoft.com/office/drawing/2014/main" id="{EE56D816-1A6A-ED21-2F29-8ACD887B1719}"/>
              </a:ext>
            </a:extLst>
          </p:cNvPr>
          <p:cNvSpPr txBox="1"/>
          <p:nvPr/>
        </p:nvSpPr>
        <p:spPr>
          <a:xfrm>
            <a:off x="218767" y="3013501"/>
            <a:ext cx="2558521" cy="830997"/>
          </a:xfrm>
          <a:prstGeom prst="rect">
            <a:avLst/>
          </a:prstGeom>
          <a:noFill/>
        </p:spPr>
        <p:txBody>
          <a:bodyPr wrap="none" rtlCol="0">
            <a:spAutoFit/>
          </a:bodyPr>
          <a:lstStyle/>
          <a:p>
            <a:pPr algn="ctr"/>
            <a:r>
              <a:rPr lang="en-US" sz="2400" dirty="0"/>
              <a:t>Stacks</a:t>
            </a:r>
          </a:p>
          <a:p>
            <a:r>
              <a:rPr lang="en-US" sz="2400" dirty="0"/>
              <a:t>(</a:t>
            </a:r>
            <a:r>
              <a:rPr lang="en-US" sz="2400" dirty="0" err="1"/>
              <a:t>process_radtags</a:t>
            </a:r>
            <a:r>
              <a:rPr lang="en-US" sz="2400" dirty="0"/>
              <a:t>)</a:t>
            </a:r>
          </a:p>
        </p:txBody>
      </p:sp>
      <p:sp>
        <p:nvSpPr>
          <p:cNvPr id="83" name="TextBox 82">
            <a:extLst>
              <a:ext uri="{FF2B5EF4-FFF2-40B4-BE49-F238E27FC236}">
                <a16:creationId xmlns:a16="http://schemas.microsoft.com/office/drawing/2014/main" id="{240FF523-C3F7-01EE-8857-3A39FF3192A3}"/>
              </a:ext>
            </a:extLst>
          </p:cNvPr>
          <p:cNvSpPr txBox="1"/>
          <p:nvPr/>
        </p:nvSpPr>
        <p:spPr>
          <a:xfrm>
            <a:off x="3907622" y="3948084"/>
            <a:ext cx="1668214" cy="830997"/>
          </a:xfrm>
          <a:prstGeom prst="rect">
            <a:avLst/>
          </a:prstGeom>
          <a:noFill/>
        </p:spPr>
        <p:txBody>
          <a:bodyPr wrap="none" rtlCol="0">
            <a:spAutoFit/>
          </a:bodyPr>
          <a:lstStyle/>
          <a:p>
            <a:pPr algn="ctr"/>
            <a:r>
              <a:rPr lang="en-US" sz="2400" dirty="0"/>
              <a:t>BWA</a:t>
            </a:r>
          </a:p>
          <a:p>
            <a:r>
              <a:rPr lang="en-US" sz="2400" dirty="0"/>
              <a:t>(bwa mem)</a:t>
            </a:r>
          </a:p>
        </p:txBody>
      </p:sp>
      <p:sp>
        <p:nvSpPr>
          <p:cNvPr id="87" name="TextBox 86">
            <a:extLst>
              <a:ext uri="{FF2B5EF4-FFF2-40B4-BE49-F238E27FC236}">
                <a16:creationId xmlns:a16="http://schemas.microsoft.com/office/drawing/2014/main" id="{2A8BA84F-5210-6C45-0AA4-979E96E5501A}"/>
              </a:ext>
            </a:extLst>
          </p:cNvPr>
          <p:cNvSpPr txBox="1"/>
          <p:nvPr/>
        </p:nvSpPr>
        <p:spPr>
          <a:xfrm>
            <a:off x="540618" y="4916354"/>
            <a:ext cx="1914820" cy="830997"/>
          </a:xfrm>
          <a:prstGeom prst="rect">
            <a:avLst/>
          </a:prstGeom>
          <a:noFill/>
        </p:spPr>
        <p:txBody>
          <a:bodyPr wrap="none" rtlCol="0">
            <a:spAutoFit/>
          </a:bodyPr>
          <a:lstStyle/>
          <a:p>
            <a:pPr algn="ctr"/>
            <a:r>
              <a:rPr lang="en-US" sz="2400" dirty="0" err="1"/>
              <a:t>fastp</a:t>
            </a:r>
            <a:endParaRPr lang="en-US" sz="2400" dirty="0"/>
          </a:p>
          <a:p>
            <a:pPr algn="ctr"/>
            <a:r>
              <a:rPr lang="en-US" sz="2400" dirty="0" err="1"/>
              <a:t>trimmomatic</a:t>
            </a:r>
            <a:endParaRPr lang="en-US" sz="2400" dirty="0"/>
          </a:p>
        </p:txBody>
      </p:sp>
      <p:cxnSp>
        <p:nvCxnSpPr>
          <p:cNvPr id="90" name="Straight Arrow Connector 89">
            <a:extLst>
              <a:ext uri="{FF2B5EF4-FFF2-40B4-BE49-F238E27FC236}">
                <a16:creationId xmlns:a16="http://schemas.microsoft.com/office/drawing/2014/main" id="{5140CE7E-A36A-7ADC-5305-665110721145}"/>
              </a:ext>
            </a:extLst>
          </p:cNvPr>
          <p:cNvCxnSpPr>
            <a:cxnSpLocks/>
          </p:cNvCxnSpPr>
          <p:nvPr/>
        </p:nvCxnSpPr>
        <p:spPr>
          <a:xfrm>
            <a:off x="2679700" y="3479799"/>
            <a:ext cx="1104900" cy="6957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4A59192A-2D9A-3AD4-4B16-F39B9A50F016}"/>
              </a:ext>
            </a:extLst>
          </p:cNvPr>
          <p:cNvCxnSpPr>
            <a:cxnSpLocks/>
          </p:cNvCxnSpPr>
          <p:nvPr/>
        </p:nvCxnSpPr>
        <p:spPr>
          <a:xfrm flipV="1">
            <a:off x="2794000" y="4551655"/>
            <a:ext cx="990600" cy="6429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6" name="TextBox 95">
            <a:extLst>
              <a:ext uri="{FF2B5EF4-FFF2-40B4-BE49-F238E27FC236}">
                <a16:creationId xmlns:a16="http://schemas.microsoft.com/office/drawing/2014/main" id="{9BCEFF38-4A2B-BEC9-23BC-1508808F77D1}"/>
              </a:ext>
            </a:extLst>
          </p:cNvPr>
          <p:cNvSpPr txBox="1"/>
          <p:nvPr/>
        </p:nvSpPr>
        <p:spPr>
          <a:xfrm>
            <a:off x="6245533" y="3257049"/>
            <a:ext cx="3118226" cy="830997"/>
          </a:xfrm>
          <a:prstGeom prst="rect">
            <a:avLst/>
          </a:prstGeom>
          <a:noFill/>
        </p:spPr>
        <p:txBody>
          <a:bodyPr wrap="none" rtlCol="0">
            <a:spAutoFit/>
          </a:bodyPr>
          <a:lstStyle/>
          <a:p>
            <a:pPr algn="ctr"/>
            <a:r>
              <a:rPr lang="en-US" sz="2400" dirty="0"/>
              <a:t>Stacks</a:t>
            </a:r>
          </a:p>
          <a:p>
            <a:pPr algn="ctr"/>
            <a:r>
              <a:rPr lang="en-US" sz="2400" dirty="0"/>
              <a:t>(</a:t>
            </a:r>
            <a:r>
              <a:rPr lang="en-US" sz="2400" dirty="0" err="1"/>
              <a:t>gstacks</a:t>
            </a:r>
            <a:r>
              <a:rPr lang="en-US" sz="2400" dirty="0"/>
              <a:t>, populations)</a:t>
            </a:r>
          </a:p>
        </p:txBody>
      </p:sp>
      <p:cxnSp>
        <p:nvCxnSpPr>
          <p:cNvPr id="97" name="Straight Arrow Connector 96">
            <a:extLst>
              <a:ext uri="{FF2B5EF4-FFF2-40B4-BE49-F238E27FC236}">
                <a16:creationId xmlns:a16="http://schemas.microsoft.com/office/drawing/2014/main" id="{60463707-0C10-1E0E-BA06-5D1E99FCBBBC}"/>
              </a:ext>
            </a:extLst>
          </p:cNvPr>
          <p:cNvCxnSpPr>
            <a:cxnSpLocks/>
          </p:cNvCxnSpPr>
          <p:nvPr/>
        </p:nvCxnSpPr>
        <p:spPr>
          <a:xfrm flipV="1">
            <a:off x="5359400" y="3553207"/>
            <a:ext cx="1104900" cy="6957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2" name="Straight Arrow Connector 101">
            <a:extLst>
              <a:ext uri="{FF2B5EF4-FFF2-40B4-BE49-F238E27FC236}">
                <a16:creationId xmlns:a16="http://schemas.microsoft.com/office/drawing/2014/main" id="{7596BF77-03EF-FEE9-736A-EADBE248324B}"/>
              </a:ext>
            </a:extLst>
          </p:cNvPr>
          <p:cNvCxnSpPr>
            <a:cxnSpLocks/>
          </p:cNvCxnSpPr>
          <p:nvPr/>
        </p:nvCxnSpPr>
        <p:spPr>
          <a:xfrm>
            <a:off x="5473700" y="4625063"/>
            <a:ext cx="990600" cy="6429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6" name="TextBox 105">
            <a:extLst>
              <a:ext uri="{FF2B5EF4-FFF2-40B4-BE49-F238E27FC236}">
                <a16:creationId xmlns:a16="http://schemas.microsoft.com/office/drawing/2014/main" id="{4C28CF0D-589B-424C-144E-BB067CE2773E}"/>
              </a:ext>
            </a:extLst>
          </p:cNvPr>
          <p:cNvSpPr txBox="1"/>
          <p:nvPr/>
        </p:nvSpPr>
        <p:spPr>
          <a:xfrm>
            <a:off x="6594287" y="4483155"/>
            <a:ext cx="3118226" cy="1569660"/>
          </a:xfrm>
          <a:prstGeom prst="rect">
            <a:avLst/>
          </a:prstGeom>
          <a:noFill/>
        </p:spPr>
        <p:txBody>
          <a:bodyPr wrap="square" rtlCol="0">
            <a:spAutoFit/>
          </a:bodyPr>
          <a:lstStyle/>
          <a:p>
            <a:pPr algn="ctr"/>
            <a:r>
              <a:rPr lang="en-US" sz="2400" dirty="0"/>
              <a:t>Genome Analysis Toolkit  (GATK)</a:t>
            </a:r>
          </a:p>
          <a:p>
            <a:pPr algn="ctr"/>
            <a:r>
              <a:rPr lang="en-US" sz="2400" dirty="0"/>
              <a:t>OR</a:t>
            </a:r>
          </a:p>
          <a:p>
            <a:pPr algn="ctr"/>
            <a:r>
              <a:rPr lang="en-US" sz="2400" dirty="0" err="1"/>
              <a:t>bcftools</a:t>
            </a:r>
            <a:r>
              <a:rPr lang="en-US" sz="2400" dirty="0"/>
              <a:t> </a:t>
            </a:r>
            <a:r>
              <a:rPr lang="en-US" sz="2400" dirty="0" err="1"/>
              <a:t>mpileup</a:t>
            </a:r>
            <a:endParaRPr lang="en-US" sz="2400" dirty="0"/>
          </a:p>
        </p:txBody>
      </p:sp>
      <p:cxnSp>
        <p:nvCxnSpPr>
          <p:cNvPr id="108" name="Straight Arrow Connector 107">
            <a:extLst>
              <a:ext uri="{FF2B5EF4-FFF2-40B4-BE49-F238E27FC236}">
                <a16:creationId xmlns:a16="http://schemas.microsoft.com/office/drawing/2014/main" id="{3F41BFA8-1E0C-8B93-DBB1-5C12CCAC43A3}"/>
              </a:ext>
            </a:extLst>
          </p:cNvPr>
          <p:cNvCxnSpPr>
            <a:cxnSpLocks/>
          </p:cNvCxnSpPr>
          <p:nvPr/>
        </p:nvCxnSpPr>
        <p:spPr>
          <a:xfrm>
            <a:off x="9454891" y="3707225"/>
            <a:ext cx="609600" cy="5416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0" name="Straight Arrow Connector 109">
            <a:extLst>
              <a:ext uri="{FF2B5EF4-FFF2-40B4-BE49-F238E27FC236}">
                <a16:creationId xmlns:a16="http://schemas.microsoft.com/office/drawing/2014/main" id="{063086D1-902D-E5C2-3188-25C2609DBF15}"/>
              </a:ext>
            </a:extLst>
          </p:cNvPr>
          <p:cNvCxnSpPr>
            <a:cxnSpLocks/>
          </p:cNvCxnSpPr>
          <p:nvPr/>
        </p:nvCxnSpPr>
        <p:spPr>
          <a:xfrm flipV="1">
            <a:off x="9569191" y="4873116"/>
            <a:ext cx="495300" cy="5488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2" name="TextBox 111">
            <a:extLst>
              <a:ext uri="{FF2B5EF4-FFF2-40B4-BE49-F238E27FC236}">
                <a16:creationId xmlns:a16="http://schemas.microsoft.com/office/drawing/2014/main" id="{AFEC359D-3B3C-1C2C-71C4-ACBF3B85A41E}"/>
              </a:ext>
            </a:extLst>
          </p:cNvPr>
          <p:cNvSpPr txBox="1"/>
          <p:nvPr/>
        </p:nvSpPr>
        <p:spPr>
          <a:xfrm>
            <a:off x="10216231" y="3013501"/>
            <a:ext cx="1879490" cy="3416320"/>
          </a:xfrm>
          <a:prstGeom prst="rect">
            <a:avLst/>
          </a:prstGeom>
          <a:noFill/>
        </p:spPr>
        <p:txBody>
          <a:bodyPr wrap="none" rtlCol="0">
            <a:spAutoFit/>
          </a:bodyPr>
          <a:lstStyle/>
          <a:p>
            <a:pPr algn="ctr"/>
            <a:r>
              <a:rPr lang="en-US" sz="2400" dirty="0"/>
              <a:t>PCA</a:t>
            </a:r>
          </a:p>
          <a:p>
            <a:pPr algn="ctr"/>
            <a:r>
              <a:rPr lang="en-US" sz="2400" dirty="0"/>
              <a:t>Admixture</a:t>
            </a:r>
          </a:p>
          <a:p>
            <a:pPr algn="ctr"/>
            <a:r>
              <a:rPr lang="en-US" sz="2400" dirty="0"/>
              <a:t>FST</a:t>
            </a:r>
          </a:p>
          <a:p>
            <a:pPr algn="ctr"/>
            <a:r>
              <a:rPr lang="en-US" sz="2400" dirty="0"/>
              <a:t>Diversity</a:t>
            </a:r>
          </a:p>
          <a:p>
            <a:pPr algn="ctr"/>
            <a:r>
              <a:rPr lang="en-US" sz="2400" dirty="0"/>
              <a:t>Inbreeding</a:t>
            </a:r>
          </a:p>
          <a:p>
            <a:pPr algn="ctr"/>
            <a:r>
              <a:rPr lang="en-US" sz="2400" dirty="0"/>
              <a:t>Gene flow</a:t>
            </a:r>
          </a:p>
          <a:p>
            <a:pPr algn="ctr"/>
            <a:r>
              <a:rPr lang="en-US" sz="2400" dirty="0"/>
              <a:t>Phylogeny</a:t>
            </a:r>
          </a:p>
          <a:p>
            <a:pPr algn="ctr"/>
            <a:r>
              <a:rPr lang="en-US" sz="2400" dirty="0"/>
              <a:t>Landscapes</a:t>
            </a:r>
          </a:p>
          <a:p>
            <a:pPr algn="ctr"/>
            <a:r>
              <a:rPr lang="en-US" sz="2400" dirty="0"/>
              <a:t>Demography</a:t>
            </a:r>
          </a:p>
        </p:txBody>
      </p:sp>
    </p:spTree>
    <p:extLst>
      <p:ext uri="{BB962C8B-B14F-4D97-AF65-F5344CB8AC3E}">
        <p14:creationId xmlns:p14="http://schemas.microsoft.com/office/powerpoint/2010/main" val="488732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83" grpId="0"/>
      <p:bldP spid="87" grpId="0"/>
      <p:bldP spid="96" grpId="0"/>
      <p:bldP spid="106" grpId="0"/>
      <p:bldP spid="1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9C1D3-063B-4EA4-140C-699318058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457F9C-A92C-AB27-E61F-9344429B0C71}"/>
              </a:ext>
            </a:extLst>
          </p:cNvPr>
          <p:cNvSpPr>
            <a:spLocks noGrp="1"/>
          </p:cNvSpPr>
          <p:nvPr>
            <p:ph type="title"/>
          </p:nvPr>
        </p:nvSpPr>
        <p:spPr>
          <a:xfrm>
            <a:off x="798870" y="304625"/>
            <a:ext cx="10999839" cy="5289930"/>
          </a:xfrm>
        </p:spPr>
        <p:txBody>
          <a:bodyPr>
            <a:normAutofit/>
          </a:bodyPr>
          <a:lstStyle/>
          <a:p>
            <a:pPr algn="ctr"/>
            <a:r>
              <a:rPr lang="en-US" sz="6000" b="1" dirty="0">
                <a:latin typeface="Abadi" panose="020B0604020104020204" pitchFamily="34" charset="0"/>
                <a:cs typeface="Aharoni" panose="02010803020104030203" pitchFamily="2" charset="-79"/>
              </a:rPr>
              <a:t>What sequencing types are relevant for you?</a:t>
            </a:r>
          </a:p>
        </p:txBody>
      </p:sp>
    </p:spTree>
    <p:extLst>
      <p:ext uri="{BB962C8B-B14F-4D97-AF65-F5344CB8AC3E}">
        <p14:creationId xmlns:p14="http://schemas.microsoft.com/office/powerpoint/2010/main" val="616527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1F7A2-67A4-7941-532A-6E0B6418B0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0DB9EA-82AD-CB2B-AEC5-3A8B9D132BA8}"/>
              </a:ext>
            </a:extLst>
          </p:cNvPr>
          <p:cNvSpPr>
            <a:spLocks noGrp="1"/>
          </p:cNvSpPr>
          <p:nvPr>
            <p:ph type="title"/>
          </p:nvPr>
        </p:nvSpPr>
        <p:spPr>
          <a:xfrm>
            <a:off x="798870" y="304625"/>
            <a:ext cx="10999839" cy="5289930"/>
          </a:xfrm>
        </p:spPr>
        <p:txBody>
          <a:bodyPr>
            <a:normAutofit/>
          </a:bodyPr>
          <a:lstStyle/>
          <a:p>
            <a:pPr algn="ctr"/>
            <a:r>
              <a:rPr lang="en-US" sz="6000" b="1" dirty="0">
                <a:latin typeface="Abadi" panose="020B0604020104020204" pitchFamily="34" charset="0"/>
                <a:cs typeface="Aharoni" panose="02010803020104030203" pitchFamily="2" charset="-79"/>
              </a:rPr>
              <a:t>Are there any specific genomic analyses you would like to learn about?</a:t>
            </a:r>
          </a:p>
        </p:txBody>
      </p:sp>
    </p:spTree>
    <p:extLst>
      <p:ext uri="{BB962C8B-B14F-4D97-AF65-F5344CB8AC3E}">
        <p14:creationId xmlns:p14="http://schemas.microsoft.com/office/powerpoint/2010/main" val="33038624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E2E35-023F-E992-230E-62B936D303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D60908-1536-32D9-E639-6B27C4FCBDBD}"/>
              </a:ext>
            </a:extLst>
          </p:cNvPr>
          <p:cNvSpPr>
            <a:spLocks noGrp="1"/>
          </p:cNvSpPr>
          <p:nvPr>
            <p:ph type="title"/>
          </p:nvPr>
        </p:nvSpPr>
        <p:spPr>
          <a:xfrm>
            <a:off x="838200" y="206478"/>
            <a:ext cx="10515600" cy="1032388"/>
          </a:xfrm>
        </p:spPr>
        <p:txBody>
          <a:bodyPr>
            <a:normAutofit/>
          </a:bodyPr>
          <a:lstStyle/>
          <a:p>
            <a:pPr algn="ctr"/>
            <a:r>
              <a:rPr lang="en-US" dirty="0">
                <a:solidFill>
                  <a:schemeClr val="accent6"/>
                </a:solidFill>
                <a:latin typeface="Aharoni" panose="02010803020104030203" pitchFamily="2" charset="-79"/>
                <a:cs typeface="Aharoni" panose="02010803020104030203" pitchFamily="2" charset="-79"/>
              </a:rPr>
              <a:t>The Solomon Islands</a:t>
            </a:r>
          </a:p>
        </p:txBody>
      </p:sp>
      <p:pic>
        <p:nvPicPr>
          <p:cNvPr id="3" name="Picture 2">
            <a:extLst>
              <a:ext uri="{FF2B5EF4-FFF2-40B4-BE49-F238E27FC236}">
                <a16:creationId xmlns:a16="http://schemas.microsoft.com/office/drawing/2014/main" id="{7FF8DE94-947D-DDEA-F934-970448FAAA57}"/>
              </a:ext>
            </a:extLst>
          </p:cNvPr>
          <p:cNvPicPr>
            <a:picLocks noChangeAspect="1"/>
          </p:cNvPicPr>
          <p:nvPr/>
        </p:nvPicPr>
        <p:blipFill>
          <a:blip r:embed="rId3">
            <a:extLst>
              <a:ext uri="{28A0092B-C50C-407E-A947-70E740481C1C}">
                <a14:useLocalDpi xmlns:a14="http://schemas.microsoft.com/office/drawing/2010/main" val="0"/>
              </a:ext>
            </a:extLst>
          </a:blip>
          <a:srcRect t="4791" b="2784"/>
          <a:stretch/>
        </p:blipFill>
        <p:spPr>
          <a:xfrm>
            <a:off x="125756" y="1838301"/>
            <a:ext cx="6936781" cy="3978886"/>
          </a:xfrm>
          <a:prstGeom prst="rect">
            <a:avLst/>
          </a:prstGeom>
        </p:spPr>
      </p:pic>
      <p:pic>
        <p:nvPicPr>
          <p:cNvPr id="11" name="Graphic 10">
            <a:extLst>
              <a:ext uri="{FF2B5EF4-FFF2-40B4-BE49-F238E27FC236}">
                <a16:creationId xmlns:a16="http://schemas.microsoft.com/office/drawing/2014/main" id="{2C99E66A-95CD-EB8A-6504-ADD69F6C6F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37931" y="1925054"/>
            <a:ext cx="5481877" cy="3892134"/>
          </a:xfrm>
          <a:prstGeom prst="rect">
            <a:avLst/>
          </a:prstGeom>
        </p:spPr>
      </p:pic>
    </p:spTree>
    <p:extLst>
      <p:ext uri="{BB962C8B-B14F-4D97-AF65-F5344CB8AC3E}">
        <p14:creationId xmlns:p14="http://schemas.microsoft.com/office/powerpoint/2010/main" val="2088309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501CB-FEDF-4F27-AA0F-4B3F1AC2DD0D}"/>
            </a:ext>
          </a:extLst>
        </p:cNvPr>
        <p:cNvGrpSpPr/>
        <p:nvPr/>
      </p:nvGrpSpPr>
      <p:grpSpPr>
        <a:xfrm>
          <a:off x="0" y="0"/>
          <a:ext cx="0" cy="0"/>
          <a:chOff x="0" y="0"/>
          <a:chExt cx="0" cy="0"/>
        </a:xfrm>
      </p:grpSpPr>
      <p:pic>
        <p:nvPicPr>
          <p:cNvPr id="50" name="Picture 49" descr="A close-up of a bird&#10;&#10;Description automatically generated">
            <a:extLst>
              <a:ext uri="{FF2B5EF4-FFF2-40B4-BE49-F238E27FC236}">
                <a16:creationId xmlns:a16="http://schemas.microsoft.com/office/drawing/2014/main" id="{36AD7846-83D0-D8CD-3330-FF1D6746D8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768127"/>
            <a:ext cx="1671764" cy="1344248"/>
          </a:xfrm>
          <a:prstGeom prst="rect">
            <a:avLst/>
          </a:prstGeom>
        </p:spPr>
      </p:pic>
      <p:pic>
        <p:nvPicPr>
          <p:cNvPr id="44" name="Picture 43" descr="A black bird with red eyes&#10;&#10;Description automatically generated">
            <a:extLst>
              <a:ext uri="{FF2B5EF4-FFF2-40B4-BE49-F238E27FC236}">
                <a16:creationId xmlns:a16="http://schemas.microsoft.com/office/drawing/2014/main" id="{11FA4FFB-FED2-58E7-01D0-B1B29AAFF7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4459810" y="2702629"/>
            <a:ext cx="1116437" cy="1362710"/>
          </a:xfrm>
          <a:prstGeom prst="rect">
            <a:avLst/>
          </a:prstGeom>
        </p:spPr>
      </p:pic>
      <p:pic>
        <p:nvPicPr>
          <p:cNvPr id="45" name="Picture 44" descr="A bird with long tail&#10;&#10;Description automatically generated">
            <a:extLst>
              <a:ext uri="{FF2B5EF4-FFF2-40B4-BE49-F238E27FC236}">
                <a16:creationId xmlns:a16="http://schemas.microsoft.com/office/drawing/2014/main" id="{A5BC0AC5-F936-2A86-FE8F-589B65ADBC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64031" y="4289684"/>
            <a:ext cx="1019970" cy="1582712"/>
          </a:xfrm>
          <a:prstGeom prst="rect">
            <a:avLst/>
          </a:prstGeom>
        </p:spPr>
      </p:pic>
      <p:sp>
        <p:nvSpPr>
          <p:cNvPr id="2" name="Title 1">
            <a:extLst>
              <a:ext uri="{FF2B5EF4-FFF2-40B4-BE49-F238E27FC236}">
                <a16:creationId xmlns:a16="http://schemas.microsoft.com/office/drawing/2014/main" id="{ACDD0642-0750-2FB9-6082-8C21F2690449}"/>
              </a:ext>
            </a:extLst>
          </p:cNvPr>
          <p:cNvSpPr>
            <a:spLocks noGrp="1"/>
          </p:cNvSpPr>
          <p:nvPr>
            <p:ph type="title"/>
          </p:nvPr>
        </p:nvSpPr>
        <p:spPr>
          <a:xfrm>
            <a:off x="798870" y="304625"/>
            <a:ext cx="10999839" cy="904743"/>
          </a:xfrm>
        </p:spPr>
        <p:txBody>
          <a:bodyPr>
            <a:normAutofit fontScale="90000"/>
          </a:bodyPr>
          <a:lstStyle/>
          <a:p>
            <a:pPr algn="ctr"/>
            <a:r>
              <a:rPr lang="en-US" sz="6000" b="1" dirty="0">
                <a:latin typeface="Aharoni" panose="02010803020104030203" pitchFamily="2" charset="-79"/>
                <a:cs typeface="Aharoni" panose="02010803020104030203" pitchFamily="2" charset="-79"/>
              </a:rPr>
              <a:t>Choosing datasets</a:t>
            </a:r>
          </a:p>
        </p:txBody>
      </p:sp>
      <p:sp>
        <p:nvSpPr>
          <p:cNvPr id="3" name="TextBox 2">
            <a:extLst>
              <a:ext uri="{FF2B5EF4-FFF2-40B4-BE49-F238E27FC236}">
                <a16:creationId xmlns:a16="http://schemas.microsoft.com/office/drawing/2014/main" id="{212C7235-D384-A9DA-4E98-E5505BECF0AA}"/>
              </a:ext>
            </a:extLst>
          </p:cNvPr>
          <p:cNvSpPr txBox="1"/>
          <p:nvPr/>
        </p:nvSpPr>
        <p:spPr>
          <a:xfrm>
            <a:off x="789233" y="1297858"/>
            <a:ext cx="2079993" cy="461665"/>
          </a:xfrm>
          <a:prstGeom prst="rect">
            <a:avLst/>
          </a:prstGeom>
          <a:noFill/>
        </p:spPr>
        <p:txBody>
          <a:bodyPr wrap="none" rtlCol="0">
            <a:spAutoFit/>
          </a:bodyPr>
          <a:lstStyle/>
          <a:p>
            <a:pPr algn="ctr"/>
            <a:r>
              <a:rPr lang="en-US" sz="2400" dirty="0">
                <a:latin typeface="Abadi" panose="020B0604020104020204" pitchFamily="34" charset="0"/>
              </a:rPr>
              <a:t>Small datasets</a:t>
            </a:r>
          </a:p>
        </p:txBody>
      </p:sp>
      <p:sp>
        <p:nvSpPr>
          <p:cNvPr id="5" name="TextBox 4">
            <a:extLst>
              <a:ext uri="{FF2B5EF4-FFF2-40B4-BE49-F238E27FC236}">
                <a16:creationId xmlns:a16="http://schemas.microsoft.com/office/drawing/2014/main" id="{88BA619A-DFFC-A056-1A71-52C79F0BEB1F}"/>
              </a:ext>
            </a:extLst>
          </p:cNvPr>
          <p:cNvSpPr txBox="1"/>
          <p:nvPr/>
        </p:nvSpPr>
        <p:spPr>
          <a:xfrm>
            <a:off x="4710080" y="1297858"/>
            <a:ext cx="2423036" cy="461665"/>
          </a:xfrm>
          <a:prstGeom prst="rect">
            <a:avLst/>
          </a:prstGeom>
          <a:noFill/>
        </p:spPr>
        <p:txBody>
          <a:bodyPr wrap="none" rtlCol="0">
            <a:spAutoFit/>
          </a:bodyPr>
          <a:lstStyle/>
          <a:p>
            <a:pPr algn="ctr"/>
            <a:r>
              <a:rPr lang="en-US" sz="2400" dirty="0">
                <a:latin typeface="Abadi" panose="020B0604020104020204" pitchFamily="34" charset="0"/>
              </a:rPr>
              <a:t>Medium datasets</a:t>
            </a:r>
          </a:p>
        </p:txBody>
      </p:sp>
      <p:sp>
        <p:nvSpPr>
          <p:cNvPr id="7" name="TextBox 6">
            <a:extLst>
              <a:ext uri="{FF2B5EF4-FFF2-40B4-BE49-F238E27FC236}">
                <a16:creationId xmlns:a16="http://schemas.microsoft.com/office/drawing/2014/main" id="{2814D25C-860F-D597-6841-DF1FB478D78A}"/>
              </a:ext>
            </a:extLst>
          </p:cNvPr>
          <p:cNvSpPr txBox="1"/>
          <p:nvPr/>
        </p:nvSpPr>
        <p:spPr>
          <a:xfrm>
            <a:off x="8839358" y="1297858"/>
            <a:ext cx="2109295" cy="461665"/>
          </a:xfrm>
          <a:prstGeom prst="rect">
            <a:avLst/>
          </a:prstGeom>
          <a:noFill/>
        </p:spPr>
        <p:txBody>
          <a:bodyPr wrap="none" rtlCol="0">
            <a:spAutoFit/>
          </a:bodyPr>
          <a:lstStyle/>
          <a:p>
            <a:pPr algn="ctr"/>
            <a:r>
              <a:rPr lang="en-US" sz="2400" dirty="0">
                <a:latin typeface="Abadi" panose="020B0604020104020204" pitchFamily="34" charset="0"/>
              </a:rPr>
              <a:t>Large datasets</a:t>
            </a:r>
          </a:p>
        </p:txBody>
      </p:sp>
      <p:sp>
        <p:nvSpPr>
          <p:cNvPr id="15" name="TextBox 14">
            <a:extLst>
              <a:ext uri="{FF2B5EF4-FFF2-40B4-BE49-F238E27FC236}">
                <a16:creationId xmlns:a16="http://schemas.microsoft.com/office/drawing/2014/main" id="{E715BF9E-6061-41E0-9AB5-82ACD1F4F5A8}"/>
              </a:ext>
            </a:extLst>
          </p:cNvPr>
          <p:cNvSpPr txBox="1"/>
          <p:nvPr/>
        </p:nvSpPr>
        <p:spPr>
          <a:xfrm>
            <a:off x="2090815" y="2240964"/>
            <a:ext cx="1159933" cy="923330"/>
          </a:xfrm>
          <a:prstGeom prst="rect">
            <a:avLst/>
          </a:prstGeom>
          <a:noFill/>
        </p:spPr>
        <p:txBody>
          <a:bodyPr wrap="none" rtlCol="0">
            <a:spAutoFit/>
          </a:bodyPr>
          <a:lstStyle/>
          <a:p>
            <a:pPr algn="ctr"/>
            <a:r>
              <a:rPr lang="en-US" i="1" dirty="0" err="1">
                <a:latin typeface="Abadi" panose="020B0604020104020204" pitchFamily="34" charset="0"/>
              </a:rPr>
              <a:t>Lamprolia</a:t>
            </a:r>
            <a:endParaRPr lang="en-US" dirty="0">
              <a:latin typeface="Abadi" panose="020B0604020104020204" pitchFamily="34" charset="0"/>
            </a:endParaRPr>
          </a:p>
          <a:p>
            <a:pPr algn="ctr"/>
            <a:r>
              <a:rPr lang="en-US" dirty="0" err="1">
                <a:latin typeface="Abadi" panose="020B0604020104020204" pitchFamily="34" charset="0"/>
              </a:rPr>
              <a:t>Silktails</a:t>
            </a:r>
            <a:endParaRPr lang="en-US" dirty="0">
              <a:latin typeface="Abadi" panose="020B0604020104020204" pitchFamily="34" charset="0"/>
            </a:endParaRPr>
          </a:p>
          <a:p>
            <a:pPr algn="ctr"/>
            <a:r>
              <a:rPr lang="en-US" dirty="0">
                <a:latin typeface="Abadi" panose="020B0604020104020204" pitchFamily="34" charset="0"/>
              </a:rPr>
              <a:t>Fiji</a:t>
            </a:r>
          </a:p>
        </p:txBody>
      </p:sp>
      <p:sp>
        <p:nvSpPr>
          <p:cNvPr id="21" name="TextBox 20">
            <a:extLst>
              <a:ext uri="{FF2B5EF4-FFF2-40B4-BE49-F238E27FC236}">
                <a16:creationId xmlns:a16="http://schemas.microsoft.com/office/drawing/2014/main" id="{BD8B2FBF-E6D1-4BDF-DB1D-CCF38F235E71}"/>
              </a:ext>
            </a:extLst>
          </p:cNvPr>
          <p:cNvSpPr txBox="1"/>
          <p:nvPr/>
        </p:nvSpPr>
        <p:spPr>
          <a:xfrm>
            <a:off x="2010561" y="5757269"/>
            <a:ext cx="1214435" cy="923330"/>
          </a:xfrm>
          <a:prstGeom prst="rect">
            <a:avLst/>
          </a:prstGeom>
          <a:noFill/>
        </p:spPr>
        <p:txBody>
          <a:bodyPr wrap="none" rtlCol="0">
            <a:spAutoFit/>
          </a:bodyPr>
          <a:lstStyle/>
          <a:p>
            <a:pPr algn="ctr"/>
            <a:r>
              <a:rPr lang="en-US" i="1" dirty="0">
                <a:latin typeface="Abadi" panose="020B0604020104020204" pitchFamily="34" charset="0"/>
              </a:rPr>
              <a:t>Ptilinopus</a:t>
            </a:r>
            <a:endParaRPr lang="en-US" dirty="0">
              <a:latin typeface="Abadi" panose="020B0604020104020204" pitchFamily="34" charset="0"/>
            </a:endParaRPr>
          </a:p>
          <a:p>
            <a:pPr algn="ctr"/>
            <a:r>
              <a:rPr lang="en-US" dirty="0">
                <a:latin typeface="Abadi" panose="020B0604020104020204" pitchFamily="34" charset="0"/>
              </a:rPr>
              <a:t>Fruit-Dove</a:t>
            </a:r>
          </a:p>
          <a:p>
            <a:pPr algn="ctr"/>
            <a:r>
              <a:rPr lang="en-US" dirty="0">
                <a:latin typeface="Abadi" panose="020B0604020104020204" pitchFamily="34" charset="0"/>
              </a:rPr>
              <a:t>Solomons</a:t>
            </a:r>
          </a:p>
        </p:txBody>
      </p:sp>
      <p:sp>
        <p:nvSpPr>
          <p:cNvPr id="23" name="TextBox 22">
            <a:extLst>
              <a:ext uri="{FF2B5EF4-FFF2-40B4-BE49-F238E27FC236}">
                <a16:creationId xmlns:a16="http://schemas.microsoft.com/office/drawing/2014/main" id="{9F973EC5-65DC-3841-9CC3-273845C804FA}"/>
              </a:ext>
            </a:extLst>
          </p:cNvPr>
          <p:cNvSpPr txBox="1"/>
          <p:nvPr/>
        </p:nvSpPr>
        <p:spPr>
          <a:xfrm>
            <a:off x="98956" y="4187608"/>
            <a:ext cx="1481367" cy="923330"/>
          </a:xfrm>
          <a:prstGeom prst="rect">
            <a:avLst/>
          </a:prstGeom>
          <a:noFill/>
        </p:spPr>
        <p:txBody>
          <a:bodyPr wrap="none" rtlCol="0">
            <a:spAutoFit/>
          </a:bodyPr>
          <a:lstStyle/>
          <a:p>
            <a:pPr algn="ctr"/>
            <a:r>
              <a:rPr lang="en-US" i="1" dirty="0" err="1">
                <a:latin typeface="Abadi" panose="020B0604020104020204" pitchFamily="34" charset="0"/>
              </a:rPr>
              <a:t>Macropygia</a:t>
            </a:r>
            <a:endParaRPr lang="en-US" dirty="0">
              <a:latin typeface="Abadi" panose="020B0604020104020204" pitchFamily="34" charset="0"/>
            </a:endParaRPr>
          </a:p>
          <a:p>
            <a:pPr algn="ctr"/>
            <a:r>
              <a:rPr lang="en-US" dirty="0">
                <a:latin typeface="Abadi" panose="020B0604020104020204" pitchFamily="34" charset="0"/>
              </a:rPr>
              <a:t>Cuckoo-Dove</a:t>
            </a:r>
          </a:p>
          <a:p>
            <a:pPr algn="ctr"/>
            <a:r>
              <a:rPr lang="en-US" dirty="0">
                <a:latin typeface="Abadi" panose="020B0604020104020204" pitchFamily="34" charset="0"/>
              </a:rPr>
              <a:t>Solomons</a:t>
            </a:r>
          </a:p>
        </p:txBody>
      </p:sp>
      <p:sp>
        <p:nvSpPr>
          <p:cNvPr id="25" name="TextBox 24">
            <a:extLst>
              <a:ext uri="{FF2B5EF4-FFF2-40B4-BE49-F238E27FC236}">
                <a16:creationId xmlns:a16="http://schemas.microsoft.com/office/drawing/2014/main" id="{BC7870DE-DFCB-74FE-81AC-3EEA55192D82}"/>
              </a:ext>
            </a:extLst>
          </p:cNvPr>
          <p:cNvSpPr txBox="1"/>
          <p:nvPr/>
        </p:nvSpPr>
        <p:spPr>
          <a:xfrm>
            <a:off x="3958181" y="1848013"/>
            <a:ext cx="1906291" cy="923330"/>
          </a:xfrm>
          <a:prstGeom prst="rect">
            <a:avLst/>
          </a:prstGeom>
          <a:noFill/>
        </p:spPr>
        <p:txBody>
          <a:bodyPr wrap="none" rtlCol="0">
            <a:spAutoFit/>
          </a:bodyPr>
          <a:lstStyle/>
          <a:p>
            <a:pPr algn="ctr"/>
            <a:r>
              <a:rPr lang="en-US" i="1" dirty="0" err="1">
                <a:latin typeface="Abadi" panose="020B0604020104020204" pitchFamily="34" charset="0"/>
              </a:rPr>
              <a:t>Aplonis</a:t>
            </a:r>
            <a:r>
              <a:rPr lang="en-US" i="1" dirty="0">
                <a:latin typeface="Abadi" panose="020B0604020104020204" pitchFamily="34" charset="0"/>
              </a:rPr>
              <a:t> </a:t>
            </a:r>
            <a:r>
              <a:rPr lang="en-US" i="1" dirty="0" err="1">
                <a:latin typeface="Abadi" panose="020B0604020104020204" pitchFamily="34" charset="0"/>
              </a:rPr>
              <a:t>metallica</a:t>
            </a:r>
            <a:r>
              <a:rPr lang="en-US" i="1" dirty="0">
                <a:latin typeface="Abadi" panose="020B0604020104020204" pitchFamily="34" charset="0"/>
              </a:rPr>
              <a:t> </a:t>
            </a:r>
            <a:endParaRPr lang="en-US" dirty="0">
              <a:latin typeface="Abadi" panose="020B0604020104020204" pitchFamily="34" charset="0"/>
            </a:endParaRPr>
          </a:p>
          <a:p>
            <a:pPr algn="ctr"/>
            <a:r>
              <a:rPr lang="en-US" dirty="0">
                <a:latin typeface="Abadi" panose="020B0604020104020204" pitchFamily="34" charset="0"/>
              </a:rPr>
              <a:t>Metallic Starling</a:t>
            </a:r>
          </a:p>
          <a:p>
            <a:pPr algn="ctr"/>
            <a:r>
              <a:rPr lang="en-US" dirty="0">
                <a:latin typeface="Abadi" panose="020B0604020104020204" pitchFamily="34" charset="0"/>
              </a:rPr>
              <a:t>Solomons</a:t>
            </a:r>
          </a:p>
        </p:txBody>
      </p:sp>
      <p:sp>
        <p:nvSpPr>
          <p:cNvPr id="29" name="TextBox 28">
            <a:extLst>
              <a:ext uri="{FF2B5EF4-FFF2-40B4-BE49-F238E27FC236}">
                <a16:creationId xmlns:a16="http://schemas.microsoft.com/office/drawing/2014/main" id="{3A2EB3E3-A6C8-B297-A442-0FF7F6742B73}"/>
              </a:ext>
            </a:extLst>
          </p:cNvPr>
          <p:cNvSpPr txBox="1"/>
          <p:nvPr/>
        </p:nvSpPr>
        <p:spPr>
          <a:xfrm>
            <a:off x="4022080" y="5872396"/>
            <a:ext cx="2224904" cy="923330"/>
          </a:xfrm>
          <a:prstGeom prst="rect">
            <a:avLst/>
          </a:prstGeom>
          <a:noFill/>
        </p:spPr>
        <p:txBody>
          <a:bodyPr wrap="none" rtlCol="0">
            <a:spAutoFit/>
          </a:bodyPr>
          <a:lstStyle/>
          <a:p>
            <a:pPr algn="ctr"/>
            <a:r>
              <a:rPr lang="en-US" i="1" dirty="0">
                <a:latin typeface="Abadi" panose="020B0604020104020204" pitchFamily="34" charset="0"/>
              </a:rPr>
              <a:t>Rhipidura </a:t>
            </a:r>
            <a:r>
              <a:rPr lang="en-US" i="1" dirty="0" err="1">
                <a:latin typeface="Abadi" panose="020B0604020104020204" pitchFamily="34" charset="0"/>
              </a:rPr>
              <a:t>leucophrys</a:t>
            </a:r>
            <a:endParaRPr lang="en-US" dirty="0">
              <a:latin typeface="Abadi" panose="020B0604020104020204" pitchFamily="34" charset="0"/>
            </a:endParaRPr>
          </a:p>
          <a:p>
            <a:pPr algn="ctr"/>
            <a:r>
              <a:rPr lang="en-US" dirty="0">
                <a:latin typeface="Abadi" panose="020B0604020104020204" pitchFamily="34" charset="0"/>
              </a:rPr>
              <a:t>Willie-wagtail</a:t>
            </a:r>
          </a:p>
          <a:p>
            <a:pPr algn="ctr"/>
            <a:r>
              <a:rPr lang="en-US" dirty="0">
                <a:latin typeface="Abadi" panose="020B0604020104020204" pitchFamily="34" charset="0"/>
              </a:rPr>
              <a:t>Solomons</a:t>
            </a:r>
          </a:p>
        </p:txBody>
      </p:sp>
      <p:sp>
        <p:nvSpPr>
          <p:cNvPr id="31" name="TextBox 30">
            <a:extLst>
              <a:ext uri="{FF2B5EF4-FFF2-40B4-BE49-F238E27FC236}">
                <a16:creationId xmlns:a16="http://schemas.microsoft.com/office/drawing/2014/main" id="{623CC9D5-35B4-EDA7-E72D-7411CB0F7D34}"/>
              </a:ext>
            </a:extLst>
          </p:cNvPr>
          <p:cNvSpPr txBox="1"/>
          <p:nvPr/>
        </p:nvSpPr>
        <p:spPr>
          <a:xfrm>
            <a:off x="5906023" y="2967335"/>
            <a:ext cx="2283959" cy="923330"/>
          </a:xfrm>
          <a:prstGeom prst="rect">
            <a:avLst/>
          </a:prstGeom>
          <a:noFill/>
        </p:spPr>
        <p:txBody>
          <a:bodyPr wrap="none" rtlCol="0">
            <a:spAutoFit/>
          </a:bodyPr>
          <a:lstStyle/>
          <a:p>
            <a:pPr algn="ctr"/>
            <a:r>
              <a:rPr lang="en-US" i="1" dirty="0" err="1">
                <a:latin typeface="Abadi" panose="020B0604020104020204" pitchFamily="34" charset="0"/>
              </a:rPr>
              <a:t>Aplonis</a:t>
            </a:r>
            <a:r>
              <a:rPr lang="en-US" i="1" dirty="0">
                <a:latin typeface="Abadi" panose="020B0604020104020204" pitchFamily="34" charset="0"/>
              </a:rPr>
              <a:t> grandis </a:t>
            </a:r>
            <a:endParaRPr lang="en-US" dirty="0">
              <a:latin typeface="Abadi" panose="020B0604020104020204" pitchFamily="34" charset="0"/>
            </a:endParaRPr>
          </a:p>
          <a:p>
            <a:pPr algn="ctr"/>
            <a:r>
              <a:rPr lang="en-US" dirty="0">
                <a:latin typeface="Abadi" panose="020B0604020104020204" pitchFamily="34" charset="0"/>
              </a:rPr>
              <a:t>Brown-wing Starlings</a:t>
            </a:r>
          </a:p>
          <a:p>
            <a:pPr algn="ctr"/>
            <a:r>
              <a:rPr lang="en-US" dirty="0">
                <a:latin typeface="Abadi" panose="020B0604020104020204" pitchFamily="34" charset="0"/>
              </a:rPr>
              <a:t>Solomons</a:t>
            </a:r>
          </a:p>
        </p:txBody>
      </p:sp>
      <p:sp>
        <p:nvSpPr>
          <p:cNvPr id="33" name="TextBox 32">
            <a:extLst>
              <a:ext uri="{FF2B5EF4-FFF2-40B4-BE49-F238E27FC236}">
                <a16:creationId xmlns:a16="http://schemas.microsoft.com/office/drawing/2014/main" id="{5AB6F6A0-9F85-FB9A-7438-8324105D5239}"/>
              </a:ext>
            </a:extLst>
          </p:cNvPr>
          <p:cNvSpPr txBox="1"/>
          <p:nvPr/>
        </p:nvSpPr>
        <p:spPr>
          <a:xfrm>
            <a:off x="10263843" y="2096629"/>
            <a:ext cx="1928157" cy="923330"/>
          </a:xfrm>
          <a:prstGeom prst="rect">
            <a:avLst/>
          </a:prstGeom>
          <a:noFill/>
        </p:spPr>
        <p:txBody>
          <a:bodyPr wrap="none" rtlCol="0">
            <a:spAutoFit/>
          </a:bodyPr>
          <a:lstStyle/>
          <a:p>
            <a:pPr algn="ctr"/>
            <a:r>
              <a:rPr lang="en-US" i="1" dirty="0">
                <a:latin typeface="Abadi" panose="020B0604020104020204" pitchFamily="34" charset="0"/>
              </a:rPr>
              <a:t>Ceyx</a:t>
            </a:r>
            <a:endParaRPr lang="en-US" dirty="0">
              <a:latin typeface="Abadi" panose="020B0604020104020204" pitchFamily="34" charset="0"/>
            </a:endParaRPr>
          </a:p>
          <a:p>
            <a:pPr algn="ctr"/>
            <a:r>
              <a:rPr lang="en-US" dirty="0">
                <a:latin typeface="Abadi" panose="020B0604020104020204" pitchFamily="34" charset="0"/>
              </a:rPr>
              <a:t>Dwarf-Kingfishers</a:t>
            </a:r>
          </a:p>
          <a:p>
            <a:pPr algn="ctr"/>
            <a:r>
              <a:rPr lang="en-US" dirty="0">
                <a:latin typeface="Abadi" panose="020B0604020104020204" pitchFamily="34" charset="0"/>
              </a:rPr>
              <a:t>Solomons</a:t>
            </a:r>
          </a:p>
        </p:txBody>
      </p:sp>
      <p:sp>
        <p:nvSpPr>
          <p:cNvPr id="35" name="TextBox 34">
            <a:extLst>
              <a:ext uri="{FF2B5EF4-FFF2-40B4-BE49-F238E27FC236}">
                <a16:creationId xmlns:a16="http://schemas.microsoft.com/office/drawing/2014/main" id="{0E326907-DD1C-CCC5-A5A4-7DC81C341392}"/>
              </a:ext>
            </a:extLst>
          </p:cNvPr>
          <p:cNvSpPr txBox="1"/>
          <p:nvPr/>
        </p:nvSpPr>
        <p:spPr>
          <a:xfrm>
            <a:off x="8415574" y="5876043"/>
            <a:ext cx="1527791" cy="923330"/>
          </a:xfrm>
          <a:prstGeom prst="rect">
            <a:avLst/>
          </a:prstGeom>
          <a:noFill/>
        </p:spPr>
        <p:txBody>
          <a:bodyPr wrap="none" rtlCol="0">
            <a:spAutoFit/>
          </a:bodyPr>
          <a:lstStyle/>
          <a:p>
            <a:pPr algn="ctr"/>
            <a:r>
              <a:rPr lang="en-US" i="1" dirty="0">
                <a:latin typeface="Abadi" panose="020B0604020104020204" pitchFamily="34" charset="0"/>
              </a:rPr>
              <a:t>Pachycephala</a:t>
            </a:r>
            <a:endParaRPr lang="en-US" dirty="0">
              <a:latin typeface="Abadi" panose="020B0604020104020204" pitchFamily="34" charset="0"/>
            </a:endParaRPr>
          </a:p>
          <a:p>
            <a:pPr algn="ctr"/>
            <a:r>
              <a:rPr lang="en-US" dirty="0">
                <a:latin typeface="Abadi" panose="020B0604020104020204" pitchFamily="34" charset="0"/>
              </a:rPr>
              <a:t>Whistlers</a:t>
            </a:r>
          </a:p>
          <a:p>
            <a:pPr algn="ctr"/>
            <a:r>
              <a:rPr lang="en-US" dirty="0">
                <a:latin typeface="Abadi" panose="020B0604020104020204" pitchFamily="34" charset="0"/>
              </a:rPr>
              <a:t>Fiji</a:t>
            </a:r>
          </a:p>
        </p:txBody>
      </p:sp>
      <p:sp>
        <p:nvSpPr>
          <p:cNvPr id="37" name="TextBox 36">
            <a:extLst>
              <a:ext uri="{FF2B5EF4-FFF2-40B4-BE49-F238E27FC236}">
                <a16:creationId xmlns:a16="http://schemas.microsoft.com/office/drawing/2014/main" id="{45F2D581-DDC0-47F4-9601-68E9279F4D66}"/>
              </a:ext>
            </a:extLst>
          </p:cNvPr>
          <p:cNvSpPr txBox="1"/>
          <p:nvPr/>
        </p:nvSpPr>
        <p:spPr>
          <a:xfrm>
            <a:off x="5864472" y="4833939"/>
            <a:ext cx="2134880" cy="923330"/>
          </a:xfrm>
          <a:prstGeom prst="rect">
            <a:avLst/>
          </a:prstGeom>
          <a:noFill/>
        </p:spPr>
        <p:txBody>
          <a:bodyPr wrap="none" rtlCol="0">
            <a:spAutoFit/>
          </a:bodyPr>
          <a:lstStyle/>
          <a:p>
            <a:pPr algn="ctr"/>
            <a:r>
              <a:rPr lang="en-US" i="1" dirty="0">
                <a:latin typeface="Abadi" panose="020B0604020104020204" pitchFamily="34" charset="0"/>
              </a:rPr>
              <a:t>Rhipidura </a:t>
            </a:r>
            <a:r>
              <a:rPr lang="en-US" i="1" dirty="0" err="1">
                <a:latin typeface="Abadi" panose="020B0604020104020204" pitchFamily="34" charset="0"/>
              </a:rPr>
              <a:t>rufofronta</a:t>
            </a:r>
            <a:endParaRPr lang="en-US" dirty="0">
              <a:latin typeface="Abadi" panose="020B0604020104020204" pitchFamily="34" charset="0"/>
            </a:endParaRPr>
          </a:p>
          <a:p>
            <a:pPr algn="ctr"/>
            <a:r>
              <a:rPr lang="en-US" dirty="0">
                <a:latin typeface="Abadi" panose="020B0604020104020204" pitchFamily="34" charset="0"/>
              </a:rPr>
              <a:t>Rufous Fantail</a:t>
            </a:r>
          </a:p>
          <a:p>
            <a:pPr algn="ctr"/>
            <a:r>
              <a:rPr lang="en-US" dirty="0">
                <a:latin typeface="Abadi" panose="020B0604020104020204" pitchFamily="34" charset="0"/>
              </a:rPr>
              <a:t>Solomons</a:t>
            </a:r>
          </a:p>
        </p:txBody>
      </p:sp>
      <p:sp>
        <p:nvSpPr>
          <p:cNvPr id="39" name="TextBox 38">
            <a:extLst>
              <a:ext uri="{FF2B5EF4-FFF2-40B4-BE49-F238E27FC236}">
                <a16:creationId xmlns:a16="http://schemas.microsoft.com/office/drawing/2014/main" id="{81DD5114-4D9C-48F2-9534-2B2D855F288C}"/>
              </a:ext>
            </a:extLst>
          </p:cNvPr>
          <p:cNvSpPr txBox="1"/>
          <p:nvPr/>
        </p:nvSpPr>
        <p:spPr>
          <a:xfrm>
            <a:off x="4268425" y="3943289"/>
            <a:ext cx="1285801" cy="923330"/>
          </a:xfrm>
          <a:prstGeom prst="rect">
            <a:avLst/>
          </a:prstGeom>
          <a:noFill/>
        </p:spPr>
        <p:txBody>
          <a:bodyPr wrap="none" rtlCol="0">
            <a:spAutoFit/>
          </a:bodyPr>
          <a:lstStyle/>
          <a:p>
            <a:pPr algn="ctr"/>
            <a:r>
              <a:rPr lang="en-US" i="1" dirty="0">
                <a:latin typeface="Abadi" panose="020B0604020104020204" pitchFamily="34" charset="0"/>
              </a:rPr>
              <a:t>Myiagra</a:t>
            </a:r>
            <a:endParaRPr lang="en-US" dirty="0">
              <a:latin typeface="Abadi" panose="020B0604020104020204" pitchFamily="34" charset="0"/>
            </a:endParaRPr>
          </a:p>
          <a:p>
            <a:pPr algn="ctr"/>
            <a:r>
              <a:rPr lang="en-US" dirty="0">
                <a:latin typeface="Abadi" panose="020B0604020104020204" pitchFamily="34" charset="0"/>
              </a:rPr>
              <a:t>Flycatchers</a:t>
            </a:r>
          </a:p>
          <a:p>
            <a:pPr algn="ctr"/>
            <a:r>
              <a:rPr lang="en-US" dirty="0">
                <a:latin typeface="Abadi" panose="020B0604020104020204" pitchFamily="34" charset="0"/>
              </a:rPr>
              <a:t>Solomons</a:t>
            </a:r>
          </a:p>
        </p:txBody>
      </p:sp>
      <p:sp>
        <p:nvSpPr>
          <p:cNvPr id="41" name="TextBox 40">
            <a:extLst>
              <a:ext uri="{FF2B5EF4-FFF2-40B4-BE49-F238E27FC236}">
                <a16:creationId xmlns:a16="http://schemas.microsoft.com/office/drawing/2014/main" id="{511ED981-1401-6C23-D144-ED081531C26D}"/>
              </a:ext>
            </a:extLst>
          </p:cNvPr>
          <p:cNvSpPr txBox="1"/>
          <p:nvPr/>
        </p:nvSpPr>
        <p:spPr>
          <a:xfrm>
            <a:off x="8263174" y="3391127"/>
            <a:ext cx="1630831" cy="923330"/>
          </a:xfrm>
          <a:prstGeom prst="rect">
            <a:avLst/>
          </a:prstGeom>
          <a:noFill/>
        </p:spPr>
        <p:txBody>
          <a:bodyPr wrap="none" rtlCol="0">
            <a:spAutoFit/>
          </a:bodyPr>
          <a:lstStyle/>
          <a:p>
            <a:pPr algn="ctr"/>
            <a:r>
              <a:rPr lang="en-US" i="1" dirty="0" err="1">
                <a:latin typeface="Abadi" panose="020B0604020104020204" pitchFamily="34" charset="0"/>
              </a:rPr>
              <a:t>Symposiachrus</a:t>
            </a:r>
            <a:endParaRPr lang="en-US" dirty="0">
              <a:latin typeface="Abadi" panose="020B0604020104020204" pitchFamily="34" charset="0"/>
            </a:endParaRPr>
          </a:p>
          <a:p>
            <a:pPr algn="ctr"/>
            <a:r>
              <a:rPr lang="en-US" dirty="0">
                <a:latin typeface="Abadi" panose="020B0604020104020204" pitchFamily="34" charset="0"/>
              </a:rPr>
              <a:t>Monarchs</a:t>
            </a:r>
          </a:p>
          <a:p>
            <a:pPr algn="ctr"/>
            <a:r>
              <a:rPr lang="en-US" dirty="0">
                <a:latin typeface="Abadi" panose="020B0604020104020204" pitchFamily="34" charset="0"/>
              </a:rPr>
              <a:t>Solomons</a:t>
            </a:r>
          </a:p>
        </p:txBody>
      </p:sp>
      <p:sp>
        <p:nvSpPr>
          <p:cNvPr id="43" name="TextBox 42">
            <a:extLst>
              <a:ext uri="{FF2B5EF4-FFF2-40B4-BE49-F238E27FC236}">
                <a16:creationId xmlns:a16="http://schemas.microsoft.com/office/drawing/2014/main" id="{338B1331-5314-2A58-AD85-2A9933155A7E}"/>
              </a:ext>
            </a:extLst>
          </p:cNvPr>
          <p:cNvSpPr txBox="1"/>
          <p:nvPr/>
        </p:nvSpPr>
        <p:spPr>
          <a:xfrm>
            <a:off x="10601307" y="4649273"/>
            <a:ext cx="1253228" cy="923330"/>
          </a:xfrm>
          <a:prstGeom prst="rect">
            <a:avLst/>
          </a:prstGeom>
          <a:noFill/>
        </p:spPr>
        <p:txBody>
          <a:bodyPr wrap="none" rtlCol="0">
            <a:spAutoFit/>
          </a:bodyPr>
          <a:lstStyle/>
          <a:p>
            <a:pPr algn="ctr"/>
            <a:r>
              <a:rPr lang="en-US" i="1" dirty="0">
                <a:latin typeface="Abadi" panose="020B0604020104020204" pitchFamily="34" charset="0"/>
              </a:rPr>
              <a:t>Zosterops</a:t>
            </a:r>
            <a:endParaRPr lang="en-US" dirty="0">
              <a:latin typeface="Abadi" panose="020B0604020104020204" pitchFamily="34" charset="0"/>
            </a:endParaRPr>
          </a:p>
          <a:p>
            <a:pPr algn="ctr"/>
            <a:r>
              <a:rPr lang="en-US" dirty="0">
                <a:latin typeface="Abadi" panose="020B0604020104020204" pitchFamily="34" charset="0"/>
              </a:rPr>
              <a:t>White-eyes</a:t>
            </a:r>
          </a:p>
          <a:p>
            <a:pPr algn="ctr"/>
            <a:r>
              <a:rPr lang="en-US" dirty="0">
                <a:latin typeface="Abadi" panose="020B0604020104020204" pitchFamily="34" charset="0"/>
              </a:rPr>
              <a:t>Solomons</a:t>
            </a:r>
          </a:p>
        </p:txBody>
      </p:sp>
      <p:pic>
        <p:nvPicPr>
          <p:cNvPr id="46" name="Picture 45" descr="A close-up of a bird&#10;&#10;Description automatically generated">
            <a:extLst>
              <a:ext uri="{FF2B5EF4-FFF2-40B4-BE49-F238E27FC236}">
                <a16:creationId xmlns:a16="http://schemas.microsoft.com/office/drawing/2014/main" id="{647EED89-7F48-885F-23BA-F5E12CD7EE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06023" y="3930322"/>
            <a:ext cx="1463506" cy="903617"/>
          </a:xfrm>
          <a:prstGeom prst="rect">
            <a:avLst/>
          </a:prstGeom>
        </p:spPr>
      </p:pic>
      <p:pic>
        <p:nvPicPr>
          <p:cNvPr id="47" name="Picture 46" descr="A black and white bird on a branch&#10;&#10;Description automatically generated">
            <a:extLst>
              <a:ext uri="{FF2B5EF4-FFF2-40B4-BE49-F238E27FC236}">
                <a16:creationId xmlns:a16="http://schemas.microsoft.com/office/drawing/2014/main" id="{07FE8F98-63A1-4890-A4DA-44F506E8A1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302872" y="3233040"/>
            <a:ext cx="1900578" cy="1394563"/>
          </a:xfrm>
          <a:prstGeom prst="rect">
            <a:avLst/>
          </a:prstGeom>
        </p:spPr>
      </p:pic>
      <p:pic>
        <p:nvPicPr>
          <p:cNvPr id="48" name="Picture 47" descr="A close-up of a bird&#10;&#10;Description automatically generated">
            <a:extLst>
              <a:ext uri="{FF2B5EF4-FFF2-40B4-BE49-F238E27FC236}">
                <a16:creationId xmlns:a16="http://schemas.microsoft.com/office/drawing/2014/main" id="{A4C7724A-BCA7-7F7A-C4CE-7D45233FF4B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8082291" y="4602572"/>
            <a:ext cx="2418560" cy="1250220"/>
          </a:xfrm>
          <a:prstGeom prst="rect">
            <a:avLst/>
          </a:prstGeom>
        </p:spPr>
      </p:pic>
      <p:pic>
        <p:nvPicPr>
          <p:cNvPr id="49" name="Picture 48" descr="A brown bird sitting on a branch&#10;&#10;Description automatically generated">
            <a:extLst>
              <a:ext uri="{FF2B5EF4-FFF2-40B4-BE49-F238E27FC236}">
                <a16:creationId xmlns:a16="http://schemas.microsoft.com/office/drawing/2014/main" id="{D9A18230-6A8E-B26A-3413-45A36F759BD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89128" y="3801891"/>
            <a:ext cx="1563308" cy="1758251"/>
          </a:xfrm>
          <a:prstGeom prst="rect">
            <a:avLst/>
          </a:prstGeom>
        </p:spPr>
      </p:pic>
      <p:pic>
        <p:nvPicPr>
          <p:cNvPr id="51" name="Picture 50" descr="A black and white bird&#10;&#10;Description automatically generated">
            <a:extLst>
              <a:ext uri="{FF2B5EF4-FFF2-40B4-BE49-F238E27FC236}">
                <a16:creationId xmlns:a16="http://schemas.microsoft.com/office/drawing/2014/main" id="{360F6D41-A1C1-55DC-3C3C-948A32D6F01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382810" y="5967209"/>
            <a:ext cx="1500612" cy="890791"/>
          </a:xfrm>
          <a:prstGeom prst="rect">
            <a:avLst/>
          </a:prstGeom>
        </p:spPr>
      </p:pic>
      <p:pic>
        <p:nvPicPr>
          <p:cNvPr id="52" name="Picture 51" descr="A green bird with pink and yellow feathers&#10;&#10;Description automatically generated">
            <a:extLst>
              <a:ext uri="{FF2B5EF4-FFF2-40B4-BE49-F238E27FC236}">
                <a16:creationId xmlns:a16="http://schemas.microsoft.com/office/drawing/2014/main" id="{8040871E-4EF2-F6D8-A8FE-691BDA15EB6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97960" y="5013839"/>
            <a:ext cx="1544688" cy="1781887"/>
          </a:xfrm>
          <a:prstGeom prst="rect">
            <a:avLst/>
          </a:prstGeom>
        </p:spPr>
      </p:pic>
      <p:pic>
        <p:nvPicPr>
          <p:cNvPr id="53" name="Picture 52" descr="A close-up of a bird&#10;&#10;Description automatically generated">
            <a:extLst>
              <a:ext uri="{FF2B5EF4-FFF2-40B4-BE49-F238E27FC236}">
                <a16:creationId xmlns:a16="http://schemas.microsoft.com/office/drawing/2014/main" id="{1F1F5D77-7A3B-7E3B-441A-93041190E26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238955" y="1920007"/>
            <a:ext cx="2005739" cy="1372478"/>
          </a:xfrm>
          <a:prstGeom prst="rect">
            <a:avLst/>
          </a:prstGeom>
        </p:spPr>
      </p:pic>
      <p:pic>
        <p:nvPicPr>
          <p:cNvPr id="55" name="Picture 54" descr="A close up of a bird&#10;&#10;Description automatically generated with medium confidence">
            <a:extLst>
              <a:ext uri="{FF2B5EF4-FFF2-40B4-BE49-F238E27FC236}">
                <a16:creationId xmlns:a16="http://schemas.microsoft.com/office/drawing/2014/main" id="{CE1721EB-6FE7-631D-A485-6B94478148F3}"/>
              </a:ext>
            </a:extLst>
          </p:cNvPr>
          <p:cNvPicPr>
            <a:picLocks noChangeAspect="1"/>
          </p:cNvPicPr>
          <p:nvPr/>
        </p:nvPicPr>
        <p:blipFill>
          <a:blip r:embed="rId12">
            <a:extLst>
              <a:ext uri="{28A0092B-C50C-407E-A947-70E740481C1C}">
                <a14:useLocalDpi xmlns:a14="http://schemas.microsoft.com/office/drawing/2010/main" val="0"/>
              </a:ext>
            </a:extLst>
          </a:blip>
          <a:srcRect l="4805" r="7296"/>
          <a:stretch>
            <a:fillRect/>
          </a:stretch>
        </p:blipFill>
        <p:spPr>
          <a:xfrm>
            <a:off x="10377871" y="5618809"/>
            <a:ext cx="1614148" cy="1225684"/>
          </a:xfrm>
          <a:prstGeom prst="rect">
            <a:avLst/>
          </a:prstGeom>
        </p:spPr>
      </p:pic>
      <p:pic>
        <p:nvPicPr>
          <p:cNvPr id="56" name="Picture 55">
            <a:extLst>
              <a:ext uri="{FF2B5EF4-FFF2-40B4-BE49-F238E27FC236}">
                <a16:creationId xmlns:a16="http://schemas.microsoft.com/office/drawing/2014/main" id="{75F98FE7-E002-D1F2-4484-4B2484D2F6CF}"/>
              </a:ext>
            </a:extLst>
          </p:cNvPr>
          <p:cNvPicPr>
            <a:picLocks noChangeAspect="1"/>
          </p:cNvPicPr>
          <p:nvPr/>
        </p:nvPicPr>
        <p:blipFill>
          <a:blip r:embed="rId13"/>
          <a:stretch>
            <a:fillRect/>
          </a:stretch>
        </p:blipFill>
        <p:spPr>
          <a:xfrm>
            <a:off x="238377" y="1859018"/>
            <a:ext cx="1772184" cy="1824650"/>
          </a:xfrm>
          <a:prstGeom prst="rect">
            <a:avLst/>
          </a:prstGeom>
        </p:spPr>
      </p:pic>
    </p:spTree>
    <p:extLst>
      <p:ext uri="{BB962C8B-B14F-4D97-AF65-F5344CB8AC3E}">
        <p14:creationId xmlns:p14="http://schemas.microsoft.com/office/powerpoint/2010/main" val="4284411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15" grpId="0"/>
      <p:bldP spid="21" grpId="0"/>
      <p:bldP spid="23" grpId="0"/>
      <p:bldP spid="25" grpId="0"/>
      <p:bldP spid="29" grpId="0"/>
      <p:bldP spid="31" grpId="0"/>
      <p:bldP spid="33" grpId="0"/>
      <p:bldP spid="35" grpId="0"/>
      <p:bldP spid="37" grpId="0"/>
      <p:bldP spid="39" grpId="0"/>
      <p:bldP spid="41" grpId="0"/>
      <p:bldP spid="4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8311C-E406-72E8-7423-AC3951D07840}"/>
            </a:ext>
          </a:extLst>
        </p:cNvPr>
        <p:cNvGrpSpPr/>
        <p:nvPr/>
      </p:nvGrpSpPr>
      <p:grpSpPr>
        <a:xfrm>
          <a:off x="0" y="0"/>
          <a:ext cx="0" cy="0"/>
          <a:chOff x="0" y="0"/>
          <a:chExt cx="0" cy="0"/>
        </a:xfrm>
      </p:grpSpPr>
      <p:pic>
        <p:nvPicPr>
          <p:cNvPr id="50" name="Picture 49" descr="A close-up of a bird&#10;&#10;Description automatically generated">
            <a:extLst>
              <a:ext uri="{FF2B5EF4-FFF2-40B4-BE49-F238E27FC236}">
                <a16:creationId xmlns:a16="http://schemas.microsoft.com/office/drawing/2014/main" id="{DA31D33D-30E1-2DF2-746E-9AC2A8D5E0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768127"/>
            <a:ext cx="1671764" cy="1344248"/>
          </a:xfrm>
          <a:prstGeom prst="rect">
            <a:avLst/>
          </a:prstGeom>
        </p:spPr>
      </p:pic>
      <p:pic>
        <p:nvPicPr>
          <p:cNvPr id="44" name="Picture 43" descr="A black bird with red eyes&#10;&#10;Description automatically generated">
            <a:extLst>
              <a:ext uri="{FF2B5EF4-FFF2-40B4-BE49-F238E27FC236}">
                <a16:creationId xmlns:a16="http://schemas.microsoft.com/office/drawing/2014/main" id="{090718EC-C318-0D8B-E9CA-5CE5654589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4459810" y="2702629"/>
            <a:ext cx="1116437" cy="1362710"/>
          </a:xfrm>
          <a:prstGeom prst="rect">
            <a:avLst/>
          </a:prstGeom>
        </p:spPr>
      </p:pic>
      <p:pic>
        <p:nvPicPr>
          <p:cNvPr id="45" name="Picture 44" descr="A bird with long tail&#10;&#10;Description automatically generated">
            <a:extLst>
              <a:ext uri="{FF2B5EF4-FFF2-40B4-BE49-F238E27FC236}">
                <a16:creationId xmlns:a16="http://schemas.microsoft.com/office/drawing/2014/main" id="{9A96E1B2-D33A-D715-E7BA-70C38FE425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64031" y="4289684"/>
            <a:ext cx="1019970" cy="1582712"/>
          </a:xfrm>
          <a:prstGeom prst="rect">
            <a:avLst/>
          </a:prstGeom>
        </p:spPr>
      </p:pic>
      <p:sp>
        <p:nvSpPr>
          <p:cNvPr id="2" name="Title 1">
            <a:extLst>
              <a:ext uri="{FF2B5EF4-FFF2-40B4-BE49-F238E27FC236}">
                <a16:creationId xmlns:a16="http://schemas.microsoft.com/office/drawing/2014/main" id="{CC270015-5E9C-4ECC-99D6-3085B724A826}"/>
              </a:ext>
            </a:extLst>
          </p:cNvPr>
          <p:cNvSpPr>
            <a:spLocks noGrp="1"/>
          </p:cNvSpPr>
          <p:nvPr>
            <p:ph type="title"/>
          </p:nvPr>
        </p:nvSpPr>
        <p:spPr>
          <a:xfrm>
            <a:off x="798870" y="304625"/>
            <a:ext cx="10999839" cy="904743"/>
          </a:xfrm>
        </p:spPr>
        <p:txBody>
          <a:bodyPr>
            <a:normAutofit fontScale="90000"/>
          </a:bodyPr>
          <a:lstStyle/>
          <a:p>
            <a:pPr algn="ctr"/>
            <a:r>
              <a:rPr lang="en-US" sz="6000" b="1" dirty="0">
                <a:latin typeface="Aharoni" panose="02010803020104030203" pitchFamily="2" charset="-79"/>
                <a:cs typeface="Aharoni" panose="02010803020104030203" pitchFamily="2" charset="-79"/>
              </a:rPr>
              <a:t>Choosing datasets</a:t>
            </a:r>
          </a:p>
        </p:txBody>
      </p:sp>
      <p:sp>
        <p:nvSpPr>
          <p:cNvPr id="3" name="TextBox 2">
            <a:extLst>
              <a:ext uri="{FF2B5EF4-FFF2-40B4-BE49-F238E27FC236}">
                <a16:creationId xmlns:a16="http://schemas.microsoft.com/office/drawing/2014/main" id="{9A54AC6B-A9CE-3F53-80EE-9BF820B64095}"/>
              </a:ext>
            </a:extLst>
          </p:cNvPr>
          <p:cNvSpPr txBox="1"/>
          <p:nvPr/>
        </p:nvSpPr>
        <p:spPr>
          <a:xfrm>
            <a:off x="789233" y="1297858"/>
            <a:ext cx="2079993" cy="461665"/>
          </a:xfrm>
          <a:prstGeom prst="rect">
            <a:avLst/>
          </a:prstGeom>
          <a:noFill/>
        </p:spPr>
        <p:txBody>
          <a:bodyPr wrap="none" rtlCol="0">
            <a:spAutoFit/>
          </a:bodyPr>
          <a:lstStyle/>
          <a:p>
            <a:pPr algn="ctr"/>
            <a:r>
              <a:rPr lang="en-US" sz="2400" dirty="0">
                <a:latin typeface="Abadi" panose="020B0604020104020204" pitchFamily="34" charset="0"/>
              </a:rPr>
              <a:t>Small datasets</a:t>
            </a:r>
          </a:p>
        </p:txBody>
      </p:sp>
      <p:sp>
        <p:nvSpPr>
          <p:cNvPr id="5" name="TextBox 4">
            <a:extLst>
              <a:ext uri="{FF2B5EF4-FFF2-40B4-BE49-F238E27FC236}">
                <a16:creationId xmlns:a16="http://schemas.microsoft.com/office/drawing/2014/main" id="{E7598625-D5B0-7121-79AF-480CD6FC79A3}"/>
              </a:ext>
            </a:extLst>
          </p:cNvPr>
          <p:cNvSpPr txBox="1"/>
          <p:nvPr/>
        </p:nvSpPr>
        <p:spPr>
          <a:xfrm>
            <a:off x="4710080" y="1297858"/>
            <a:ext cx="2423036" cy="461665"/>
          </a:xfrm>
          <a:prstGeom prst="rect">
            <a:avLst/>
          </a:prstGeom>
          <a:noFill/>
        </p:spPr>
        <p:txBody>
          <a:bodyPr wrap="none" rtlCol="0">
            <a:spAutoFit/>
          </a:bodyPr>
          <a:lstStyle/>
          <a:p>
            <a:pPr algn="ctr"/>
            <a:r>
              <a:rPr lang="en-US" sz="2400" dirty="0">
                <a:latin typeface="Abadi" panose="020B0604020104020204" pitchFamily="34" charset="0"/>
              </a:rPr>
              <a:t>Medium datasets</a:t>
            </a:r>
          </a:p>
        </p:txBody>
      </p:sp>
      <p:sp>
        <p:nvSpPr>
          <p:cNvPr id="7" name="TextBox 6">
            <a:extLst>
              <a:ext uri="{FF2B5EF4-FFF2-40B4-BE49-F238E27FC236}">
                <a16:creationId xmlns:a16="http://schemas.microsoft.com/office/drawing/2014/main" id="{1F95B03A-3DF4-349B-8274-DAE2FA86E1FE}"/>
              </a:ext>
            </a:extLst>
          </p:cNvPr>
          <p:cNvSpPr txBox="1"/>
          <p:nvPr/>
        </p:nvSpPr>
        <p:spPr>
          <a:xfrm>
            <a:off x="8839358" y="1297858"/>
            <a:ext cx="2109295" cy="461665"/>
          </a:xfrm>
          <a:prstGeom prst="rect">
            <a:avLst/>
          </a:prstGeom>
          <a:noFill/>
        </p:spPr>
        <p:txBody>
          <a:bodyPr wrap="none" rtlCol="0">
            <a:spAutoFit/>
          </a:bodyPr>
          <a:lstStyle/>
          <a:p>
            <a:pPr algn="ctr"/>
            <a:r>
              <a:rPr lang="en-US" sz="2400" dirty="0">
                <a:latin typeface="Abadi" panose="020B0604020104020204" pitchFamily="34" charset="0"/>
              </a:rPr>
              <a:t>Large datasets</a:t>
            </a:r>
          </a:p>
        </p:txBody>
      </p:sp>
      <p:sp>
        <p:nvSpPr>
          <p:cNvPr id="15" name="TextBox 14">
            <a:extLst>
              <a:ext uri="{FF2B5EF4-FFF2-40B4-BE49-F238E27FC236}">
                <a16:creationId xmlns:a16="http://schemas.microsoft.com/office/drawing/2014/main" id="{CAC77606-3C67-F15E-6554-F5452ED78E0C}"/>
              </a:ext>
            </a:extLst>
          </p:cNvPr>
          <p:cNvSpPr txBox="1"/>
          <p:nvPr/>
        </p:nvSpPr>
        <p:spPr>
          <a:xfrm>
            <a:off x="2090815" y="2240964"/>
            <a:ext cx="1159933" cy="923330"/>
          </a:xfrm>
          <a:prstGeom prst="rect">
            <a:avLst/>
          </a:prstGeom>
          <a:noFill/>
        </p:spPr>
        <p:txBody>
          <a:bodyPr wrap="none" rtlCol="0">
            <a:spAutoFit/>
          </a:bodyPr>
          <a:lstStyle/>
          <a:p>
            <a:pPr algn="ctr"/>
            <a:r>
              <a:rPr lang="en-US" i="1" dirty="0" err="1">
                <a:latin typeface="Abadi" panose="020B0604020104020204" pitchFamily="34" charset="0"/>
              </a:rPr>
              <a:t>Lamprolia</a:t>
            </a:r>
            <a:endParaRPr lang="en-US" dirty="0">
              <a:latin typeface="Abadi" panose="020B0604020104020204" pitchFamily="34" charset="0"/>
            </a:endParaRPr>
          </a:p>
          <a:p>
            <a:pPr algn="ctr"/>
            <a:r>
              <a:rPr lang="en-US" dirty="0" err="1">
                <a:latin typeface="Abadi" panose="020B0604020104020204" pitchFamily="34" charset="0"/>
              </a:rPr>
              <a:t>Silktails</a:t>
            </a:r>
            <a:endParaRPr lang="en-US" dirty="0">
              <a:latin typeface="Abadi" panose="020B0604020104020204" pitchFamily="34" charset="0"/>
            </a:endParaRPr>
          </a:p>
          <a:p>
            <a:pPr algn="ctr"/>
            <a:r>
              <a:rPr lang="en-US" dirty="0">
                <a:latin typeface="Abadi" panose="020B0604020104020204" pitchFamily="34" charset="0"/>
              </a:rPr>
              <a:t>Fiji</a:t>
            </a:r>
          </a:p>
        </p:txBody>
      </p:sp>
      <p:sp>
        <p:nvSpPr>
          <p:cNvPr id="21" name="TextBox 20">
            <a:extLst>
              <a:ext uri="{FF2B5EF4-FFF2-40B4-BE49-F238E27FC236}">
                <a16:creationId xmlns:a16="http://schemas.microsoft.com/office/drawing/2014/main" id="{261BE761-8DF7-95B0-D913-FF2F20E9C6D2}"/>
              </a:ext>
            </a:extLst>
          </p:cNvPr>
          <p:cNvSpPr txBox="1"/>
          <p:nvPr/>
        </p:nvSpPr>
        <p:spPr>
          <a:xfrm>
            <a:off x="1971929" y="5757269"/>
            <a:ext cx="1291700" cy="923330"/>
          </a:xfrm>
          <a:prstGeom prst="rect">
            <a:avLst/>
          </a:prstGeom>
          <a:noFill/>
        </p:spPr>
        <p:txBody>
          <a:bodyPr wrap="none" rtlCol="0">
            <a:spAutoFit/>
          </a:bodyPr>
          <a:lstStyle/>
          <a:p>
            <a:pPr algn="ctr"/>
            <a:r>
              <a:rPr lang="en-US" b="1" i="1" dirty="0">
                <a:latin typeface="Abadi" panose="020B0604020104020204" pitchFamily="34" charset="0"/>
              </a:rPr>
              <a:t>Ptilinopus</a:t>
            </a:r>
            <a:endParaRPr lang="en-US" b="1" dirty="0">
              <a:latin typeface="Abadi" panose="020B0604020104020204" pitchFamily="34" charset="0"/>
            </a:endParaRPr>
          </a:p>
          <a:p>
            <a:pPr algn="ctr"/>
            <a:r>
              <a:rPr lang="en-US" b="1" dirty="0">
                <a:latin typeface="Abadi" panose="020B0604020104020204" pitchFamily="34" charset="0"/>
              </a:rPr>
              <a:t>Fruit-Dove</a:t>
            </a:r>
          </a:p>
          <a:p>
            <a:pPr algn="ctr"/>
            <a:r>
              <a:rPr lang="en-US" b="1" dirty="0">
                <a:latin typeface="Abadi" panose="020B0604020104020204" pitchFamily="34" charset="0"/>
              </a:rPr>
              <a:t>Solomons</a:t>
            </a:r>
          </a:p>
        </p:txBody>
      </p:sp>
      <p:sp>
        <p:nvSpPr>
          <p:cNvPr id="23" name="TextBox 22">
            <a:extLst>
              <a:ext uri="{FF2B5EF4-FFF2-40B4-BE49-F238E27FC236}">
                <a16:creationId xmlns:a16="http://schemas.microsoft.com/office/drawing/2014/main" id="{017A01A7-2C36-53E9-D11C-EBB931A0252E}"/>
              </a:ext>
            </a:extLst>
          </p:cNvPr>
          <p:cNvSpPr txBox="1"/>
          <p:nvPr/>
        </p:nvSpPr>
        <p:spPr>
          <a:xfrm>
            <a:off x="63049" y="4187608"/>
            <a:ext cx="1553182" cy="923330"/>
          </a:xfrm>
          <a:prstGeom prst="rect">
            <a:avLst/>
          </a:prstGeom>
          <a:noFill/>
        </p:spPr>
        <p:txBody>
          <a:bodyPr wrap="none" rtlCol="0">
            <a:spAutoFit/>
          </a:bodyPr>
          <a:lstStyle/>
          <a:p>
            <a:pPr algn="ctr"/>
            <a:r>
              <a:rPr lang="en-US" b="1" i="1" dirty="0" err="1">
                <a:latin typeface="Abadi" panose="020B0604020104020204" pitchFamily="34" charset="0"/>
              </a:rPr>
              <a:t>Macropygia</a:t>
            </a:r>
            <a:endParaRPr lang="en-US" b="1" dirty="0">
              <a:latin typeface="Abadi" panose="020B0604020104020204" pitchFamily="34" charset="0"/>
            </a:endParaRPr>
          </a:p>
          <a:p>
            <a:pPr algn="ctr"/>
            <a:r>
              <a:rPr lang="en-US" b="1" dirty="0">
                <a:latin typeface="Abadi" panose="020B0604020104020204" pitchFamily="34" charset="0"/>
              </a:rPr>
              <a:t>Cuckoo-Dove</a:t>
            </a:r>
          </a:p>
          <a:p>
            <a:pPr algn="ctr"/>
            <a:r>
              <a:rPr lang="en-US" b="1" dirty="0">
                <a:latin typeface="Abadi" panose="020B0604020104020204" pitchFamily="34" charset="0"/>
              </a:rPr>
              <a:t>Solomons</a:t>
            </a:r>
          </a:p>
        </p:txBody>
      </p:sp>
      <p:sp>
        <p:nvSpPr>
          <p:cNvPr id="25" name="TextBox 24">
            <a:extLst>
              <a:ext uri="{FF2B5EF4-FFF2-40B4-BE49-F238E27FC236}">
                <a16:creationId xmlns:a16="http://schemas.microsoft.com/office/drawing/2014/main" id="{3F32BB30-6901-CA48-31FF-461AFAE54B9F}"/>
              </a:ext>
            </a:extLst>
          </p:cNvPr>
          <p:cNvSpPr txBox="1"/>
          <p:nvPr/>
        </p:nvSpPr>
        <p:spPr>
          <a:xfrm>
            <a:off x="3958181" y="1848013"/>
            <a:ext cx="1906291" cy="923330"/>
          </a:xfrm>
          <a:prstGeom prst="rect">
            <a:avLst/>
          </a:prstGeom>
          <a:noFill/>
        </p:spPr>
        <p:txBody>
          <a:bodyPr wrap="none" rtlCol="0">
            <a:spAutoFit/>
          </a:bodyPr>
          <a:lstStyle/>
          <a:p>
            <a:pPr algn="ctr"/>
            <a:r>
              <a:rPr lang="en-US" b="1" i="1" dirty="0" err="1">
                <a:latin typeface="Abadi" panose="020B0604020104020204" pitchFamily="34" charset="0"/>
              </a:rPr>
              <a:t>Aplonis</a:t>
            </a:r>
            <a:r>
              <a:rPr lang="en-US" b="1" i="1" dirty="0">
                <a:latin typeface="Abadi" panose="020B0604020104020204" pitchFamily="34" charset="0"/>
              </a:rPr>
              <a:t> </a:t>
            </a:r>
            <a:r>
              <a:rPr lang="en-US" b="1" i="1" dirty="0" err="1">
                <a:latin typeface="Abadi" panose="020B0604020104020204" pitchFamily="34" charset="0"/>
              </a:rPr>
              <a:t>metallica</a:t>
            </a:r>
            <a:r>
              <a:rPr lang="en-US" b="1" i="1" dirty="0">
                <a:latin typeface="Abadi" panose="020B0604020104020204" pitchFamily="34" charset="0"/>
              </a:rPr>
              <a:t> </a:t>
            </a:r>
            <a:endParaRPr lang="en-US" b="1" dirty="0">
              <a:latin typeface="Abadi" panose="020B0604020104020204" pitchFamily="34" charset="0"/>
            </a:endParaRPr>
          </a:p>
          <a:p>
            <a:pPr algn="ctr"/>
            <a:r>
              <a:rPr lang="en-US" b="1" dirty="0">
                <a:latin typeface="Abadi" panose="020B0604020104020204" pitchFamily="34" charset="0"/>
              </a:rPr>
              <a:t>Metallic Starling</a:t>
            </a:r>
          </a:p>
          <a:p>
            <a:pPr algn="ctr"/>
            <a:r>
              <a:rPr lang="en-US" b="1" dirty="0">
                <a:latin typeface="Abadi" panose="020B0604020104020204" pitchFamily="34" charset="0"/>
              </a:rPr>
              <a:t>Solomons</a:t>
            </a:r>
          </a:p>
        </p:txBody>
      </p:sp>
      <p:sp>
        <p:nvSpPr>
          <p:cNvPr id="29" name="TextBox 28">
            <a:extLst>
              <a:ext uri="{FF2B5EF4-FFF2-40B4-BE49-F238E27FC236}">
                <a16:creationId xmlns:a16="http://schemas.microsoft.com/office/drawing/2014/main" id="{F7879253-2652-106B-19BF-4F8E8A6DC99F}"/>
              </a:ext>
            </a:extLst>
          </p:cNvPr>
          <p:cNvSpPr txBox="1"/>
          <p:nvPr/>
        </p:nvSpPr>
        <p:spPr>
          <a:xfrm>
            <a:off x="4022080" y="5872396"/>
            <a:ext cx="2224904" cy="923330"/>
          </a:xfrm>
          <a:prstGeom prst="rect">
            <a:avLst/>
          </a:prstGeom>
          <a:noFill/>
        </p:spPr>
        <p:txBody>
          <a:bodyPr wrap="none" rtlCol="0">
            <a:spAutoFit/>
          </a:bodyPr>
          <a:lstStyle/>
          <a:p>
            <a:pPr algn="ctr"/>
            <a:r>
              <a:rPr lang="en-US" b="1" i="1" dirty="0">
                <a:latin typeface="Abadi" panose="020B0604020104020204" pitchFamily="34" charset="0"/>
              </a:rPr>
              <a:t>Rhipidura </a:t>
            </a:r>
            <a:r>
              <a:rPr lang="en-US" b="1" i="1" dirty="0" err="1">
                <a:latin typeface="Abadi" panose="020B0604020104020204" pitchFamily="34" charset="0"/>
              </a:rPr>
              <a:t>leucophrys</a:t>
            </a:r>
            <a:endParaRPr lang="en-US" b="1" dirty="0">
              <a:latin typeface="Abadi" panose="020B0604020104020204" pitchFamily="34" charset="0"/>
            </a:endParaRPr>
          </a:p>
          <a:p>
            <a:pPr algn="ctr"/>
            <a:r>
              <a:rPr lang="en-US" b="1" dirty="0">
                <a:latin typeface="Abadi" panose="020B0604020104020204" pitchFamily="34" charset="0"/>
              </a:rPr>
              <a:t>Willie-wagtail</a:t>
            </a:r>
          </a:p>
          <a:p>
            <a:pPr algn="ctr"/>
            <a:r>
              <a:rPr lang="en-US" b="1" dirty="0">
                <a:latin typeface="Abadi" panose="020B0604020104020204" pitchFamily="34" charset="0"/>
              </a:rPr>
              <a:t>Solomons</a:t>
            </a:r>
          </a:p>
        </p:txBody>
      </p:sp>
      <p:sp>
        <p:nvSpPr>
          <p:cNvPr id="31" name="TextBox 30">
            <a:extLst>
              <a:ext uri="{FF2B5EF4-FFF2-40B4-BE49-F238E27FC236}">
                <a16:creationId xmlns:a16="http://schemas.microsoft.com/office/drawing/2014/main" id="{E9812B76-D586-D520-1787-8EB1CC1F5C41}"/>
              </a:ext>
            </a:extLst>
          </p:cNvPr>
          <p:cNvSpPr txBox="1"/>
          <p:nvPr/>
        </p:nvSpPr>
        <p:spPr>
          <a:xfrm>
            <a:off x="5852226" y="2967335"/>
            <a:ext cx="2391553" cy="923330"/>
          </a:xfrm>
          <a:prstGeom prst="rect">
            <a:avLst/>
          </a:prstGeom>
          <a:noFill/>
        </p:spPr>
        <p:txBody>
          <a:bodyPr wrap="none" rtlCol="0">
            <a:spAutoFit/>
          </a:bodyPr>
          <a:lstStyle/>
          <a:p>
            <a:pPr algn="ctr"/>
            <a:r>
              <a:rPr lang="en-US" b="1" i="1" dirty="0" err="1">
                <a:latin typeface="Abadi" panose="020B0604020104020204" pitchFamily="34" charset="0"/>
              </a:rPr>
              <a:t>Aplonis</a:t>
            </a:r>
            <a:r>
              <a:rPr lang="en-US" b="1" i="1" dirty="0">
                <a:latin typeface="Abadi" panose="020B0604020104020204" pitchFamily="34" charset="0"/>
              </a:rPr>
              <a:t> grandis </a:t>
            </a:r>
            <a:endParaRPr lang="en-US" b="1" dirty="0">
              <a:latin typeface="Abadi" panose="020B0604020104020204" pitchFamily="34" charset="0"/>
            </a:endParaRPr>
          </a:p>
          <a:p>
            <a:pPr algn="ctr"/>
            <a:r>
              <a:rPr lang="en-US" b="1" dirty="0">
                <a:latin typeface="Abadi" panose="020B0604020104020204" pitchFamily="34" charset="0"/>
              </a:rPr>
              <a:t>Brown-wing Starlings</a:t>
            </a:r>
          </a:p>
          <a:p>
            <a:pPr algn="ctr"/>
            <a:r>
              <a:rPr lang="en-US" b="1" dirty="0">
                <a:latin typeface="Abadi" panose="020B0604020104020204" pitchFamily="34" charset="0"/>
              </a:rPr>
              <a:t>Solomons</a:t>
            </a:r>
          </a:p>
        </p:txBody>
      </p:sp>
      <p:sp>
        <p:nvSpPr>
          <p:cNvPr id="33" name="TextBox 32">
            <a:extLst>
              <a:ext uri="{FF2B5EF4-FFF2-40B4-BE49-F238E27FC236}">
                <a16:creationId xmlns:a16="http://schemas.microsoft.com/office/drawing/2014/main" id="{748ACACF-651A-3D52-863B-5BFBF2995902}"/>
              </a:ext>
            </a:extLst>
          </p:cNvPr>
          <p:cNvSpPr txBox="1"/>
          <p:nvPr/>
        </p:nvSpPr>
        <p:spPr>
          <a:xfrm>
            <a:off x="10263843" y="2096629"/>
            <a:ext cx="1928157" cy="923330"/>
          </a:xfrm>
          <a:prstGeom prst="rect">
            <a:avLst/>
          </a:prstGeom>
          <a:noFill/>
        </p:spPr>
        <p:txBody>
          <a:bodyPr wrap="none" rtlCol="0">
            <a:spAutoFit/>
          </a:bodyPr>
          <a:lstStyle/>
          <a:p>
            <a:pPr algn="ctr"/>
            <a:r>
              <a:rPr lang="en-US" i="1" dirty="0">
                <a:latin typeface="Abadi" panose="020B0604020104020204" pitchFamily="34" charset="0"/>
              </a:rPr>
              <a:t>Ceyx</a:t>
            </a:r>
            <a:endParaRPr lang="en-US" dirty="0">
              <a:latin typeface="Abadi" panose="020B0604020104020204" pitchFamily="34" charset="0"/>
            </a:endParaRPr>
          </a:p>
          <a:p>
            <a:pPr algn="ctr"/>
            <a:r>
              <a:rPr lang="en-US" dirty="0">
                <a:latin typeface="Abadi" panose="020B0604020104020204" pitchFamily="34" charset="0"/>
              </a:rPr>
              <a:t>Dwarf-Kingfishers</a:t>
            </a:r>
          </a:p>
          <a:p>
            <a:pPr algn="ctr"/>
            <a:r>
              <a:rPr lang="en-US" dirty="0">
                <a:latin typeface="Abadi" panose="020B0604020104020204" pitchFamily="34" charset="0"/>
              </a:rPr>
              <a:t>Solomons</a:t>
            </a:r>
          </a:p>
        </p:txBody>
      </p:sp>
      <p:sp>
        <p:nvSpPr>
          <p:cNvPr id="35" name="TextBox 34">
            <a:extLst>
              <a:ext uri="{FF2B5EF4-FFF2-40B4-BE49-F238E27FC236}">
                <a16:creationId xmlns:a16="http://schemas.microsoft.com/office/drawing/2014/main" id="{7C4F2168-307F-81AF-780B-4D8FFF143E30}"/>
              </a:ext>
            </a:extLst>
          </p:cNvPr>
          <p:cNvSpPr txBox="1"/>
          <p:nvPr/>
        </p:nvSpPr>
        <p:spPr>
          <a:xfrm>
            <a:off x="8415574" y="5876043"/>
            <a:ext cx="1527791" cy="923330"/>
          </a:xfrm>
          <a:prstGeom prst="rect">
            <a:avLst/>
          </a:prstGeom>
          <a:noFill/>
        </p:spPr>
        <p:txBody>
          <a:bodyPr wrap="none" rtlCol="0">
            <a:spAutoFit/>
          </a:bodyPr>
          <a:lstStyle/>
          <a:p>
            <a:pPr algn="ctr"/>
            <a:r>
              <a:rPr lang="en-US" i="1" dirty="0">
                <a:latin typeface="Abadi" panose="020B0604020104020204" pitchFamily="34" charset="0"/>
              </a:rPr>
              <a:t>Pachycephala</a:t>
            </a:r>
            <a:endParaRPr lang="en-US" dirty="0">
              <a:latin typeface="Abadi" panose="020B0604020104020204" pitchFamily="34" charset="0"/>
            </a:endParaRPr>
          </a:p>
          <a:p>
            <a:pPr algn="ctr"/>
            <a:r>
              <a:rPr lang="en-US" dirty="0">
                <a:latin typeface="Abadi" panose="020B0604020104020204" pitchFamily="34" charset="0"/>
              </a:rPr>
              <a:t>Whistlers</a:t>
            </a:r>
          </a:p>
          <a:p>
            <a:pPr algn="ctr"/>
            <a:r>
              <a:rPr lang="en-US" dirty="0">
                <a:latin typeface="Abadi" panose="020B0604020104020204" pitchFamily="34" charset="0"/>
              </a:rPr>
              <a:t>Fiji</a:t>
            </a:r>
          </a:p>
        </p:txBody>
      </p:sp>
      <p:sp>
        <p:nvSpPr>
          <p:cNvPr id="37" name="TextBox 36">
            <a:extLst>
              <a:ext uri="{FF2B5EF4-FFF2-40B4-BE49-F238E27FC236}">
                <a16:creationId xmlns:a16="http://schemas.microsoft.com/office/drawing/2014/main" id="{D8366AEE-30D5-898E-F65B-8F69153A4DE8}"/>
              </a:ext>
            </a:extLst>
          </p:cNvPr>
          <p:cNvSpPr txBox="1"/>
          <p:nvPr/>
        </p:nvSpPr>
        <p:spPr>
          <a:xfrm>
            <a:off x="5849757" y="4833939"/>
            <a:ext cx="2164310" cy="923330"/>
          </a:xfrm>
          <a:prstGeom prst="rect">
            <a:avLst/>
          </a:prstGeom>
          <a:noFill/>
        </p:spPr>
        <p:txBody>
          <a:bodyPr wrap="none" rtlCol="0">
            <a:spAutoFit/>
          </a:bodyPr>
          <a:lstStyle/>
          <a:p>
            <a:pPr algn="ctr"/>
            <a:r>
              <a:rPr lang="en-US" i="1" dirty="0">
                <a:latin typeface="Abadi" panose="020B0604020104020204" pitchFamily="34" charset="0"/>
              </a:rPr>
              <a:t>Rhipidura </a:t>
            </a:r>
            <a:r>
              <a:rPr lang="en-US" i="1" dirty="0" err="1">
                <a:latin typeface="Abadi" panose="020B0604020104020204" pitchFamily="34" charset="0"/>
              </a:rPr>
              <a:t>rufofronta</a:t>
            </a:r>
            <a:endParaRPr lang="en-US" dirty="0">
              <a:latin typeface="Abadi" panose="020B0604020104020204" pitchFamily="34" charset="0"/>
            </a:endParaRPr>
          </a:p>
          <a:p>
            <a:pPr algn="ctr"/>
            <a:r>
              <a:rPr lang="en-US" dirty="0">
                <a:latin typeface="Abadi" panose="020B0604020104020204" pitchFamily="34" charset="0"/>
              </a:rPr>
              <a:t>Rufous Fantail</a:t>
            </a:r>
          </a:p>
          <a:p>
            <a:pPr algn="ctr"/>
            <a:r>
              <a:rPr lang="en-US" dirty="0">
                <a:latin typeface="Abadi" panose="020B0604020104020204" pitchFamily="34" charset="0"/>
              </a:rPr>
              <a:t>Solomons</a:t>
            </a:r>
          </a:p>
        </p:txBody>
      </p:sp>
      <p:sp>
        <p:nvSpPr>
          <p:cNvPr id="39" name="TextBox 38">
            <a:extLst>
              <a:ext uri="{FF2B5EF4-FFF2-40B4-BE49-F238E27FC236}">
                <a16:creationId xmlns:a16="http://schemas.microsoft.com/office/drawing/2014/main" id="{228FB59D-DE49-20C4-1458-343D8FF308C0}"/>
              </a:ext>
            </a:extLst>
          </p:cNvPr>
          <p:cNvSpPr txBox="1"/>
          <p:nvPr/>
        </p:nvSpPr>
        <p:spPr>
          <a:xfrm>
            <a:off x="4237583" y="3943289"/>
            <a:ext cx="1347485" cy="923330"/>
          </a:xfrm>
          <a:prstGeom prst="rect">
            <a:avLst/>
          </a:prstGeom>
          <a:noFill/>
        </p:spPr>
        <p:txBody>
          <a:bodyPr wrap="none" rtlCol="0">
            <a:spAutoFit/>
          </a:bodyPr>
          <a:lstStyle/>
          <a:p>
            <a:pPr algn="ctr"/>
            <a:r>
              <a:rPr lang="en-US" b="1" i="1" dirty="0">
                <a:latin typeface="Abadi" panose="020B0604020104020204" pitchFamily="34" charset="0"/>
              </a:rPr>
              <a:t>Myiagra</a:t>
            </a:r>
            <a:endParaRPr lang="en-US" b="1" dirty="0">
              <a:latin typeface="Abadi" panose="020B0604020104020204" pitchFamily="34" charset="0"/>
            </a:endParaRPr>
          </a:p>
          <a:p>
            <a:pPr algn="ctr"/>
            <a:r>
              <a:rPr lang="en-US" b="1" dirty="0">
                <a:latin typeface="Abadi" panose="020B0604020104020204" pitchFamily="34" charset="0"/>
              </a:rPr>
              <a:t>Flycatchers</a:t>
            </a:r>
          </a:p>
          <a:p>
            <a:pPr algn="ctr"/>
            <a:r>
              <a:rPr lang="en-US" b="1" dirty="0">
                <a:latin typeface="Abadi" panose="020B0604020104020204" pitchFamily="34" charset="0"/>
              </a:rPr>
              <a:t>Solomons</a:t>
            </a:r>
          </a:p>
        </p:txBody>
      </p:sp>
      <p:sp>
        <p:nvSpPr>
          <p:cNvPr id="41" name="TextBox 40">
            <a:extLst>
              <a:ext uri="{FF2B5EF4-FFF2-40B4-BE49-F238E27FC236}">
                <a16:creationId xmlns:a16="http://schemas.microsoft.com/office/drawing/2014/main" id="{E8AD4C89-6378-2F2C-9F0D-AD835AAE8656}"/>
              </a:ext>
            </a:extLst>
          </p:cNvPr>
          <p:cNvSpPr txBox="1"/>
          <p:nvPr/>
        </p:nvSpPr>
        <p:spPr>
          <a:xfrm>
            <a:off x="8263174" y="3391127"/>
            <a:ext cx="1630831" cy="923330"/>
          </a:xfrm>
          <a:prstGeom prst="rect">
            <a:avLst/>
          </a:prstGeom>
          <a:noFill/>
        </p:spPr>
        <p:txBody>
          <a:bodyPr wrap="none" rtlCol="0">
            <a:spAutoFit/>
          </a:bodyPr>
          <a:lstStyle/>
          <a:p>
            <a:pPr algn="ctr"/>
            <a:r>
              <a:rPr lang="en-US" i="1" dirty="0" err="1">
                <a:latin typeface="Abadi" panose="020B0604020104020204" pitchFamily="34" charset="0"/>
              </a:rPr>
              <a:t>Symposiachrus</a:t>
            </a:r>
            <a:endParaRPr lang="en-US" dirty="0">
              <a:latin typeface="Abadi" panose="020B0604020104020204" pitchFamily="34" charset="0"/>
            </a:endParaRPr>
          </a:p>
          <a:p>
            <a:pPr algn="ctr"/>
            <a:r>
              <a:rPr lang="en-US" dirty="0">
                <a:latin typeface="Abadi" panose="020B0604020104020204" pitchFamily="34" charset="0"/>
              </a:rPr>
              <a:t>Monarchs</a:t>
            </a:r>
          </a:p>
          <a:p>
            <a:pPr algn="ctr"/>
            <a:r>
              <a:rPr lang="en-US" dirty="0">
                <a:latin typeface="Abadi" panose="020B0604020104020204" pitchFamily="34" charset="0"/>
              </a:rPr>
              <a:t>Solomons</a:t>
            </a:r>
          </a:p>
        </p:txBody>
      </p:sp>
      <p:sp>
        <p:nvSpPr>
          <p:cNvPr id="43" name="TextBox 42">
            <a:extLst>
              <a:ext uri="{FF2B5EF4-FFF2-40B4-BE49-F238E27FC236}">
                <a16:creationId xmlns:a16="http://schemas.microsoft.com/office/drawing/2014/main" id="{A3CB858B-C215-3B3F-38CA-AF81E6CBA1E7}"/>
              </a:ext>
            </a:extLst>
          </p:cNvPr>
          <p:cNvSpPr txBox="1"/>
          <p:nvPr/>
        </p:nvSpPr>
        <p:spPr>
          <a:xfrm>
            <a:off x="10601307" y="4649273"/>
            <a:ext cx="1253228" cy="923330"/>
          </a:xfrm>
          <a:prstGeom prst="rect">
            <a:avLst/>
          </a:prstGeom>
          <a:noFill/>
        </p:spPr>
        <p:txBody>
          <a:bodyPr wrap="none" rtlCol="0">
            <a:spAutoFit/>
          </a:bodyPr>
          <a:lstStyle/>
          <a:p>
            <a:pPr algn="ctr"/>
            <a:r>
              <a:rPr lang="en-US" i="1" dirty="0">
                <a:latin typeface="Abadi" panose="020B0604020104020204" pitchFamily="34" charset="0"/>
              </a:rPr>
              <a:t>Zosterops</a:t>
            </a:r>
            <a:endParaRPr lang="en-US" dirty="0">
              <a:latin typeface="Abadi" panose="020B0604020104020204" pitchFamily="34" charset="0"/>
            </a:endParaRPr>
          </a:p>
          <a:p>
            <a:pPr algn="ctr"/>
            <a:r>
              <a:rPr lang="en-US" dirty="0">
                <a:latin typeface="Abadi" panose="020B0604020104020204" pitchFamily="34" charset="0"/>
              </a:rPr>
              <a:t>White-eyes</a:t>
            </a:r>
          </a:p>
          <a:p>
            <a:pPr algn="ctr"/>
            <a:r>
              <a:rPr lang="en-US" dirty="0">
                <a:latin typeface="Abadi" panose="020B0604020104020204" pitchFamily="34" charset="0"/>
              </a:rPr>
              <a:t>Solomons</a:t>
            </a:r>
          </a:p>
        </p:txBody>
      </p:sp>
      <p:pic>
        <p:nvPicPr>
          <p:cNvPr id="46" name="Picture 45" descr="A close-up of a bird&#10;&#10;Description automatically generated">
            <a:extLst>
              <a:ext uri="{FF2B5EF4-FFF2-40B4-BE49-F238E27FC236}">
                <a16:creationId xmlns:a16="http://schemas.microsoft.com/office/drawing/2014/main" id="{6DF9D517-A2F1-7C57-1880-F6A6C237C5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06023" y="3930322"/>
            <a:ext cx="1463506" cy="903617"/>
          </a:xfrm>
          <a:prstGeom prst="rect">
            <a:avLst/>
          </a:prstGeom>
        </p:spPr>
      </p:pic>
      <p:pic>
        <p:nvPicPr>
          <p:cNvPr id="47" name="Picture 46" descr="A black and white bird on a branch&#10;&#10;Description automatically generated">
            <a:extLst>
              <a:ext uri="{FF2B5EF4-FFF2-40B4-BE49-F238E27FC236}">
                <a16:creationId xmlns:a16="http://schemas.microsoft.com/office/drawing/2014/main" id="{307C4445-5E01-0D9B-8BDD-C519AD639F5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302872" y="3233040"/>
            <a:ext cx="1900578" cy="1394563"/>
          </a:xfrm>
          <a:prstGeom prst="rect">
            <a:avLst/>
          </a:prstGeom>
        </p:spPr>
      </p:pic>
      <p:pic>
        <p:nvPicPr>
          <p:cNvPr id="48" name="Picture 47" descr="A close-up of a bird&#10;&#10;Description automatically generated">
            <a:extLst>
              <a:ext uri="{FF2B5EF4-FFF2-40B4-BE49-F238E27FC236}">
                <a16:creationId xmlns:a16="http://schemas.microsoft.com/office/drawing/2014/main" id="{D044B105-11F9-6423-6453-15EA1EA68FF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8082291" y="4602572"/>
            <a:ext cx="2418560" cy="1250220"/>
          </a:xfrm>
          <a:prstGeom prst="rect">
            <a:avLst/>
          </a:prstGeom>
        </p:spPr>
      </p:pic>
      <p:pic>
        <p:nvPicPr>
          <p:cNvPr id="49" name="Picture 48" descr="A brown bird sitting on a branch&#10;&#10;Description automatically generated">
            <a:extLst>
              <a:ext uri="{FF2B5EF4-FFF2-40B4-BE49-F238E27FC236}">
                <a16:creationId xmlns:a16="http://schemas.microsoft.com/office/drawing/2014/main" id="{B73119A9-FAAD-A4DC-2027-DD52FE6F8C6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89128" y="3801891"/>
            <a:ext cx="1563308" cy="1758251"/>
          </a:xfrm>
          <a:prstGeom prst="rect">
            <a:avLst/>
          </a:prstGeom>
        </p:spPr>
      </p:pic>
      <p:pic>
        <p:nvPicPr>
          <p:cNvPr id="51" name="Picture 50" descr="A black and white bird&#10;&#10;Description automatically generated">
            <a:extLst>
              <a:ext uri="{FF2B5EF4-FFF2-40B4-BE49-F238E27FC236}">
                <a16:creationId xmlns:a16="http://schemas.microsoft.com/office/drawing/2014/main" id="{8C2C7FFD-86E4-E52A-AD72-0B70466C62F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382810" y="5967209"/>
            <a:ext cx="1500612" cy="890791"/>
          </a:xfrm>
          <a:prstGeom prst="rect">
            <a:avLst/>
          </a:prstGeom>
        </p:spPr>
      </p:pic>
      <p:pic>
        <p:nvPicPr>
          <p:cNvPr id="52" name="Picture 51" descr="A green bird with pink and yellow feathers&#10;&#10;Description automatically generated">
            <a:extLst>
              <a:ext uri="{FF2B5EF4-FFF2-40B4-BE49-F238E27FC236}">
                <a16:creationId xmlns:a16="http://schemas.microsoft.com/office/drawing/2014/main" id="{21D0045E-BD3A-3942-B312-FD1B8BEF99A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97960" y="5013839"/>
            <a:ext cx="1544688" cy="1781887"/>
          </a:xfrm>
          <a:prstGeom prst="rect">
            <a:avLst/>
          </a:prstGeom>
        </p:spPr>
      </p:pic>
      <p:pic>
        <p:nvPicPr>
          <p:cNvPr id="53" name="Picture 52" descr="A close-up of a bird&#10;&#10;Description automatically generated">
            <a:extLst>
              <a:ext uri="{FF2B5EF4-FFF2-40B4-BE49-F238E27FC236}">
                <a16:creationId xmlns:a16="http://schemas.microsoft.com/office/drawing/2014/main" id="{99A3081C-AE5B-BE07-E9E1-BB660B4A8CE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238955" y="1920007"/>
            <a:ext cx="2005739" cy="1372478"/>
          </a:xfrm>
          <a:prstGeom prst="rect">
            <a:avLst/>
          </a:prstGeom>
        </p:spPr>
      </p:pic>
      <p:pic>
        <p:nvPicPr>
          <p:cNvPr id="55" name="Picture 54" descr="A close up of a bird&#10;&#10;Description automatically generated with medium confidence">
            <a:extLst>
              <a:ext uri="{FF2B5EF4-FFF2-40B4-BE49-F238E27FC236}">
                <a16:creationId xmlns:a16="http://schemas.microsoft.com/office/drawing/2014/main" id="{C542C199-4C69-3054-964B-1E408AD9DC7B}"/>
              </a:ext>
            </a:extLst>
          </p:cNvPr>
          <p:cNvPicPr>
            <a:picLocks noChangeAspect="1"/>
          </p:cNvPicPr>
          <p:nvPr/>
        </p:nvPicPr>
        <p:blipFill>
          <a:blip r:embed="rId12">
            <a:extLst>
              <a:ext uri="{28A0092B-C50C-407E-A947-70E740481C1C}">
                <a14:useLocalDpi xmlns:a14="http://schemas.microsoft.com/office/drawing/2010/main" val="0"/>
              </a:ext>
            </a:extLst>
          </a:blip>
          <a:srcRect l="4805" r="7296"/>
          <a:stretch>
            <a:fillRect/>
          </a:stretch>
        </p:blipFill>
        <p:spPr>
          <a:xfrm>
            <a:off x="10377871" y="5618809"/>
            <a:ext cx="1614148" cy="1225684"/>
          </a:xfrm>
          <a:prstGeom prst="rect">
            <a:avLst/>
          </a:prstGeom>
        </p:spPr>
      </p:pic>
      <p:pic>
        <p:nvPicPr>
          <p:cNvPr id="56" name="Picture 55">
            <a:extLst>
              <a:ext uri="{FF2B5EF4-FFF2-40B4-BE49-F238E27FC236}">
                <a16:creationId xmlns:a16="http://schemas.microsoft.com/office/drawing/2014/main" id="{5195F50D-9C66-DA8C-1C78-92FFFECFBFE0}"/>
              </a:ext>
            </a:extLst>
          </p:cNvPr>
          <p:cNvPicPr>
            <a:picLocks noChangeAspect="1"/>
          </p:cNvPicPr>
          <p:nvPr/>
        </p:nvPicPr>
        <p:blipFill>
          <a:blip r:embed="rId13"/>
          <a:stretch>
            <a:fillRect/>
          </a:stretch>
        </p:blipFill>
        <p:spPr>
          <a:xfrm>
            <a:off x="238377" y="1859018"/>
            <a:ext cx="1772184" cy="1824650"/>
          </a:xfrm>
          <a:prstGeom prst="rect">
            <a:avLst/>
          </a:prstGeom>
        </p:spPr>
      </p:pic>
    </p:spTree>
    <p:extLst>
      <p:ext uri="{BB962C8B-B14F-4D97-AF65-F5344CB8AC3E}">
        <p14:creationId xmlns:p14="http://schemas.microsoft.com/office/powerpoint/2010/main" val="29925070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1215</TotalTime>
  <Words>1974</Words>
  <Application>Microsoft Office PowerPoint</Application>
  <PresentationFormat>Widescreen</PresentationFormat>
  <Paragraphs>304</Paragraphs>
  <Slides>25</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Abadi</vt:lpstr>
      <vt:lpstr>Aharoni</vt:lpstr>
      <vt:lpstr>Aptos</vt:lpstr>
      <vt:lpstr>Aptos Display</vt:lpstr>
      <vt:lpstr>Arial</vt:lpstr>
      <vt:lpstr>Office Theme</vt:lpstr>
      <vt:lpstr>Introduction and genomics basics</vt:lpstr>
      <vt:lpstr>Brief history of me</vt:lpstr>
      <vt:lpstr>Through line: using genes and genomes to understand evolution</vt:lpstr>
      <vt:lpstr>Through line: using genes and genomes to understand evolution</vt:lpstr>
      <vt:lpstr>Workshop goals</vt:lpstr>
      <vt:lpstr>Phylogenomics: How are species related?</vt:lpstr>
      <vt:lpstr>Phylogeography: How are populations connected?</vt:lpstr>
      <vt:lpstr>Coarse* genomic landscapes : How is divergence distributed?</vt:lpstr>
      <vt:lpstr>Genetic diversity: How large and stable are populations?</vt:lpstr>
      <vt:lpstr>Landscape genetics: How is diversity distributed? </vt:lpstr>
      <vt:lpstr>Short read sequencing</vt:lpstr>
      <vt:lpstr>Reduced  representation</vt:lpstr>
      <vt:lpstr>RADSeq</vt:lpstr>
      <vt:lpstr>RADSeq</vt:lpstr>
      <vt:lpstr>RADseq’s cousin: DArTseq</vt:lpstr>
      <vt:lpstr>Benefits of RADSeq</vt:lpstr>
      <vt:lpstr>Downsides of RADseq</vt:lpstr>
      <vt:lpstr>RADSeq analysis has two paths, both similar to other technologies</vt:lpstr>
      <vt:lpstr>RADSeq and Resequencing</vt:lpstr>
      <vt:lpstr>RADSeq and Resequencing</vt:lpstr>
      <vt:lpstr>What sequencing types are relevant for you?</vt:lpstr>
      <vt:lpstr>Are there any specific genomic analyses you would like to learn about?</vt:lpstr>
      <vt:lpstr>The Solomon Islands</vt:lpstr>
      <vt:lpstr>Choosing datasets</vt:lpstr>
      <vt:lpstr>Choosing datasets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Gyllenhaal</dc:creator>
  <cp:lastModifiedBy>Ethan Gyllenhaal</cp:lastModifiedBy>
  <cp:revision>292</cp:revision>
  <dcterms:created xsi:type="dcterms:W3CDTF">2026-07-08T01:44:49Z</dcterms:created>
  <dcterms:modified xsi:type="dcterms:W3CDTF">2026-07-20T09:53:09Z</dcterms:modified>
</cp:coreProperties>
</file>