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8" r:id="rId13"/>
    <p:sldId id="266" r:id="rId14"/>
    <p:sldId id="269" r:id="rId15"/>
    <p:sldId id="272" r:id="rId16"/>
    <p:sldId id="270" r:id="rId17"/>
    <p:sldId id="271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83" autoAdjust="0"/>
  </p:normalViewPr>
  <p:slideViewPr>
    <p:cSldViewPr snapToGrid="0">
      <p:cViewPr varScale="1">
        <p:scale>
          <a:sx n="69" d="100"/>
          <a:sy n="69" d="100"/>
        </p:scale>
        <p:origin x="6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EDAD82-4A91-4FCD-8377-229631DED7F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BE17A-011E-42C8-B886-9AAF15091A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96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BBE17A-011E-42C8-B886-9AAF15091A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010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03C9C-2ED6-07E2-5187-63CCB8E968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1D277A-038B-673F-4627-ADF83DE4C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642BEB-104C-39ED-7273-6BDF73559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F42A1-DB42-5F71-7EDA-C82442E0D0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023A78-E333-71CD-2D41-FCA8444F3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28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97225-767F-C323-5C43-E544A73C3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482BBC-A2A3-E886-0002-300022D49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BD229-AF2F-0677-327E-8DAF0AE5F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9CE4-29FC-FC2B-3B3C-9F22D1AB7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30D58C-9177-8E3B-7CD7-CC6F2EB4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6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A200DE-C7AC-CEE1-5C67-BAF1E4B3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99492-F707-0AF1-90A2-0D010D1BF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98528-6399-C1CC-1E0F-750B84AB4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49D72-0B87-711C-2F2B-F736FE0D6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5FE287-9188-0985-0DD5-FCBE67261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478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78880-F7AB-A1AF-BA71-32BC25F00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BECC1-A04F-BE53-BAE3-287D478DD0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8F2504-8519-1D66-087A-D6410690B7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E88D8-4C57-2D0B-FBE1-0C4D3A16F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D8E72A-5DC1-BE0E-DD96-81577DFFE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5A0AF2-98A4-2E7D-BC56-365F78FBE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689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68984-04BA-5449-9B81-A909A0FBC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51707-BFD4-6B46-E020-7F1BE906B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B8FA0-FBD2-C0DC-57EF-56268657D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BC8736-2EAD-0683-5FFF-93AD48D03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C52C8A-01FC-253F-1170-AC3F51B8C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AA93B8-9E72-3054-6CCD-85CCB413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79AFD3-5A50-72DC-3B44-B15257DF7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C6A861-2F50-63FB-41E4-20BCF7071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09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DEE4F-DDD0-3508-D3FD-23721D711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BCA520-90D2-5900-2CE8-8297A56E1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0712D-2C92-E280-8039-56B32AAFE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E1E025-E056-74C6-D982-FADD49F6E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149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700ADF-7189-4746-5A27-5534D9BC4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3677B9-E138-21A2-28C3-23E66257A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7513E7-BD02-0CC6-2312-A81C6CD18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756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C324B5-B629-E352-2A5C-A65764C3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223BE-33E6-0EEF-B15C-D85FFEA182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EB9F4E-9B72-2DFB-F832-4CCCE235C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FD08E-23DC-D49B-6243-34BE241CEB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C684A2-5407-A704-920F-6B8B9419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ACE16-2690-3C6D-FCA4-C3E7AA724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8961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8B66A-737B-CBDE-519F-387170E2A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77FBC2-B41F-501A-708B-F32B24FA76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E5A01-1E6C-775F-E6D0-D65B75A42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007599-0952-FB31-3856-C45A37800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112A0D-C317-E1A4-EABA-1FDF1F380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8A2969-6900-ADA2-9316-D9A2945E1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66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86A61-148E-387F-5384-06C3FAA6B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D8F97-629D-244A-1A23-1DBABEDAB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599E9-2437-4F8D-6202-FD0DBCD98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4D7D28-26E7-CF93-4879-24F3238A9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23F103-F0C1-095C-A68F-81CD223A4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872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69002C-7B52-4611-B2BF-C1BF37DF3E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2D7E27-91D1-BD36-1CE2-232F9A1D0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7D49C-FBFA-8F27-ADE4-2B725E15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96545-C681-2F33-6F91-FF65A9C0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20622C-1851-4647-7DB2-1675CABF7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989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B45A00-E370-A361-4157-93A5BEA91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066534-883C-7F46-5FE7-D1017D4C5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CD54F-879E-01CE-4AA2-15688F79A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8D886E-E654-4DF1-A3A6-2277A53517B0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1E8BD-15BC-B84B-9F33-6B985724E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1E012D-9AEF-ECEB-9F79-C10A55537F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C4012-88BB-4B98-8AE4-2BB8371F69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575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9B03F-C091-E144-388E-E639BA3574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dirty="0">
                <a:latin typeface="Aharoni" panose="02010803020104030203" pitchFamily="2" charset="-79"/>
                <a:cs typeface="Aharoni" panose="02010803020104030203" pitchFamily="2" charset="-79"/>
              </a:rPr>
              <a:t>Population Structure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A0D4C-299D-E73D-F102-E7B2B50F181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Abadi" panose="020B0604020104020204" pitchFamily="34" charset="0"/>
              </a:rPr>
              <a:t>USP </a:t>
            </a:r>
            <a:r>
              <a:rPr lang="en-US" dirty="0" err="1">
                <a:latin typeface="Abadi" panose="020B0604020104020204" pitchFamily="34" charset="0"/>
              </a:rPr>
              <a:t>RADseq</a:t>
            </a:r>
            <a:r>
              <a:rPr lang="en-US" dirty="0">
                <a:latin typeface="Abadi" panose="020B0604020104020204" pitchFamily="34" charset="0"/>
              </a:rPr>
              <a:t> Workshop</a:t>
            </a:r>
          </a:p>
          <a:p>
            <a:r>
              <a:rPr lang="en-US" dirty="0">
                <a:latin typeface="Abadi" panose="020B0604020104020204" pitchFamily="34" charset="0"/>
              </a:rPr>
              <a:t>July 2026</a:t>
            </a:r>
          </a:p>
        </p:txBody>
      </p:sp>
    </p:spTree>
    <p:extLst>
      <p:ext uri="{BB962C8B-B14F-4D97-AF65-F5344CB8AC3E}">
        <p14:creationId xmlns:p14="http://schemas.microsoft.com/office/powerpoint/2010/main" val="1286170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C8C45-9FE0-D060-07DA-680C7A1B5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Report document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B6EFC-6FD6-EEC0-89DC-56DD7A7E3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800063" cy="4898560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We will be doing a series of analyses on your dataset, so let’s keep track of everything</a:t>
            </a:r>
          </a:p>
          <a:p>
            <a:r>
              <a:rPr lang="en-US" dirty="0">
                <a:latin typeface="Abadi" panose="020B0604020104020204" pitchFamily="34" charset="0"/>
              </a:rPr>
              <a:t>You can treat this however you would like as we go, but if everything goes to plan everyone will do a 3-5 minute presentation on their system, so this will be a helpful place to store output</a:t>
            </a:r>
          </a:p>
          <a:p>
            <a:r>
              <a:rPr lang="en-US" dirty="0">
                <a:latin typeface="Abadi" panose="020B0604020104020204" pitchFamily="34" charset="0"/>
              </a:rPr>
              <a:t>The core goals will include determining which populations are genetically distinct, and if you determine any lineages are evolutionarily distinct</a:t>
            </a:r>
          </a:p>
        </p:txBody>
      </p:sp>
    </p:spTree>
    <p:extLst>
      <p:ext uri="{BB962C8B-B14F-4D97-AF65-F5344CB8AC3E}">
        <p14:creationId xmlns:p14="http://schemas.microsoft.com/office/powerpoint/2010/main" val="273399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7A74B-DF20-4416-FA22-E5D8ACFAB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DF45C-45A1-8522-60CE-0C6C46558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What does population structure tell us?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803EE-9678-AE35-EF40-103F732D2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2161" cy="4898560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I view population structure as the most basic assessment of how genetic diversity is distributed across the range of a species</a:t>
            </a:r>
          </a:p>
          <a:p>
            <a:r>
              <a:rPr lang="en-US" dirty="0">
                <a:latin typeface="Abadi" panose="020B0604020104020204" pitchFamily="34" charset="0"/>
              </a:rPr>
              <a:t>Shows things that phylogenetic analyses can miss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57DAB6-2F1C-327D-615E-22F5F55BB3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967" r="-2" b="53821"/>
          <a:stretch>
            <a:fillRect/>
          </a:stretch>
        </p:blipFill>
        <p:spPr>
          <a:xfrm>
            <a:off x="7605133" y="3160006"/>
            <a:ext cx="4364700" cy="36645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7E1799-6098-DB26-D051-DD74087ED6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168" y="3155796"/>
            <a:ext cx="7208323" cy="3702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584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813DB-AF55-E961-E3E5-02543F88D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E2E000D-0DDA-0AFA-5204-40FD810CDC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72" y="384717"/>
            <a:ext cx="11854655" cy="6088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654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730F2-1AB2-4D1B-D3E4-FBE6758A6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F22DCF-2DBE-5838-543A-98065A2AFD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1" r="-1" b="53821"/>
          <a:stretch>
            <a:fillRect/>
          </a:stretch>
        </p:blipFill>
        <p:spPr>
          <a:xfrm>
            <a:off x="250571" y="1304693"/>
            <a:ext cx="11690858" cy="4705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06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DB02F-CD50-F743-5B23-A3D61F4F7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B986E-44EF-8045-F280-E2D411C4E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Genomic data and 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A3C6B-B178-E46B-A74B-D3FFB599B2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2161" cy="4898560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R is a very powerful and flexible data visualization tool</a:t>
            </a:r>
          </a:p>
          <a:p>
            <a:r>
              <a:rPr lang="en-US" dirty="0">
                <a:latin typeface="Abadi" panose="020B0604020104020204" pitchFamily="34" charset="0"/>
              </a:rPr>
              <a:t>The same applies to genomic data, and it has tools for many of the core genomic analyses, we will be covering a select few</a:t>
            </a:r>
          </a:p>
          <a:p>
            <a:r>
              <a:rPr lang="en-US" dirty="0">
                <a:latin typeface="Abadi" panose="020B0604020104020204" pitchFamily="34" charset="0"/>
              </a:rPr>
              <a:t>Many programs have their built-in plotters and </a:t>
            </a:r>
            <a:r>
              <a:rPr lang="en-US" dirty="0" err="1">
                <a:latin typeface="Abadi" panose="020B0604020104020204" pitchFamily="34" charset="0"/>
              </a:rPr>
              <a:t>dataframes</a:t>
            </a:r>
            <a:r>
              <a:rPr lang="en-US" dirty="0">
                <a:latin typeface="Abadi" panose="020B0604020104020204" pitchFamily="34" charset="0"/>
              </a:rPr>
              <a:t> that can be fed into the “</a:t>
            </a:r>
            <a:r>
              <a:rPr lang="en-US" dirty="0" err="1">
                <a:latin typeface="Abadi" panose="020B0604020104020204" pitchFamily="34" charset="0"/>
              </a:rPr>
              <a:t>tidyverse</a:t>
            </a:r>
            <a:r>
              <a:rPr lang="en-US" dirty="0">
                <a:latin typeface="Abadi" panose="020B0604020104020204" pitchFamily="34" charset="0"/>
              </a:rPr>
              <a:t>”, a VERY powerful suite of packages</a:t>
            </a:r>
          </a:p>
          <a:p>
            <a:r>
              <a:rPr lang="en-US" dirty="0">
                <a:latin typeface="Abadi" panose="020B0604020104020204" pitchFamily="34" charset="0"/>
              </a:rPr>
              <a:t>Many steps start with </a:t>
            </a:r>
            <a:r>
              <a:rPr lang="en-US" dirty="0" err="1">
                <a:latin typeface="Abadi" panose="020B0604020104020204" pitchFamily="34" charset="0"/>
              </a:rPr>
              <a:t>vcfR</a:t>
            </a:r>
            <a:r>
              <a:rPr lang="en-US" dirty="0">
                <a:latin typeface="Abadi" panose="020B0604020104020204" pitchFamily="34" charset="0"/>
              </a:rPr>
              <a:t>, a program that reads VCFs into an R-friendly format</a:t>
            </a:r>
          </a:p>
        </p:txBody>
      </p:sp>
    </p:spTree>
    <p:extLst>
      <p:ext uri="{BB962C8B-B14F-4D97-AF65-F5344CB8AC3E}">
        <p14:creationId xmlns:p14="http://schemas.microsoft.com/office/powerpoint/2010/main" val="2765089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405B1C-FBEC-7E46-ADE2-81073D095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0F286-7122-E65C-88E5-C4921CC6C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Genomic PCAs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4702B0-1B33-5337-B0E3-334C2EE84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92161" cy="2238294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To me, the most fundamental figure in descriptive analyses with population genomic data, with PC loadings quantitative</a:t>
            </a:r>
          </a:p>
          <a:p>
            <a:r>
              <a:rPr lang="en-US" dirty="0">
                <a:latin typeface="Abadi" panose="020B0604020104020204" pitchFamily="34" charset="0"/>
              </a:rPr>
              <a:t>Highlights how populations group together, can suggest hybrids</a:t>
            </a:r>
          </a:p>
          <a:p>
            <a:r>
              <a:rPr lang="en-US" dirty="0">
                <a:latin typeface="Abadi" panose="020B0604020104020204" pitchFamily="34" charset="0"/>
              </a:rPr>
              <a:t>Often reflects phylogeny but finer scale</a:t>
            </a:r>
          </a:p>
          <a:p>
            <a:endParaRPr lang="en-US" dirty="0">
              <a:latin typeface="Abadi" panose="020B06040201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27C91A-5A0D-4419-4420-A3AB652E7A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196830"/>
            <a:ext cx="4941808" cy="2538119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90F1EC90-EECC-F476-AAA7-7A1E8DDD0CC8}"/>
              </a:ext>
            </a:extLst>
          </p:cNvPr>
          <p:cNvGrpSpPr/>
          <p:nvPr/>
        </p:nvGrpSpPr>
        <p:grpSpPr>
          <a:xfrm>
            <a:off x="6512560" y="4342801"/>
            <a:ext cx="5089344" cy="2392148"/>
            <a:chOff x="385275" y="1062765"/>
            <a:chExt cx="11694150" cy="5496609"/>
          </a:xfrm>
        </p:grpSpPr>
        <p:pic>
          <p:nvPicPr>
            <p:cNvPr id="6" name="Picture 5" descr="A group of penguins on a map&#10;&#10;Description automatically generated">
              <a:extLst>
                <a:ext uri="{FF2B5EF4-FFF2-40B4-BE49-F238E27FC236}">
                  <a16:creationId xmlns:a16="http://schemas.microsoft.com/office/drawing/2014/main" id="{F54A1E89-71FA-5E22-A2AF-639B348B355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635" b="49109"/>
            <a:stretch/>
          </p:blipFill>
          <p:spPr>
            <a:xfrm>
              <a:off x="5336718" y="1062765"/>
              <a:ext cx="6742707" cy="5496609"/>
            </a:xfrm>
            <a:prstGeom prst="rect">
              <a:avLst/>
            </a:prstGeom>
          </p:spPr>
        </p:pic>
        <p:pic>
          <p:nvPicPr>
            <p:cNvPr id="7" name="Picture 6" descr="A group of penguins on a map&#10;&#10;Description automatically generated">
              <a:extLst>
                <a:ext uri="{FF2B5EF4-FFF2-40B4-BE49-F238E27FC236}">
                  <a16:creationId xmlns:a16="http://schemas.microsoft.com/office/drawing/2014/main" id="{57F75C05-890C-1BEF-6FA6-03C962AFCD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" t="57487" r="67788" b="1170"/>
            <a:stretch/>
          </p:blipFill>
          <p:spPr>
            <a:xfrm>
              <a:off x="385275" y="1268114"/>
              <a:ext cx="4414403" cy="4321772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</p:pic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E899775-7027-842B-DCDB-017B57F47AE7}"/>
                </a:ext>
              </a:extLst>
            </p:cNvPr>
            <p:cNvCxnSpPr>
              <a:cxnSpLocks/>
            </p:cNvCxnSpPr>
            <p:nvPr/>
          </p:nvCxnSpPr>
          <p:spPr>
            <a:xfrm>
              <a:off x="385275" y="5619134"/>
              <a:ext cx="5896255" cy="634842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DA1441-67A0-9CAD-462C-8481E90C2205}"/>
                </a:ext>
              </a:extLst>
            </p:cNvPr>
            <p:cNvSpPr/>
            <p:nvPr/>
          </p:nvSpPr>
          <p:spPr>
            <a:xfrm>
              <a:off x="6281530" y="5539043"/>
              <a:ext cx="854766" cy="731520"/>
            </a:xfrm>
            <a:prstGeom prst="rect">
              <a:avLst/>
            </a:prstGeom>
            <a:solidFill>
              <a:srgbClr val="C6EAD2">
                <a:alpha val="20000"/>
              </a:srgbClr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DEBD950-F1C2-FE7B-440C-8DD6C2942B0C}"/>
                </a:ext>
              </a:extLst>
            </p:cNvPr>
            <p:cNvCxnSpPr>
              <a:cxnSpLocks/>
            </p:cNvCxnSpPr>
            <p:nvPr/>
          </p:nvCxnSpPr>
          <p:spPr>
            <a:xfrm>
              <a:off x="4799678" y="1238866"/>
              <a:ext cx="2336618" cy="4300177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10262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4F94D-59C8-E623-B35A-8B05040A8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656AE-7E3D-44B1-6FCC-A28477443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Genomic PCA sensitivity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9E3EB-A377-BF16-DC55-D39E797199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58307" cy="4932014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Sample size is key, high sampling of weak structure can “pull out” more strongly than low sampling of high structure</a:t>
            </a:r>
          </a:p>
          <a:p>
            <a:r>
              <a:rPr lang="en-US" dirty="0">
                <a:latin typeface="Abadi" panose="020B0604020104020204" pitchFamily="34" charset="0"/>
              </a:rPr>
              <a:t>If you include everything together, strong divergence can mask fine-scale structure</a:t>
            </a:r>
          </a:p>
          <a:p>
            <a:r>
              <a:rPr lang="en-US" dirty="0">
                <a:latin typeface="Abadi" panose="020B0604020104020204" pitchFamily="34" charset="0"/>
              </a:rPr>
              <a:t>Small populations can pull out dramatically due to drift, even if they are very recently diverged</a:t>
            </a:r>
          </a:p>
          <a:p>
            <a:endParaRPr lang="en-US" dirty="0">
              <a:latin typeface="Abadi" panose="020B0604020104020204" pitchFamily="34" charset="0"/>
            </a:endParaRPr>
          </a:p>
        </p:txBody>
      </p:sp>
      <p:pic>
        <p:nvPicPr>
          <p:cNvPr id="12" name="Picture 11" descr="A group of penguins on a map&#10;&#10;Description automatically generated">
            <a:extLst>
              <a:ext uri="{FF2B5EF4-FFF2-40B4-BE49-F238E27FC236}">
                <a16:creationId xmlns:a16="http://schemas.microsoft.com/office/drawing/2014/main" id="{2BB6B3C5-FE8D-B617-BC8A-691DB245BD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35" b="49109"/>
          <a:stretch/>
        </p:blipFill>
        <p:spPr>
          <a:xfrm>
            <a:off x="8430210" y="0"/>
            <a:ext cx="3761789" cy="30665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AFEE2C-96ED-54AA-D140-02BB2D970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682"/>
          <a:stretch>
            <a:fillRect/>
          </a:stretch>
        </p:blipFill>
        <p:spPr>
          <a:xfrm>
            <a:off x="8586439" y="3138640"/>
            <a:ext cx="3278198" cy="371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14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CBD13-4243-A7F0-A2DB-6F0DBF871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AFC-AA86-1FE3-CD62-EBB623AE3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Loading your libraries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4715B-2267-967C-35AB-5898F9BFA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02873" cy="4932014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We need several libraries</a:t>
            </a:r>
          </a:p>
          <a:p>
            <a:pPr lvl="1"/>
            <a:r>
              <a:rPr lang="en-US" dirty="0" err="1">
                <a:latin typeface="Abadi" panose="020B0604020104020204" pitchFamily="34" charset="0"/>
              </a:rPr>
              <a:t>adegenet</a:t>
            </a:r>
            <a:endParaRPr lang="en-US" dirty="0">
              <a:latin typeface="Abadi" panose="020B0604020104020204" pitchFamily="34" charset="0"/>
            </a:endParaRPr>
          </a:p>
          <a:p>
            <a:pPr lvl="1"/>
            <a:r>
              <a:rPr lang="en-US" dirty="0">
                <a:latin typeface="Abadi" panose="020B0604020104020204" pitchFamily="34" charset="0"/>
              </a:rPr>
              <a:t>ade4</a:t>
            </a:r>
          </a:p>
          <a:p>
            <a:pPr lvl="1"/>
            <a:r>
              <a:rPr lang="en-US" dirty="0" err="1">
                <a:latin typeface="Abadi" panose="020B0604020104020204" pitchFamily="34" charset="0"/>
              </a:rPr>
              <a:t>vcfR</a:t>
            </a:r>
            <a:endParaRPr lang="en-US" dirty="0">
              <a:latin typeface="Abadi" panose="020B0604020104020204" pitchFamily="34" charset="0"/>
            </a:endParaRPr>
          </a:p>
          <a:p>
            <a:pPr lvl="1"/>
            <a:r>
              <a:rPr lang="en-US" dirty="0">
                <a:latin typeface="Abadi" panose="020B0604020104020204" pitchFamily="34" charset="0"/>
              </a:rPr>
              <a:t>parallel</a:t>
            </a:r>
          </a:p>
          <a:p>
            <a:pPr lvl="1"/>
            <a:r>
              <a:rPr lang="en-US" dirty="0" err="1">
                <a:latin typeface="Abadi" panose="020B0604020104020204" pitchFamily="34" charset="0"/>
              </a:rPr>
              <a:t>tidyverse</a:t>
            </a:r>
            <a:endParaRPr lang="en-US" dirty="0">
              <a:latin typeface="Abadi" panose="020B0604020104020204" pitchFamily="34" charset="0"/>
            </a:endParaRPr>
          </a:p>
          <a:p>
            <a:pPr lvl="1"/>
            <a:r>
              <a:rPr lang="en-US" dirty="0" err="1">
                <a:latin typeface="Abadi" panose="020B0604020104020204" pitchFamily="34" charset="0"/>
              </a:rPr>
              <a:t>viridis</a:t>
            </a:r>
            <a:r>
              <a:rPr lang="en-US" dirty="0">
                <a:latin typeface="Abadi" panose="020B0604020104020204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D90078-D5E4-1E3B-6895-6092836E86E1}"/>
              </a:ext>
            </a:extLst>
          </p:cNvPr>
          <p:cNvSpPr txBox="1"/>
          <p:nvPr/>
        </p:nvSpPr>
        <p:spPr>
          <a:xfrm>
            <a:off x="5868329" y="1825625"/>
            <a:ext cx="609414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# install relevant packages</a:t>
            </a:r>
          </a:p>
          <a:p>
            <a:r>
              <a:rPr lang="en-US" sz="2400" dirty="0" err="1">
                <a:solidFill>
                  <a:schemeClr val="accent4">
                    <a:lumMod val="75000"/>
                  </a:schemeClr>
                </a:solidFill>
              </a:rPr>
              <a:t>install.packages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(c("</a:t>
            </a:r>
            <a:r>
              <a:rPr lang="en-US" sz="2400" dirty="0" err="1">
                <a:solidFill>
                  <a:schemeClr val="accent4">
                    <a:lumMod val="75000"/>
                  </a:schemeClr>
                </a:solidFill>
              </a:rPr>
              <a:t>adegenet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", "ade4", "</a:t>
            </a:r>
            <a:r>
              <a:rPr lang="en-US" sz="2400" dirty="0" err="1">
                <a:solidFill>
                  <a:schemeClr val="accent4">
                    <a:lumMod val="75000"/>
                  </a:schemeClr>
                </a:solidFill>
              </a:rPr>
              <a:t>vcfR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", </a:t>
            </a:r>
          </a:p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                   "parallel", "</a:t>
            </a:r>
            <a:r>
              <a:rPr lang="en-US" sz="2400" dirty="0" err="1">
                <a:solidFill>
                  <a:schemeClr val="accent4">
                    <a:lumMod val="75000"/>
                  </a:schemeClr>
                </a:solidFill>
              </a:rPr>
              <a:t>viridis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", "</a:t>
            </a:r>
            <a:r>
              <a:rPr lang="en-US" sz="2400" dirty="0" err="1">
                <a:solidFill>
                  <a:schemeClr val="accent4">
                    <a:lumMod val="75000"/>
                  </a:schemeClr>
                </a:solidFill>
              </a:rPr>
              <a:t>tidyverse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"))</a:t>
            </a:r>
          </a:p>
          <a:p>
            <a:endParaRPr lang="en-US" sz="24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# load packages</a:t>
            </a:r>
          </a:p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library("</a:t>
            </a:r>
            <a:r>
              <a:rPr lang="en-US" sz="2400" dirty="0" err="1">
                <a:solidFill>
                  <a:schemeClr val="accent4">
                    <a:lumMod val="75000"/>
                  </a:schemeClr>
                </a:solidFill>
              </a:rPr>
              <a:t>adegenet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")</a:t>
            </a:r>
          </a:p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library("ade4")</a:t>
            </a:r>
          </a:p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library("</a:t>
            </a:r>
            <a:r>
              <a:rPr lang="en-US" sz="2400" dirty="0" err="1">
                <a:solidFill>
                  <a:schemeClr val="accent4">
                    <a:lumMod val="75000"/>
                  </a:schemeClr>
                </a:solidFill>
              </a:rPr>
              <a:t>vcfR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")</a:t>
            </a:r>
          </a:p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library("parallel")</a:t>
            </a:r>
          </a:p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library("</a:t>
            </a:r>
            <a:r>
              <a:rPr lang="en-US" sz="2400" dirty="0" err="1">
                <a:solidFill>
                  <a:schemeClr val="accent4">
                    <a:lumMod val="75000"/>
                  </a:schemeClr>
                </a:solidFill>
              </a:rPr>
              <a:t>tidyverse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")</a:t>
            </a:r>
          </a:p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library("</a:t>
            </a:r>
            <a:r>
              <a:rPr lang="en-US" sz="2400" dirty="0" err="1">
                <a:solidFill>
                  <a:schemeClr val="accent4">
                    <a:lumMod val="75000"/>
                  </a:schemeClr>
                </a:solidFill>
              </a:rPr>
              <a:t>viridis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19547856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A6C3B-8FDA-F469-799E-3AA7D5F85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92049-FD2B-1908-CF2D-AD103F6744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Running the 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28A0B-42C3-8F39-C2B6-66C4C724D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789555" cy="4932014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Several small steps, mostly file conversion</a:t>
            </a:r>
          </a:p>
          <a:p>
            <a:r>
              <a:rPr lang="en-US" dirty="0">
                <a:latin typeface="Abadi" panose="020B0604020104020204" pitchFamily="34" charset="0"/>
              </a:rPr>
              <a:t>I recommend copying the code from the GitHub (also right), then we will walk through it</a:t>
            </a:r>
          </a:p>
          <a:p>
            <a:r>
              <a:rPr lang="en-US" dirty="0">
                <a:latin typeface="Abadi" panose="020B0604020104020204" pitchFamily="34" charset="0"/>
              </a:rPr>
              <a:t>Set your working directory to something with your sample table</a:t>
            </a:r>
          </a:p>
          <a:p>
            <a:endParaRPr lang="en-US" dirty="0">
              <a:latin typeface="Abadi" panose="020B06040201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0BE2D7-78B8-F365-5AD7-6FAE21C1F7B8}"/>
              </a:ext>
            </a:extLst>
          </p:cNvPr>
          <p:cNvSpPr txBox="1"/>
          <p:nvPr/>
        </p:nvSpPr>
        <p:spPr>
          <a:xfrm>
            <a:off x="4482997" y="1690688"/>
            <a:ext cx="7649530" cy="49859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# set working directory</a:t>
            </a:r>
          </a:p>
          <a:p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setwd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('C:/Documents/</a:t>
            </a:r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PostDoc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/</a:t>
            </a:r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Workshop_working_directory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')</a:t>
            </a:r>
          </a:p>
          <a:p>
            <a:endParaRPr lang="en-US" sz="20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# read the VCF in as a </a:t>
            </a:r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vcfR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 object</a:t>
            </a:r>
          </a:p>
          <a:p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ingroup_vcf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 &lt;- </a:t>
            </a:r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read.vcfR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("output/ NAME _ingroup_75_thinned.vcf")</a:t>
            </a:r>
          </a:p>
          <a:p>
            <a:endParaRPr lang="en-US" sz="20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# convert the VCF to a </a:t>
            </a:r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genlight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 file</a:t>
            </a:r>
          </a:p>
          <a:p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ingroup_genlight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 &lt;- vcfR2genlight(</a:t>
            </a:r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ingroup_vcf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  <a:p>
            <a:endParaRPr lang="en-US" sz="20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# assign populations to the </a:t>
            </a:r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genlight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 based population table</a:t>
            </a:r>
          </a:p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pop(</a:t>
            </a:r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ingroup_genlight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) &lt;- filter(read.csv("sample_table_NAME.csv"), </a:t>
            </a:r>
          </a:p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                                Island!="Outgroup")$Island</a:t>
            </a:r>
          </a:p>
          <a:p>
            <a:endParaRPr lang="en-US" sz="20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# run the PCA using 2 cores of your PC, and keep 4 PCs</a:t>
            </a:r>
          </a:p>
          <a:p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ingroup_pca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 &lt;- </a:t>
            </a:r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glPca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ingroup_genlight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n.cores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=2, </a:t>
            </a:r>
            <a:r>
              <a:rPr lang="en-US" sz="2000" dirty="0" err="1">
                <a:solidFill>
                  <a:schemeClr val="accent4">
                    <a:lumMod val="75000"/>
                  </a:schemeClr>
                </a:solidFill>
              </a:rPr>
              <a:t>nf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</a:rPr>
              <a:t>=4)</a:t>
            </a:r>
          </a:p>
          <a:p>
            <a:endParaRPr lang="en-US" sz="20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2862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E9197-A0A5-BDB8-5D8F-1FD1F862E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D1613-C2B8-221C-D34E-E4EB5FEAA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Plotting the PCA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D15FB-89D1-B8A2-AA69-F19B03103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5172306" cy="4932014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Many ways to do it, this one is simple and effective</a:t>
            </a:r>
          </a:p>
          <a:p>
            <a:r>
              <a:rPr lang="en-US" dirty="0">
                <a:latin typeface="Abadi" panose="020B0604020104020204" pitchFamily="34" charset="0"/>
              </a:rPr>
              <a:t>We should also get the loadings of PC1 and 2, and look at PCs beyond 2 for hidden structure</a:t>
            </a:r>
          </a:p>
          <a:p>
            <a:r>
              <a:rPr lang="en-US" dirty="0">
                <a:latin typeface="Abadi" panose="020B0604020104020204" pitchFamily="34" charset="0"/>
              </a:rPr>
              <a:t>PCA bar plot helpful for finding additional PCs to examine</a:t>
            </a:r>
          </a:p>
          <a:p>
            <a:r>
              <a:rPr lang="en-US" dirty="0">
                <a:latin typeface="Abadi" panose="020B0604020104020204" pitchFamily="34" charset="0"/>
              </a:rPr>
              <a:t>Fundamental: highlight geographically informative variation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80E7E1-1F62-70B5-BA11-57C1041F11D4}"/>
              </a:ext>
            </a:extLst>
          </p:cNvPr>
          <p:cNvSpPr txBox="1"/>
          <p:nvPr/>
        </p:nvSpPr>
        <p:spPr>
          <a:xfrm>
            <a:off x="6010508" y="1027906"/>
            <a:ext cx="618149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# make a plot using the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s.class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program</a:t>
            </a:r>
          </a:p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s.class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ingroup_pca$scores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[,c(1,2)], 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pop(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ingroup_genlight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), col=magma(10, begin=.8, end=0),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clab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=1,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cstar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=1, cell=2.5)</a:t>
            </a:r>
          </a:p>
          <a:p>
            <a:endParaRPr lang="en-US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# Let's try it again with PC 3 and 4, then 1 and 3</a:t>
            </a:r>
          </a:p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s.class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ingroup_pca$scores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[,c(3,4)],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pop(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ingroup_genlight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), col=magma(10, begin=.8, end=0),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clab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=1,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cstar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=1, cell=2.5)</a:t>
            </a:r>
          </a:p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s.class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ingroup_pca$scores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[,c(1,3)],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pop(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ingroup_genlight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), col=magma(10, begin=.8, end=0),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clab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=1,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cstar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=1, cell=2.5)</a:t>
            </a:r>
          </a:p>
          <a:p>
            <a:endParaRPr lang="en-US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#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barplot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of the eigenvalues to tell you the percent of variance each PC explains</a:t>
            </a:r>
          </a:p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barplot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ingroup_pca$eig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/sum(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ingroup_pca$eig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), 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main="Variance explained per PC",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col=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heat.colors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(length(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ingroup_pca$eig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)))</a:t>
            </a:r>
          </a:p>
        </p:txBody>
      </p:sp>
    </p:spTree>
    <p:extLst>
      <p:ext uri="{BB962C8B-B14F-4D97-AF65-F5344CB8AC3E}">
        <p14:creationId xmlns:p14="http://schemas.microsoft.com/office/powerpoint/2010/main" val="38905114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A789D7-5BF3-1EB7-7ED7-C91110F8A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D1A06-021C-52B0-0F9E-EF8ACCC72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Plotting the PCA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102389-3745-B04F-B57F-43A38A501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692" y="261855"/>
            <a:ext cx="5172308" cy="31764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6CF486-3CA5-A8E8-EFEE-8E4B726EFE9D}"/>
              </a:ext>
            </a:extLst>
          </p:cNvPr>
          <p:cNvSpPr txBox="1"/>
          <p:nvPr/>
        </p:nvSpPr>
        <p:spPr>
          <a:xfrm>
            <a:off x="189571" y="1517831"/>
            <a:ext cx="6181492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# make a plot using the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s.class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program</a:t>
            </a:r>
          </a:p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s.class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ingroup_pca$scores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[,c(1,2)], 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pop(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ingroup_genlight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), col=magma(10, begin=.8, end=0),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clab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=1,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cstar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=1, cell=2.5)</a:t>
            </a:r>
          </a:p>
          <a:p>
            <a:endParaRPr lang="en-US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# Let's try it again with PC 3 and 4, then 1 and 3</a:t>
            </a:r>
          </a:p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s.class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ingroup_pca$scores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[,c(3,4)],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pop(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ingroup_genlight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), col=magma(10, begin=.8, end=0),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clab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=1,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cstar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=1, cell=2.5)</a:t>
            </a:r>
          </a:p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s.class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ingroup_pca$scores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[,c(1,3)],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pop(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ingroup_genlight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), col=magma(10, begin=.8, end=0),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clab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=1,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cstar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=1, cell=2.5)</a:t>
            </a:r>
          </a:p>
          <a:p>
            <a:endParaRPr lang="en-US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# 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barplot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of the eigenvalues to tell you the percent of variance each PC explains</a:t>
            </a:r>
          </a:p>
          <a:p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barplot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ingroup_pca$eig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/sum(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ingroup_pca$eig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), 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main="Variance explained per PC",</a:t>
            </a:r>
          </a:p>
          <a:p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        col=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heat.colors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(length(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</a:rPr>
              <a:t>ingroup_pca$eig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</a:rPr>
              <a:t>)))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2945AEC-6063-E3C0-8373-1429D2C40D95}"/>
              </a:ext>
            </a:extLst>
          </p:cNvPr>
          <p:cNvCxnSpPr>
            <a:cxnSpLocks/>
          </p:cNvCxnSpPr>
          <p:nvPr/>
        </p:nvCxnSpPr>
        <p:spPr>
          <a:xfrm flipV="1">
            <a:off x="4148254" y="1393902"/>
            <a:ext cx="2871438" cy="5575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8A49F3A5-4A01-C253-D331-10F34611F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8361" y="3496687"/>
            <a:ext cx="5233639" cy="31935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9F32994-92E8-BD97-0942-2992ECB8BE9B}"/>
              </a:ext>
            </a:extLst>
          </p:cNvPr>
          <p:cNvCxnSpPr>
            <a:cxnSpLocks/>
          </p:cNvCxnSpPr>
          <p:nvPr/>
        </p:nvCxnSpPr>
        <p:spPr>
          <a:xfrm>
            <a:off x="3943815" y="4143415"/>
            <a:ext cx="3014546" cy="18325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0A1B106D-E2AD-C0F6-8D29-40A6EAD20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770" y="3485813"/>
            <a:ext cx="3622659" cy="2065551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FB40061-6A1B-821A-72EC-E7E2CD8DE4C6}"/>
              </a:ext>
            </a:extLst>
          </p:cNvPr>
          <p:cNvCxnSpPr>
            <a:cxnSpLocks/>
          </p:cNvCxnSpPr>
          <p:nvPr/>
        </p:nvCxnSpPr>
        <p:spPr>
          <a:xfrm flipV="1">
            <a:off x="5112834" y="4385062"/>
            <a:ext cx="3150220" cy="14868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2226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8A0BB-1C94-BF61-2950-AFABA2FB3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3C414-FFEE-8CB2-2974-B6A316DBB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ADMIXTURE-style analyses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EADEC-3083-61F8-2F3E-F8AEFB04E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1249721" cy="4932014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Structure is perhaps most well known</a:t>
            </a:r>
          </a:p>
          <a:p>
            <a:r>
              <a:rPr lang="en-US" dirty="0">
                <a:latin typeface="Abadi" panose="020B0604020104020204" pitchFamily="34" charset="0"/>
              </a:rPr>
              <a:t>In my opinion, much less useful than alternatives, sample size biases even stronger than PCAs, and “hallucinates” hybrids for low sample size groups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BE08F-C291-1B15-0759-95A3EE9F27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91" r="-1" b="53821"/>
          <a:stretch>
            <a:fillRect/>
          </a:stretch>
        </p:blipFill>
        <p:spPr>
          <a:xfrm>
            <a:off x="462443" y="3613944"/>
            <a:ext cx="7979030" cy="3211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BE2BC7-D5BA-4BEA-1F58-F555268D4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18"/>
          <a:stretch>
            <a:fillRect/>
          </a:stretch>
        </p:blipFill>
        <p:spPr>
          <a:xfrm>
            <a:off x="8720255" y="3628559"/>
            <a:ext cx="3367668" cy="316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287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511F0-0DFE-FBC3-3AB9-42BCC4137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A8FE-EFFB-00A7-F984-57B9C60D1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sNMF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3E2D6-4FAA-1972-12C9-0B56E1C984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3510774" cy="4932014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sNMF is fast, resource light, and relatively robust to violations</a:t>
            </a:r>
          </a:p>
          <a:p>
            <a:r>
              <a:rPr lang="en-US" dirty="0">
                <a:latin typeface="Abadi" panose="020B0604020104020204" pitchFamily="34" charset="0"/>
              </a:rPr>
              <a:t>Uses the LEA package</a:t>
            </a:r>
          </a:p>
          <a:p>
            <a:r>
              <a:rPr lang="en-US" dirty="0">
                <a:latin typeface="Abadi" panose="020B0604020104020204" pitchFamily="34" charset="0"/>
              </a:rPr>
              <a:t>Assigns populations and has way of testing fit of different pop numbers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BD60DB-76DC-DDE4-7194-AA4958C99FE3}"/>
              </a:ext>
            </a:extLst>
          </p:cNvPr>
          <p:cNvSpPr txBox="1"/>
          <p:nvPr/>
        </p:nvSpPr>
        <p:spPr>
          <a:xfrm>
            <a:off x="4348976" y="33454"/>
            <a:ext cx="7843024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# install LEA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if (!require("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BiocManager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", quietly = TRUE))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  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install.packages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("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BiocManager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")</a:t>
            </a:r>
          </a:p>
          <a:p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BiocManager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::install("LEA")</a:t>
            </a:r>
          </a:p>
          <a:p>
            <a:endParaRPr lang="en-US" sz="17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# Load in additional tools for sNMF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source("http://membres-timc.imag.fr/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Olivier.Francois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/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Conversion.R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")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source("http://membres-timc.imag.fr/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Olivier.Francois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/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POPSutilities.R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")</a:t>
            </a:r>
          </a:p>
          <a:p>
            <a:endParaRPr lang="en-US" sz="17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# Load main library, LEA, and a color scheme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library(LEA)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library(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RColorBrewer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  <a:p>
            <a:endParaRPr lang="en-US" sz="17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# set working directory</a:t>
            </a:r>
          </a:p>
          <a:p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setwd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('C:/Documents/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PostDoc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/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Workshop_working_directory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')</a:t>
            </a:r>
          </a:p>
          <a:p>
            <a:endParaRPr lang="en-US" sz="17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# vcf2geno function from LEA make a 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geno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 file in a specified directory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vcf2geno("output/NAME_ingroup_75_thinned.vcf", # input path 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         output = "output/ NAME _ingroup_75_thinned.geno") # output path</a:t>
            </a:r>
          </a:p>
          <a:p>
            <a:endParaRPr lang="en-US" sz="17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# run sNMF for 1-7 pops, 20 reps per pop, modest admixture punish (alpha)</a:t>
            </a:r>
          </a:p>
          <a:p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ingroup_snmf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 = 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snmf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("output/pachycephala_ingroup_75_thinned.geno", ploidy=2, 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                  K = 1:7,  alpha = 100, project = "new", entropy = T,  repetitions = 20)</a:t>
            </a:r>
          </a:p>
          <a:p>
            <a:endParaRPr lang="en-US" sz="17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# plot to decide optimal K, helpful but not absolute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plot(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ingroup_snmf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cex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 = 1.2, col = "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lightblue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", 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pch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 = 19)</a:t>
            </a:r>
          </a:p>
        </p:txBody>
      </p:sp>
    </p:spTree>
    <p:extLst>
      <p:ext uri="{BB962C8B-B14F-4D97-AF65-F5344CB8AC3E}">
        <p14:creationId xmlns:p14="http://schemas.microsoft.com/office/powerpoint/2010/main" val="2895103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ADE8D-FA60-AEB6-94FE-DD978E00F5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66282-7792-9704-EB35-AFBAD0C9A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sNMF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93149-ADCD-C52F-EA54-56B3ED11EF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3510774" cy="4932014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sNMF is fast, resource light, and relatively robust to violations</a:t>
            </a:r>
          </a:p>
          <a:p>
            <a:r>
              <a:rPr lang="en-US" dirty="0">
                <a:latin typeface="Abadi" panose="020B0604020104020204" pitchFamily="34" charset="0"/>
              </a:rPr>
              <a:t>Uses the LEA package</a:t>
            </a:r>
          </a:p>
          <a:p>
            <a:r>
              <a:rPr lang="en-US" dirty="0">
                <a:latin typeface="Abadi" panose="020B0604020104020204" pitchFamily="34" charset="0"/>
              </a:rPr>
              <a:t>Assigns populations and has way of testing fit of different pop numbers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CA1365-3FCB-0620-B98B-057148301381}"/>
              </a:ext>
            </a:extLst>
          </p:cNvPr>
          <p:cNvSpPr txBox="1"/>
          <p:nvPr/>
        </p:nvSpPr>
        <p:spPr>
          <a:xfrm>
            <a:off x="4348976" y="33454"/>
            <a:ext cx="7843024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# install LEA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if (!require("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BiocManager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", quietly = TRUE))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  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install.packages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("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BiocManager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")</a:t>
            </a:r>
          </a:p>
          <a:p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BiocManager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::install("LEA")</a:t>
            </a:r>
          </a:p>
          <a:p>
            <a:endParaRPr lang="en-US" sz="17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# Load in additional tools for sNMF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source("http://membres-timc.imag.fr/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Olivier.Francois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/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Conversion.R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")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source("http://membres-timc.imag.fr/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Olivier.Francois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/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POPSutilities.R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")</a:t>
            </a:r>
          </a:p>
          <a:p>
            <a:endParaRPr lang="en-US" sz="17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# Load main library, LEA, and a color scheme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library(LEA)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library(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RColorBrewer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  <a:p>
            <a:endParaRPr lang="en-US" sz="17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# set working directory</a:t>
            </a:r>
          </a:p>
          <a:p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setwd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('C:/Documents/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PostDoc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/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Workshop_working_directory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')</a:t>
            </a:r>
          </a:p>
          <a:p>
            <a:endParaRPr lang="en-US" sz="17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# vcf2geno function from LEA make a 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geno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 file in a specified directory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vcf2geno("output/NAME_ingroup_75_thinned.vcf", # input path 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         output = "output/ NAME _ingroup_75_thinned.geno") # output path</a:t>
            </a:r>
          </a:p>
          <a:p>
            <a:endParaRPr lang="en-US" sz="17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# run sNMF for 1-7 pops, 20 reps per pop, modest admixture punish (alpha)</a:t>
            </a:r>
          </a:p>
          <a:p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ingroup_snmf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 = 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snmf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("output/pachycephala_ingroup_75_thinned.geno", ploidy=2, 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                  K = 1:7,  alpha = 100, project = "new", entropy = T,  repetitions = 20)</a:t>
            </a:r>
          </a:p>
          <a:p>
            <a:endParaRPr lang="en-US" sz="17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# plot to decide optimal K, helpful but not absolute</a:t>
            </a:r>
          </a:p>
          <a:p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plot(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ingroup_snmf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cex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 = 1.2, col = "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lightblue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", </a:t>
            </a:r>
            <a:r>
              <a:rPr lang="en-US" sz="1700" dirty="0" err="1">
                <a:solidFill>
                  <a:schemeClr val="accent4">
                    <a:lumMod val="75000"/>
                  </a:schemeClr>
                </a:solidFill>
              </a:rPr>
              <a:t>pch</a:t>
            </a:r>
            <a:r>
              <a:rPr lang="en-US" sz="1700" dirty="0">
                <a:solidFill>
                  <a:schemeClr val="accent4">
                    <a:lumMod val="75000"/>
                  </a:schemeClr>
                </a:solidFill>
              </a:rPr>
              <a:t> = 19)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9D2D24-C59C-FAAB-8E55-80EDBB117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614" y="0"/>
            <a:ext cx="6968152" cy="6244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981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DBDDB-2F42-2809-2FD6-D0510F2C1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3C1BB-0D55-A2F0-F75F-35446305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Plotting sNMF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4E95E-8589-7F47-9FBF-27802560FA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3990277" cy="4932014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Need to make a plotting function</a:t>
            </a:r>
          </a:p>
          <a:p>
            <a:r>
              <a:rPr lang="en-US" dirty="0">
                <a:latin typeface="Abadi" panose="020B0604020104020204" pitchFamily="34" charset="0"/>
              </a:rPr>
              <a:t>You can use a range of color palettes, I like using a gradient</a:t>
            </a:r>
          </a:p>
          <a:p>
            <a:r>
              <a:rPr lang="en-US" dirty="0">
                <a:latin typeface="Abadi" panose="020B0604020104020204" pitchFamily="34" charset="0"/>
              </a:rPr>
              <a:t>Then you plot a range of K values to explore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60832-E727-602D-A3ED-271F8DC01417}"/>
              </a:ext>
            </a:extLst>
          </p:cNvPr>
          <p:cNvSpPr txBox="1"/>
          <p:nvPr/>
        </p:nvSpPr>
        <p:spPr>
          <a:xfrm>
            <a:off x="4953930" y="181957"/>
            <a:ext cx="7238070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# make a color palette</a:t>
            </a:r>
          </a:p>
          <a:p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BlackYellow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&lt;-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colorRampPalette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(c("yellow", "black"))</a:t>
            </a:r>
          </a:p>
          <a:p>
            <a:endParaRPr lang="en-US" sz="16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# make function for plotting admixture output</a:t>
            </a:r>
          </a:p>
          <a:p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plot_sNMF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&lt;- function(input,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k_val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, colors =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BlackYellow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(k_val+1)){</a:t>
            </a: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 # picks best run best on cross entropy</a:t>
            </a: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best_run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&lt;-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which.min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cross.entropy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(input, K =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k_val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))</a:t>
            </a: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 # makes q matrix of ancestry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coeffs</a:t>
            </a:r>
            <a:endParaRPr lang="en-US" sz="16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q_matrix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&lt;- Q(input, K =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k_val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, run =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best_run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)</a:t>
            </a: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 # plots the output, space makes blank between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indivs</a:t>
            </a:r>
            <a:endParaRPr lang="en-US" sz="16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barplot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(t(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q_matrix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), col = colors, border = NA, space = 0.25,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xlab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= "Individuals",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ylab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= "Admixture coefficients",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horiz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=FALSE)</a:t>
            </a: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}</a:t>
            </a:r>
          </a:p>
          <a:p>
            <a:endParaRPr lang="en-US" sz="16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# plotting parameters, note the number in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mfrow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 should be your k</a:t>
            </a: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par(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mfrow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=c(7,1), mar=c(0,2,0,0), 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oma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=c(1,2,1,0))</a:t>
            </a:r>
          </a:p>
          <a:p>
            <a:endParaRPr lang="en-US" sz="1600" dirty="0">
              <a:solidFill>
                <a:schemeClr val="accent4">
                  <a:lumMod val="75000"/>
                </a:schemeClr>
              </a:solidFill>
            </a:endParaRPr>
          </a:p>
          <a:p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# plot sNMF for each K</a:t>
            </a:r>
          </a:p>
          <a:p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plot_sNMF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ingroup_snmf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, 1)</a:t>
            </a:r>
          </a:p>
          <a:p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plot_sNMF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ingroup_snmf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, 2)</a:t>
            </a:r>
          </a:p>
          <a:p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plot_sNMF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ingroup_snmf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, 3)</a:t>
            </a:r>
          </a:p>
          <a:p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plot_sNMF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ingroup_snmf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, 4)</a:t>
            </a:r>
          </a:p>
          <a:p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plot_sNMF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ingroup_snmf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, 5)</a:t>
            </a:r>
          </a:p>
          <a:p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plot_sNMF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ingroup_snmf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, 6)</a:t>
            </a:r>
          </a:p>
          <a:p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plot_sNMF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(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</a:rPr>
              <a:t>ingroup_snmf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, 7)</a:t>
            </a:r>
          </a:p>
        </p:txBody>
      </p:sp>
    </p:spTree>
    <p:extLst>
      <p:ext uri="{BB962C8B-B14F-4D97-AF65-F5344CB8AC3E}">
        <p14:creationId xmlns:p14="http://schemas.microsoft.com/office/powerpoint/2010/main" val="36220436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46375-299D-3DB0-5FC1-890E33AB3B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430AB-7297-7CE8-5E10-BB0B1F2CF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Interpreting sNMF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C2952A-A6F1-FC06-10F5-AA9EA4C35A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54" y="1274858"/>
            <a:ext cx="5660045" cy="558314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A289A7D-08E6-ABE8-FBDC-A01F02F969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245" y="1274858"/>
            <a:ext cx="5547841" cy="55097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AD3359D-BEBC-29ED-5F52-80DB4744997C}"/>
              </a:ext>
            </a:extLst>
          </p:cNvPr>
          <p:cNvSpPr/>
          <p:nvPr/>
        </p:nvSpPr>
        <p:spPr>
          <a:xfrm>
            <a:off x="7002966" y="2877015"/>
            <a:ext cx="5031969" cy="390758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771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1673D-5074-6D61-DF03-A608B71FF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1B90B-2A22-E22E-94CC-82F30E9A3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haroni" panose="02010803020104030203" pitchFamily="2" charset="-79"/>
                <a:cs typeface="Aharoni" panose="02010803020104030203" pitchFamily="2" charset="-79"/>
              </a:rPr>
              <a:t>sNMF issue: ordering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0CE56-5A9A-6FB9-D279-9F6CB49E3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10814823" cy="4932014"/>
          </a:xfrm>
        </p:spPr>
        <p:txBody>
          <a:bodyPr>
            <a:normAutofit/>
          </a:bodyPr>
          <a:lstStyle/>
          <a:p>
            <a:r>
              <a:rPr lang="en-US" dirty="0">
                <a:latin typeface="Abadi" panose="020B0604020104020204" pitchFamily="34" charset="0"/>
              </a:rPr>
              <a:t>You don’t need to do this, but for reference, to change the order follow these steps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badi" panose="020B0604020104020204" pitchFamily="34" charset="0"/>
              </a:rPr>
              <a:t>Make sure </a:t>
            </a:r>
            <a:r>
              <a:rPr lang="en-US" dirty="0" err="1">
                <a:latin typeface="Abadi" panose="020B0604020104020204" pitchFamily="34" charset="0"/>
              </a:rPr>
              <a:t>bcftools</a:t>
            </a:r>
            <a:r>
              <a:rPr lang="en-US" dirty="0">
                <a:latin typeface="Abadi" panose="020B0604020104020204" pitchFamily="34" charset="0"/>
              </a:rPr>
              <a:t> is installed (it should be in your env)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badi" panose="020B0604020104020204" pitchFamily="34" charset="0"/>
              </a:rPr>
              <a:t>Compress </a:t>
            </a:r>
            <a:r>
              <a:rPr lang="en-US" dirty="0" err="1">
                <a:latin typeface="Abadi" panose="020B0604020104020204" pitchFamily="34" charset="0"/>
              </a:rPr>
              <a:t>vcf</a:t>
            </a:r>
            <a:r>
              <a:rPr lang="en-US" dirty="0">
                <a:latin typeface="Abadi" panose="020B0604020104020204" pitchFamily="34" charset="0"/>
              </a:rPr>
              <a:t>: </a:t>
            </a:r>
            <a:r>
              <a:rPr lang="en-US" dirty="0" err="1">
                <a:solidFill>
                  <a:schemeClr val="accent6"/>
                </a:solidFill>
                <a:latin typeface="Abadi" panose="020B0604020104020204" pitchFamily="34" charset="0"/>
              </a:rPr>
              <a:t>bgzip</a:t>
            </a:r>
            <a:r>
              <a:rPr lang="en-US" dirty="0">
                <a:solidFill>
                  <a:schemeClr val="accent6"/>
                </a:solidFill>
                <a:latin typeface="Abadi" panose="020B0604020104020204" pitchFamily="34" charset="0"/>
              </a:rPr>
              <a:t> in.vcf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badi" panose="020B0604020104020204" pitchFamily="34" charset="0"/>
              </a:rPr>
              <a:t>Index </a:t>
            </a:r>
            <a:r>
              <a:rPr lang="en-US" dirty="0" err="1">
                <a:latin typeface="Abadi" panose="020B0604020104020204" pitchFamily="34" charset="0"/>
              </a:rPr>
              <a:t>vcf</a:t>
            </a:r>
            <a:r>
              <a:rPr lang="en-US" dirty="0">
                <a:latin typeface="Abadi" panose="020B0604020104020204" pitchFamily="34" charset="0"/>
              </a:rPr>
              <a:t>: </a:t>
            </a:r>
            <a:r>
              <a:rPr lang="en-US" dirty="0" err="1">
                <a:solidFill>
                  <a:schemeClr val="accent6"/>
                </a:solidFill>
                <a:latin typeface="Abadi" panose="020B0604020104020204" pitchFamily="34" charset="0"/>
              </a:rPr>
              <a:t>tabix</a:t>
            </a:r>
            <a:r>
              <a:rPr lang="en-US" dirty="0">
                <a:solidFill>
                  <a:schemeClr val="accent6"/>
                </a:solidFill>
                <a:latin typeface="Abadi" panose="020B0604020104020204" pitchFamily="34" charset="0"/>
              </a:rPr>
              <a:t> in.vcf.gz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badi" panose="020B0604020104020204" pitchFamily="34" charset="0"/>
              </a:rPr>
              <a:t>Order </a:t>
            </a:r>
            <a:r>
              <a:rPr lang="en-US" dirty="0" err="1">
                <a:latin typeface="Abadi" panose="020B0604020104020204" pitchFamily="34" charset="0"/>
              </a:rPr>
              <a:t>vcf</a:t>
            </a:r>
            <a:r>
              <a:rPr lang="en-US" dirty="0">
                <a:latin typeface="Abadi" panose="020B0604020104020204" pitchFamily="34" charset="0"/>
              </a:rPr>
              <a:t>: </a:t>
            </a:r>
            <a:r>
              <a:rPr lang="en-US" dirty="0" err="1">
                <a:solidFill>
                  <a:schemeClr val="accent6"/>
                </a:solidFill>
                <a:latin typeface="Abadi" panose="020B0604020104020204" pitchFamily="34" charset="0"/>
              </a:rPr>
              <a:t>bcftools</a:t>
            </a:r>
            <a:r>
              <a:rPr lang="en-US" dirty="0">
                <a:solidFill>
                  <a:schemeClr val="accent6"/>
                </a:solidFill>
                <a:latin typeface="Abadi" panose="020B0604020104020204" pitchFamily="34" charset="0"/>
              </a:rPr>
              <a:t> view -S </a:t>
            </a:r>
            <a:r>
              <a:rPr lang="en-US" dirty="0" err="1">
                <a:solidFill>
                  <a:schemeClr val="accent6"/>
                </a:solidFill>
                <a:latin typeface="Abadi" panose="020B0604020104020204" pitchFamily="34" charset="0"/>
              </a:rPr>
              <a:t>sorted_list</a:t>
            </a:r>
            <a:r>
              <a:rPr lang="en-US" dirty="0">
                <a:solidFill>
                  <a:schemeClr val="accent6"/>
                </a:solidFill>
                <a:latin typeface="Abadi" panose="020B0604020104020204" pitchFamily="34" charset="0"/>
              </a:rPr>
              <a:t> in.vcf.gz &gt; out.vcf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latin typeface="Abadi" panose="020B0604020104020204" pitchFamily="34" charset="0"/>
              </a:rPr>
              <a:t>Decompress </a:t>
            </a:r>
            <a:r>
              <a:rPr lang="en-US" dirty="0" err="1">
                <a:latin typeface="Abadi" panose="020B0604020104020204" pitchFamily="34" charset="0"/>
              </a:rPr>
              <a:t>vcf</a:t>
            </a:r>
            <a:r>
              <a:rPr lang="en-US" dirty="0">
                <a:latin typeface="Abadi" panose="020B0604020104020204" pitchFamily="34" charset="0"/>
              </a:rPr>
              <a:t>: </a:t>
            </a:r>
            <a:r>
              <a:rPr lang="en-US" dirty="0" err="1">
                <a:solidFill>
                  <a:schemeClr val="accent6"/>
                </a:solidFill>
                <a:latin typeface="Abadi" panose="020B0604020104020204" pitchFamily="34" charset="0"/>
              </a:rPr>
              <a:t>gunzip</a:t>
            </a:r>
            <a:r>
              <a:rPr lang="en-US" dirty="0">
                <a:solidFill>
                  <a:schemeClr val="accent6"/>
                </a:solidFill>
                <a:latin typeface="Abadi" panose="020B0604020104020204" pitchFamily="34" charset="0"/>
              </a:rPr>
              <a:t> in.vcf.gz</a:t>
            </a:r>
          </a:p>
          <a:p>
            <a:pPr marL="514350" indent="-514350">
              <a:buFont typeface="+mj-lt"/>
              <a:buAutoNum type="arabicPeriod"/>
            </a:pPr>
            <a:endParaRPr lang="en-US" dirty="0">
              <a:solidFill>
                <a:schemeClr val="accent6"/>
              </a:solidFill>
              <a:latin typeface="Abadi" panose="020B06040201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079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5036</TotalTime>
  <Words>1996</Words>
  <Application>Microsoft Office PowerPoint</Application>
  <PresentationFormat>Widescreen</PresentationFormat>
  <Paragraphs>202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Abadi</vt:lpstr>
      <vt:lpstr>Aharoni</vt:lpstr>
      <vt:lpstr>Aptos</vt:lpstr>
      <vt:lpstr>Aptos Display</vt:lpstr>
      <vt:lpstr>Arial</vt:lpstr>
      <vt:lpstr>Office Theme</vt:lpstr>
      <vt:lpstr>Population Structure</vt:lpstr>
      <vt:lpstr>Report document</vt:lpstr>
      <vt:lpstr>What does population structure tell us?</vt:lpstr>
      <vt:lpstr>PowerPoint Presentation</vt:lpstr>
      <vt:lpstr>PowerPoint Presentation</vt:lpstr>
      <vt:lpstr>Genomic data and R</vt:lpstr>
      <vt:lpstr>Genomic PCAs</vt:lpstr>
      <vt:lpstr>Genomic PCA sensitivity</vt:lpstr>
      <vt:lpstr>Loading your libraries</vt:lpstr>
      <vt:lpstr>Running the PCA</vt:lpstr>
      <vt:lpstr>Plotting the PCA</vt:lpstr>
      <vt:lpstr>Plotting the PCA</vt:lpstr>
      <vt:lpstr>ADMIXTURE-style analyses</vt:lpstr>
      <vt:lpstr>sNMF</vt:lpstr>
      <vt:lpstr>sNMF</vt:lpstr>
      <vt:lpstr>Plotting sNMF</vt:lpstr>
      <vt:lpstr>Interpreting sNMF</vt:lpstr>
      <vt:lpstr>sNMF issue: ordering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Gyllenhaal</dc:creator>
  <cp:lastModifiedBy>Ethan Gyllenhaal</cp:lastModifiedBy>
  <cp:revision>773</cp:revision>
  <dcterms:created xsi:type="dcterms:W3CDTF">2026-07-08T01:44:49Z</dcterms:created>
  <dcterms:modified xsi:type="dcterms:W3CDTF">2026-07-21T08:01:27Z</dcterms:modified>
</cp:coreProperties>
</file>