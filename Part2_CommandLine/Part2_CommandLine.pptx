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1" r:id="rId9"/>
    <p:sldId id="287" r:id="rId10"/>
    <p:sldId id="265" r:id="rId11"/>
    <p:sldId id="266" r:id="rId12"/>
    <p:sldId id="268" r:id="rId13"/>
    <p:sldId id="274" r:id="rId14"/>
    <p:sldId id="276" r:id="rId15"/>
    <p:sldId id="277" r:id="rId16"/>
    <p:sldId id="270" r:id="rId17"/>
    <p:sldId id="271" r:id="rId18"/>
    <p:sldId id="273" r:id="rId19"/>
    <p:sldId id="272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83" autoAdjust="0"/>
  </p:normalViewPr>
  <p:slideViewPr>
    <p:cSldViewPr snapToGrid="0">
      <p:cViewPr varScale="1">
        <p:scale>
          <a:sx n="69" d="100"/>
          <a:sy n="69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DAD82-4A91-4FCD-8377-229631DED7F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BE17A-011E-42C8-B886-9AAF1509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6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82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3C9C-2ED6-07E2-5187-63CCB8E96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277A-038B-673F-4627-ADF83DE4C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2BEB-104C-39ED-7273-6BDF7355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42A1-DB42-5F71-7EDA-C82442E0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3A78-E333-71CD-2D41-FCA8444F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2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7225-767F-C323-5C43-E544A73C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2BBC-A2A3-E886-0002-300022D49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BD229-AF2F-0677-327E-8DAF0AE5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9CE4-29FC-FC2B-3B3C-9F22D1AB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0D58C-9177-8E3B-7CD7-CC6F2EB4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6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00DE-C7AC-CEE1-5C67-BAF1E4B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99492-F707-0AF1-90A2-0D010D1BF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98528-6399-C1CC-1E0F-750B84AB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9D72-0B87-711C-2F2B-F736FE0D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FE287-9188-0985-0DD5-FCBE6726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7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8880-F7AB-A1AF-BA71-32BC25F0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ECC1-A04F-BE53-BAE3-287D478DD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F2504-8519-1D66-087A-D6410690B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E88D8-4C57-2D0B-FBE1-0C4D3A16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8E72A-5DC1-BE0E-DD96-81577DFF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A0AF2-98A4-2E7D-BC56-365F78FB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8984-04BA-5449-9B81-A909A0FB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51707-BFD4-6B46-E020-7F1BE906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B8FA0-FBD2-C0DC-57EF-56268657D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C8736-2EAD-0683-5FFF-93AD48D03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52C8A-01FC-253F-1170-AC3F51B8C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A93B8-9E72-3054-6CCD-85CCB413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9AFD3-5A50-72DC-3B44-B15257DF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6A861-2F50-63FB-41E4-20BCF707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9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EE4F-DDD0-3508-D3FD-23721D71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CA520-90D2-5900-2CE8-8297A56E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0712D-2C92-E280-8039-56B32AAF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1E025-E056-74C6-D982-FADD49F6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4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00ADF-7189-4746-5A27-5534D9BC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677B9-E138-21A2-28C3-23E66257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513E7-BD02-0CC6-2312-A81C6CD1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5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24B5-B629-E352-2A5C-A65764C3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23BE-33E6-0EEF-B15C-D85FFEA1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B9F4E-9B72-2DFB-F832-4CCCE235C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D08E-23DC-D49B-6243-34BE241C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684A2-5407-A704-920F-6B8B9419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ACE16-2690-3C6D-FCA4-C3E7AA72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9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B66A-737B-CBDE-519F-387170E2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7FBC2-B41F-501A-708B-F32B24FA7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E5A01-1E6C-775F-E6D0-D65B75A42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07599-0952-FB31-3856-C45A3780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12A0D-C317-E1A4-EABA-1FDF1F38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A2969-6900-ADA2-9316-D9A2945E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6A61-148E-387F-5384-06C3FAA6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8F97-629D-244A-1A23-1DBABEDAB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99E9-2437-4F8D-6202-FD0DBCD9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7D28-26E7-CF93-4879-24F3238A9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3F103-F0C1-095C-A68F-81CD223A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7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002C-7B52-4611-B2BF-C1BF37DF3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D7E27-91D1-BD36-1CE2-232F9A1D0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7D49C-FBFA-8F27-ADE4-2B725E15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96545-C681-2F33-6F91-FF65A9C0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622C-1851-4647-7DB2-1675CABF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8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45A00-E370-A361-4157-93A5BEA9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66534-883C-7F46-5FE7-D1017D4C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CD54F-879E-01CE-4AA2-15688F79A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1E8BD-15BC-B84B-9F33-6B985724E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E012D-9AEF-ECEB-9F79-C10A55537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7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.anaconda.com/miniconda/Miniconda3-latest-Linux-x86_64.sh" TargetMode="External"/><Relationship Id="rId2" Type="http://schemas.openxmlformats.org/officeDocument/2006/relationships/hyperlink" Target="https://www.anaconda.com/docs/getting-started/miniconda/install/linux-instal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B03F-C091-E144-388E-E639BA357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Introduction to command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A0D4C-299D-E73D-F102-E7B2B50F1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USP </a:t>
            </a:r>
            <a:r>
              <a:rPr lang="en-US" dirty="0" err="1">
                <a:latin typeface="Abadi" panose="020B0604020104020204" pitchFamily="34" charset="0"/>
              </a:rPr>
              <a:t>RADseq</a:t>
            </a:r>
            <a:r>
              <a:rPr lang="en-US" dirty="0">
                <a:latin typeface="Abadi" panose="020B0604020104020204" pitchFamily="34" charset="0"/>
              </a:rPr>
              <a:t> Workshop</a:t>
            </a:r>
          </a:p>
          <a:p>
            <a:r>
              <a:rPr lang="en-US" dirty="0">
                <a:latin typeface="Abadi" panose="020B0604020104020204" pitchFamily="34" charset="0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28617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8C45-9FE0-D060-07DA-680C7A1B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What is a pipeline?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B6EFC-6FD6-EEC0-89DC-56DD7A7E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5537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badi" panose="020B0604020104020204" pitchFamily="34" charset="0"/>
              </a:rPr>
              <a:t>Broadly speaking, pipelines are sets of computational tasks carried out in order</a:t>
            </a:r>
          </a:p>
          <a:p>
            <a:r>
              <a:rPr lang="en-US" dirty="0">
                <a:latin typeface="Abadi" panose="020B0604020104020204" pitchFamily="34" charset="0"/>
              </a:rPr>
              <a:t>Pipelines can range from fully constructed by user to those pre-built (e.g., Stacks)</a:t>
            </a:r>
          </a:p>
          <a:p>
            <a:r>
              <a:rPr lang="en-US" dirty="0">
                <a:latin typeface="Abadi" panose="020B0604020104020204" pitchFamily="34" charset="0"/>
              </a:rPr>
              <a:t>Serve as an easy framework for replication and learning new methods</a:t>
            </a:r>
          </a:p>
        </p:txBody>
      </p:sp>
      <p:pic>
        <p:nvPicPr>
          <p:cNvPr id="5" name="Picture 2" descr="Stacks Pipeline">
            <a:extLst>
              <a:ext uri="{FF2B5EF4-FFF2-40B4-BE49-F238E27FC236}">
                <a16:creationId xmlns:a16="http://schemas.microsoft.com/office/drawing/2014/main" id="{A9E949D9-D8B0-D2A8-552B-62E1304B70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18" b="22610"/>
          <a:stretch/>
        </p:blipFill>
        <p:spPr bwMode="auto">
          <a:xfrm>
            <a:off x="5336473" y="1580298"/>
            <a:ext cx="6855527" cy="445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99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FB38-5ADE-C047-6D1B-CA75B97F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6BC53-EBC0-60C0-044D-D52D12E5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What is Stacks?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CBEA5-29C5-FE35-7B0E-ED139A5DE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5537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Pipeline for analyzing </a:t>
            </a:r>
            <a:r>
              <a:rPr lang="en-US" dirty="0" err="1">
                <a:latin typeface="Abadi" panose="020B0604020104020204" pitchFamily="34" charset="0"/>
              </a:rPr>
              <a:t>RADseq</a:t>
            </a:r>
            <a:r>
              <a:rPr lang="en-US" dirty="0">
                <a:latin typeface="Abadi" panose="020B0604020104020204" pitchFamily="34" charset="0"/>
              </a:rPr>
              <a:t> data</a:t>
            </a:r>
          </a:p>
          <a:p>
            <a:r>
              <a:rPr lang="en-US" dirty="0">
                <a:latin typeface="Abadi" panose="020B0604020104020204" pitchFamily="34" charset="0"/>
              </a:rPr>
              <a:t>Simplifies much of the SNP calling</a:t>
            </a:r>
          </a:p>
          <a:p>
            <a:r>
              <a:rPr lang="en-US" dirty="0">
                <a:latin typeface="Abadi" panose="020B0604020104020204" pitchFamily="34" charset="0"/>
              </a:rPr>
              <a:t>Flexible, can accommodate reference-based methods and de novo assembly</a:t>
            </a:r>
          </a:p>
          <a:p>
            <a:r>
              <a:rPr lang="en-US" dirty="0">
                <a:latin typeface="Abadi" panose="020B0604020104020204" pitchFamily="34" charset="0"/>
              </a:rPr>
              <a:t>Run via command line</a:t>
            </a:r>
          </a:p>
        </p:txBody>
      </p:sp>
      <p:pic>
        <p:nvPicPr>
          <p:cNvPr id="5" name="Picture 2" descr="Stacks Pipeline">
            <a:extLst>
              <a:ext uri="{FF2B5EF4-FFF2-40B4-BE49-F238E27FC236}">
                <a16:creationId xmlns:a16="http://schemas.microsoft.com/office/drawing/2014/main" id="{1463235C-157F-B9C6-A816-81CC12B420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18" b="22610"/>
          <a:stretch/>
        </p:blipFill>
        <p:spPr bwMode="auto">
          <a:xfrm>
            <a:off x="5336473" y="1580298"/>
            <a:ext cx="6855527" cy="445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00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097D-A07A-946D-27AF-7D9C8303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DB76-4884-562E-5110-7CA7E59B5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What is Stacks?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1CA0-ACCF-3232-9FE7-FC19724FD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5537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 Stacks has different modules for each step: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Read processing (</a:t>
            </a:r>
            <a:r>
              <a:rPr lang="en-US" dirty="0" err="1">
                <a:latin typeface="Abadi" panose="020B0604020104020204" pitchFamily="34" charset="0"/>
              </a:rPr>
              <a:t>process_radtags</a:t>
            </a:r>
            <a:r>
              <a:rPr lang="en-US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Optional assembly (</a:t>
            </a:r>
            <a:r>
              <a:rPr lang="en-US" dirty="0" err="1">
                <a:latin typeface="Abadi" panose="020B0604020104020204" pitchFamily="34" charset="0"/>
              </a:rPr>
              <a:t>ustacks</a:t>
            </a:r>
            <a:r>
              <a:rPr lang="en-US" dirty="0">
                <a:latin typeface="Abadi" panose="020B0604020104020204" pitchFamily="34" charset="0"/>
              </a:rPr>
              <a:t>, </a:t>
            </a:r>
            <a:r>
              <a:rPr lang="en-US" dirty="0" err="1">
                <a:latin typeface="Abadi" panose="020B0604020104020204" pitchFamily="34" charset="0"/>
              </a:rPr>
              <a:t>cstacks</a:t>
            </a:r>
            <a:r>
              <a:rPr lang="en-US" dirty="0">
                <a:latin typeface="Abadi" panose="020B0604020104020204" pitchFamily="34" charset="0"/>
              </a:rPr>
              <a:t>, </a:t>
            </a:r>
            <a:r>
              <a:rPr lang="en-US" dirty="0" err="1">
                <a:latin typeface="Abadi" panose="020B0604020104020204" pitchFamily="34" charset="0"/>
              </a:rPr>
              <a:t>sstacks</a:t>
            </a:r>
            <a:r>
              <a:rPr lang="en-US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Alignment (</a:t>
            </a:r>
            <a:r>
              <a:rPr lang="en-US" dirty="0" err="1">
                <a:latin typeface="Abadi" panose="020B0604020104020204" pitchFamily="34" charset="0"/>
              </a:rPr>
              <a:t>gstacks</a:t>
            </a:r>
            <a:r>
              <a:rPr lang="en-US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Variant calling (</a:t>
            </a:r>
            <a:r>
              <a:rPr lang="en-US" dirty="0" err="1">
                <a:latin typeface="Abadi" panose="020B0604020104020204" pitchFamily="34" charset="0"/>
              </a:rPr>
              <a:t>gstacks</a:t>
            </a:r>
            <a:r>
              <a:rPr lang="en-US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Analysis file generation (populations)</a:t>
            </a:r>
          </a:p>
        </p:txBody>
      </p:sp>
      <p:pic>
        <p:nvPicPr>
          <p:cNvPr id="5" name="Picture 2" descr="Stacks Pipeline">
            <a:extLst>
              <a:ext uri="{FF2B5EF4-FFF2-40B4-BE49-F238E27FC236}">
                <a16:creationId xmlns:a16="http://schemas.microsoft.com/office/drawing/2014/main" id="{5E91734C-C90D-C53A-EB8B-070AC3DB2A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18" b="22610"/>
          <a:stretch/>
        </p:blipFill>
        <p:spPr bwMode="auto">
          <a:xfrm>
            <a:off x="5336473" y="1580298"/>
            <a:ext cx="6855527" cy="445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04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6B96-8377-04F7-F3EF-481CB94E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E5D3-BE3F-B67D-2B30-C2C2CF33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Accessing the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27C9B-CB4C-4058-AD48-10846B4AC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8922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Varies across operating systems</a:t>
            </a:r>
          </a:p>
          <a:p>
            <a:r>
              <a:rPr lang="en-US" dirty="0">
                <a:latin typeface="Abadi" panose="020B0604020104020204" pitchFamily="34" charset="0"/>
              </a:rPr>
              <a:t>I use Window’s native Ubuntu command line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Windows users, you should have this installed unless you are using a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2FBD36-FBE3-73A6-FCD0-939A5AA65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903" y="1527718"/>
            <a:ext cx="5314468" cy="508495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E0E0CCF-103B-F20D-9E95-002239427D4D}"/>
              </a:ext>
            </a:extLst>
          </p:cNvPr>
          <p:cNvSpPr/>
          <p:nvPr/>
        </p:nvSpPr>
        <p:spPr>
          <a:xfrm>
            <a:off x="6118302" y="5798634"/>
            <a:ext cx="568712" cy="5687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292B73-62BF-9B97-356A-58EF61895BE2}"/>
              </a:ext>
            </a:extLst>
          </p:cNvPr>
          <p:cNvSpPr/>
          <p:nvPr/>
        </p:nvSpPr>
        <p:spPr>
          <a:xfrm>
            <a:off x="10486810" y="3144644"/>
            <a:ext cx="568712" cy="5687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223752-D1D0-A2A8-E5E4-C5EE2B09A7E2}"/>
              </a:ext>
            </a:extLst>
          </p:cNvPr>
          <p:cNvCxnSpPr/>
          <p:nvPr/>
        </p:nvCxnSpPr>
        <p:spPr>
          <a:xfrm flipH="1">
            <a:off x="9679259" y="3429000"/>
            <a:ext cx="6467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35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B90B9-2C34-AABA-DF64-9C3F3A182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D820-3B15-AC12-59A1-64CF22476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Accessing the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BE35E-3332-ECF1-D9D0-C7D1904A6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8922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Varies across operating systems</a:t>
            </a:r>
          </a:p>
          <a:p>
            <a:r>
              <a:rPr lang="en-US" dirty="0">
                <a:latin typeface="Abadi" panose="020B0604020104020204" pitchFamily="34" charset="0"/>
              </a:rPr>
              <a:t>I use Window’s native Ubuntu command line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Windows users, you should have this installed unless you are using a server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60F7AC-E4C0-A47F-CF6F-AEB5EB1C6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083"/>
          <a:stretch>
            <a:fillRect/>
          </a:stretch>
        </p:blipFill>
        <p:spPr>
          <a:xfrm>
            <a:off x="5687122" y="1379563"/>
            <a:ext cx="6345044" cy="542856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BE0C094-F044-4F13-DA3E-BC7EB8734974}"/>
              </a:ext>
            </a:extLst>
          </p:cNvPr>
          <p:cNvSpPr/>
          <p:nvPr/>
        </p:nvSpPr>
        <p:spPr>
          <a:xfrm>
            <a:off x="9363307" y="1095207"/>
            <a:ext cx="568712" cy="5687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6B8C35-9FFB-2EBC-0B36-5F191A96A566}"/>
              </a:ext>
            </a:extLst>
          </p:cNvPr>
          <p:cNvSpPr/>
          <p:nvPr/>
        </p:nvSpPr>
        <p:spPr>
          <a:xfrm>
            <a:off x="11353800" y="3356517"/>
            <a:ext cx="568712" cy="5687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6E41A9-44B3-0A4B-2674-D6C7C3FE72E0}"/>
              </a:ext>
            </a:extLst>
          </p:cNvPr>
          <p:cNvCxnSpPr/>
          <p:nvPr/>
        </p:nvCxnSpPr>
        <p:spPr>
          <a:xfrm flipH="1">
            <a:off x="8999034" y="1663919"/>
            <a:ext cx="364273" cy="2676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6EC75C-F341-A71D-2C85-AD9DCD265F97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10989527" y="3442384"/>
            <a:ext cx="364273" cy="19848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96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F68E9-AB80-0AF5-445D-838AB410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F827-0E88-1426-3C97-AA379D30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Accessing the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2D2DA-11D1-8FA4-14AD-B2E78932F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8922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Varies across operating systems</a:t>
            </a:r>
          </a:p>
          <a:p>
            <a:r>
              <a:rPr lang="en-US" dirty="0">
                <a:latin typeface="Abadi" panose="020B0604020104020204" pitchFamily="34" charset="0"/>
              </a:rPr>
              <a:t>I use Window’s native Ubuntu command line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Windows users, you should have this installed unless you are using a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4EDDF-A649-CB39-09B7-31FC407AB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946" y="1745204"/>
            <a:ext cx="6149873" cy="47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9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2777-C703-6531-3DFC-2C89CFB12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7624-07FA-2248-A500-DBDA9BE8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Accessing the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CCD7B-4E58-25D5-F233-040F8D07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8922" cy="4787048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Varies across operating systems</a:t>
            </a:r>
          </a:p>
          <a:p>
            <a:r>
              <a:rPr lang="en-US" dirty="0">
                <a:latin typeface="Abadi" panose="020B0604020104020204" pitchFamily="34" charset="0"/>
              </a:rPr>
              <a:t>I use Window’s native Ubuntu command line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Windows users, you should have this installed unless you are using a server</a:t>
            </a:r>
          </a:p>
          <a:p>
            <a:pPr lvl="1"/>
            <a:r>
              <a:rPr lang="en-US" dirty="0" err="1">
                <a:latin typeface="Abadi" panose="020B0604020104020204" pitchFamily="34" charset="0"/>
              </a:rPr>
              <a:t>Powershell</a:t>
            </a:r>
            <a:r>
              <a:rPr lang="en-US" dirty="0">
                <a:latin typeface="Abadi" panose="020B0604020104020204" pitchFamily="34" charset="0"/>
              </a:rPr>
              <a:t> has limited capabilities</a:t>
            </a:r>
          </a:p>
          <a:p>
            <a:r>
              <a:rPr lang="en-US" dirty="0">
                <a:latin typeface="Abadi" panose="020B0604020104020204" pitchFamily="34" charset="0"/>
              </a:rPr>
              <a:t>Mac is Unix by default, access with terminal app</a:t>
            </a:r>
          </a:p>
        </p:txBody>
      </p:sp>
      <p:pic>
        <p:nvPicPr>
          <p:cNvPr id="5" name="Picture 4" descr="5 Ways to Open Terminal on Mac - OS X Daily">
            <a:extLst>
              <a:ext uri="{FF2B5EF4-FFF2-40B4-BE49-F238E27FC236}">
                <a16:creationId xmlns:a16="http://schemas.microsoft.com/office/drawing/2014/main" id="{7396D35F-2C14-7E0E-27B0-508C1463B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122" y="1960562"/>
            <a:ext cx="63701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5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C7E0F-B5F7-2F35-5A29-511EA9F0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DB64-D241-AAB9-276F-4797EB06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Command line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cheatsheats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EFEB4-60FD-0250-29E8-729E2DDC7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332"/>
            <a:ext cx="10515600" cy="4351338"/>
          </a:xfrm>
        </p:spPr>
        <p:txBody>
          <a:bodyPr/>
          <a:lstStyle/>
          <a:p>
            <a:r>
              <a:rPr lang="en-US" dirty="0"/>
              <a:t>https://linuxstans.com/bash-cheat-sheet/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8E0C1-EA08-0A53-5FF9-7F73B168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287" y="1981520"/>
            <a:ext cx="6897426" cy="487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C81A-BC4F-558D-7A24-BDFA15C7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36F2-C71D-0652-7490-5DA4EE9C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Navigating your computer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D7713-DF73-1CA4-7980-0033D8E3A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613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accent6"/>
                </a:solidFill>
              </a:rPr>
              <a:t>pwd</a:t>
            </a:r>
            <a:r>
              <a:rPr lang="en-US" dirty="0"/>
              <a:t> stands for </a:t>
            </a:r>
            <a:r>
              <a:rPr lang="en-US" b="1" dirty="0">
                <a:solidFill>
                  <a:schemeClr val="accent6"/>
                </a:solidFill>
              </a:rPr>
              <a:t>p</a:t>
            </a:r>
            <a:r>
              <a:rPr lang="en-US" dirty="0"/>
              <a:t>rint </a:t>
            </a:r>
            <a:r>
              <a:rPr lang="en-US" b="1" dirty="0">
                <a:solidFill>
                  <a:schemeClr val="accent6"/>
                </a:solidFill>
              </a:rPr>
              <a:t>w</a:t>
            </a:r>
            <a:r>
              <a:rPr lang="en-US" dirty="0"/>
              <a:t>orking </a:t>
            </a:r>
            <a:r>
              <a:rPr lang="en-US" b="1" dirty="0">
                <a:solidFill>
                  <a:schemeClr val="accent6"/>
                </a:solidFill>
              </a:rPr>
              <a:t>d</a:t>
            </a:r>
            <a:r>
              <a:rPr lang="en-US" dirty="0"/>
              <a:t>irectory, tells you current location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28150A-C5DA-E88B-47B4-7AE27F09E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06" y="2341756"/>
            <a:ext cx="9693195" cy="1271239"/>
          </a:xfrm>
          <a:prstGeom prst="rect">
            <a:avLst/>
          </a:prstGeom>
        </p:spPr>
      </p:pic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F7ADDA3-D7E4-1FE3-DFEC-ED968795F421}"/>
              </a:ext>
            </a:extLst>
          </p:cNvPr>
          <p:cNvSpPr txBox="1">
            <a:spLocks/>
          </p:cNvSpPr>
          <p:nvPr/>
        </p:nvSpPr>
        <p:spPr>
          <a:xfrm>
            <a:off x="838200" y="3871060"/>
            <a:ext cx="10515600" cy="10323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6"/>
                </a:solidFill>
              </a:rPr>
              <a:t>ls </a:t>
            </a:r>
            <a:r>
              <a:rPr lang="en-US" dirty="0"/>
              <a:t>outputs a </a:t>
            </a:r>
            <a:r>
              <a:rPr lang="en-US" b="1" dirty="0">
                <a:solidFill>
                  <a:schemeClr val="accent6"/>
                </a:solidFill>
              </a:rPr>
              <a:t>l</a:t>
            </a:r>
            <a:r>
              <a:rPr lang="en-US" dirty="0"/>
              <a:t>i</a:t>
            </a:r>
            <a:r>
              <a:rPr lang="en-US" b="1" dirty="0">
                <a:solidFill>
                  <a:schemeClr val="accent6"/>
                </a:solidFill>
              </a:rPr>
              <a:t>s</a:t>
            </a:r>
            <a:r>
              <a:rPr lang="en-US" dirty="0"/>
              <a:t>t of files in a directory, can help you get your bearings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ls -l </a:t>
            </a:r>
            <a:r>
              <a:rPr lang="en-US" dirty="0"/>
              <a:t>or </a:t>
            </a:r>
            <a:r>
              <a:rPr lang="en-US" b="1" dirty="0" err="1">
                <a:solidFill>
                  <a:schemeClr val="accent6"/>
                </a:solidFill>
              </a:rPr>
              <a:t>ll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gives more information</a:t>
            </a:r>
            <a:endParaRPr lang="en-US" b="1" dirty="0">
              <a:solidFill>
                <a:schemeClr val="accent6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3AF2D5-2EB3-F9DA-1CDE-56A8D6B54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5" t="17166" r="15" b="35890"/>
          <a:stretch>
            <a:fillRect/>
          </a:stretch>
        </p:blipFill>
        <p:spPr>
          <a:xfrm>
            <a:off x="1201698" y="4645276"/>
            <a:ext cx="9788604" cy="10323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691A88-78ED-FDA1-9C6E-AD803A16F6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601"/>
          <a:stretch>
            <a:fillRect/>
          </a:stretch>
        </p:blipFill>
        <p:spPr>
          <a:xfrm>
            <a:off x="2855635" y="5769943"/>
            <a:ext cx="6172735" cy="103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94F3-04C2-2711-F68E-47F76E96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1C2A-CFAD-1D76-F66D-BFD91C9A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Navigating your computer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B35E8E-CA6C-3446-C75E-2808DA238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131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cd</a:t>
            </a:r>
            <a:r>
              <a:rPr lang="en-US" dirty="0"/>
              <a:t> lets you </a:t>
            </a:r>
            <a:r>
              <a:rPr lang="en-US" b="1" dirty="0">
                <a:solidFill>
                  <a:schemeClr val="accent6"/>
                </a:solidFill>
              </a:rPr>
              <a:t>c</a:t>
            </a:r>
            <a:r>
              <a:rPr lang="en-US" dirty="0"/>
              <a:t>hange your </a:t>
            </a:r>
            <a:r>
              <a:rPr lang="en-US" b="1" dirty="0">
                <a:solidFill>
                  <a:schemeClr val="accent6"/>
                </a:solidFill>
              </a:rPr>
              <a:t>d</a:t>
            </a:r>
            <a:r>
              <a:rPr lang="en-US" dirty="0"/>
              <a:t>irectory, move to a good place to store this workshop output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6C280-C60C-AF47-C174-A4F19C53F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018"/>
          <a:stretch>
            <a:fillRect/>
          </a:stretch>
        </p:blipFill>
        <p:spPr>
          <a:xfrm>
            <a:off x="720013" y="2765502"/>
            <a:ext cx="10567858" cy="663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603E61-28B8-635D-1137-2B7031BD1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22"/>
          <a:stretch>
            <a:fillRect/>
          </a:stretch>
        </p:blipFill>
        <p:spPr>
          <a:xfrm>
            <a:off x="1062457" y="5174166"/>
            <a:ext cx="10225414" cy="1422835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3CD9F3D-4128-3826-0D58-3F6309A714C9}"/>
              </a:ext>
            </a:extLst>
          </p:cNvPr>
          <p:cNvSpPr txBox="1">
            <a:spLocks/>
          </p:cNvSpPr>
          <p:nvPr/>
        </p:nvSpPr>
        <p:spPr>
          <a:xfrm>
            <a:off x="904129" y="3748328"/>
            <a:ext cx="10515600" cy="11613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6"/>
                </a:solidFill>
              </a:rPr>
              <a:t>M</a:t>
            </a:r>
            <a:r>
              <a:rPr lang="en-US" dirty="0"/>
              <a:t>a</a:t>
            </a:r>
            <a:r>
              <a:rPr lang="en-US" b="1" dirty="0">
                <a:solidFill>
                  <a:schemeClr val="accent6"/>
                </a:solidFill>
              </a:rPr>
              <a:t>k</a:t>
            </a:r>
            <a:r>
              <a:rPr lang="en-US" dirty="0"/>
              <a:t>e a new </a:t>
            </a:r>
            <a:r>
              <a:rPr lang="en-US" b="1" dirty="0">
                <a:solidFill>
                  <a:schemeClr val="accent6"/>
                </a:solidFill>
              </a:rPr>
              <a:t>dir</a:t>
            </a:r>
            <a:r>
              <a:rPr lang="en-US" dirty="0"/>
              <a:t>ectory with </a:t>
            </a:r>
            <a:r>
              <a:rPr lang="en-US" b="1" dirty="0" err="1">
                <a:solidFill>
                  <a:schemeClr val="accent6"/>
                </a:solidFill>
              </a:rPr>
              <a:t>mkdir</a:t>
            </a:r>
            <a:r>
              <a:rPr lang="en-US" dirty="0"/>
              <a:t> to get a working directory for you to put all the resources for this workshop</a:t>
            </a:r>
          </a:p>
          <a:p>
            <a:pPr lvl="1"/>
            <a:r>
              <a:rPr lang="en-US" dirty="0"/>
              <a:t>Then move into that directory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99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745B-B1AD-D5CF-9747-4CDE5950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143C-F1CB-8284-5EA7-CD0F2851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Navigating your computer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D0D935B-08A5-77E4-B02E-8D6F1E364AAB}"/>
              </a:ext>
            </a:extLst>
          </p:cNvPr>
          <p:cNvSpPr txBox="1">
            <a:spLocks/>
          </p:cNvSpPr>
          <p:nvPr/>
        </p:nvSpPr>
        <p:spPr>
          <a:xfrm>
            <a:off x="904129" y="1690688"/>
            <a:ext cx="10515600" cy="11613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Once you make your new directory, we will fill it with sub-directories for your project  (</a:t>
            </a:r>
            <a:r>
              <a:rPr lang="en-US" dirty="0" err="1"/>
              <a:t>bams</a:t>
            </a:r>
            <a:r>
              <a:rPr lang="en-US" dirty="0"/>
              <a:t>, </a:t>
            </a:r>
            <a:r>
              <a:rPr lang="en-US" dirty="0" err="1"/>
              <a:t>stacks_out</a:t>
            </a:r>
            <a:r>
              <a:rPr lang="en-US" dirty="0"/>
              <a:t>, </a:t>
            </a:r>
            <a:r>
              <a:rPr lang="en-US" dirty="0" err="1"/>
              <a:t>populations_out</a:t>
            </a:r>
            <a:r>
              <a:rPr lang="en-US" dirty="0"/>
              <a:t>, output)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B888AC-64DE-6430-ABB3-47CD9262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55" y="2752919"/>
            <a:ext cx="10944287" cy="24143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501C73-D7C2-9A60-2DB1-A6B417F33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7" y="5589543"/>
            <a:ext cx="12054468" cy="90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0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2078-A431-10C2-CCAA-994454E0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0666-BA60-C9D9-0F83-A07F009EA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Installing command line programs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9442A67-39BF-8811-D158-36D708483E82}"/>
              </a:ext>
            </a:extLst>
          </p:cNvPr>
          <p:cNvSpPr txBox="1">
            <a:spLocks/>
          </p:cNvSpPr>
          <p:nvPr/>
        </p:nvSpPr>
        <p:spPr>
          <a:xfrm>
            <a:off x="904129" y="1690688"/>
            <a:ext cx="10515600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will install everything that isn’t an R package with </a:t>
            </a:r>
            <a:r>
              <a:rPr lang="en-US" dirty="0" err="1"/>
              <a:t>conda</a:t>
            </a:r>
            <a:endParaRPr lang="en-US" dirty="0"/>
          </a:p>
          <a:p>
            <a:r>
              <a:rPr lang="en-US" dirty="0"/>
              <a:t>Conda is an environment manager, meaning you can install programs and all their dependencies at once (if everything works well)</a:t>
            </a:r>
          </a:p>
          <a:p>
            <a:r>
              <a:rPr lang="en-US" dirty="0" err="1"/>
              <a:t>Miniconda</a:t>
            </a:r>
            <a:r>
              <a:rPr lang="en-US" dirty="0"/>
              <a:t> is the simplest version of that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9B5DD-A93B-683E-8AD8-F2DDB89EC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646" y="122237"/>
            <a:ext cx="28575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CF77-4B53-6BB5-04AA-17D1EDFE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988C4-3585-9E81-0DF6-7CCA199C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Installing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miniconda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02A49C9-8F37-A1AD-FD0C-688EF982B662}"/>
              </a:ext>
            </a:extLst>
          </p:cNvPr>
          <p:cNvSpPr txBox="1">
            <a:spLocks/>
          </p:cNvSpPr>
          <p:nvPr/>
        </p:nvSpPr>
        <p:spPr>
          <a:xfrm>
            <a:off x="904129" y="1690688"/>
            <a:ext cx="10515600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Detailed at </a:t>
            </a:r>
            <a:r>
              <a:rPr lang="en-US" dirty="0">
                <a:hlinkClick r:id="rId2"/>
              </a:rPr>
              <a:t>https://www.anaconda.com/docs/getting-started/miniconda/install/linux-install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curl -O </a:t>
            </a:r>
            <a:r>
              <a:rPr lang="en-US" dirty="0">
                <a:hlinkClick r:id="rId3"/>
              </a:rPr>
              <a:t>https://repo.anaconda.com/miniconda/Miniconda3-latest-Linux-x86_64.sh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bash ~/Miniconda3-latest-Linux-x86_64.sh</a:t>
            </a:r>
          </a:p>
          <a:p>
            <a:pPr lvl="2"/>
            <a:r>
              <a:rPr lang="en-US" dirty="0"/>
              <a:t>Choose yes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Close and re-open Ubuntu terminal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919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D25EF-1F36-3D56-1938-313F592E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1634-F1C4-5DFB-7195-550C5DA5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Installing command line programs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215EE0B-0AAC-3BF4-2A22-5FC6BB6BAA23}"/>
              </a:ext>
            </a:extLst>
          </p:cNvPr>
          <p:cNvSpPr txBox="1">
            <a:spLocks/>
          </p:cNvSpPr>
          <p:nvPr/>
        </p:nvSpPr>
        <p:spPr>
          <a:xfrm>
            <a:off x="904129" y="1690688"/>
            <a:ext cx="10515600" cy="51673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install a whole suite of bioinformatic software with one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b="1" dirty="0" err="1"/>
              <a:t>conda</a:t>
            </a:r>
            <a:r>
              <a:rPr lang="en-US" sz="3600" b="1" dirty="0"/>
              <a:t> create -n rad-workshop-env -c </a:t>
            </a:r>
            <a:r>
              <a:rPr lang="en-US" sz="3600" b="1" dirty="0" err="1"/>
              <a:t>bioconda</a:t>
            </a:r>
            <a:r>
              <a:rPr lang="en-US" sz="3600" b="1" dirty="0"/>
              <a:t> -c </a:t>
            </a:r>
            <a:r>
              <a:rPr lang="en-US" sz="3600" b="1" dirty="0" err="1"/>
              <a:t>conda</a:t>
            </a:r>
            <a:r>
              <a:rPr lang="en-US" sz="3600" b="1" dirty="0"/>
              <a:t>-forge bwa stacks </a:t>
            </a:r>
            <a:r>
              <a:rPr lang="en-US" sz="3600" b="1" dirty="0" err="1"/>
              <a:t>vcftools</a:t>
            </a:r>
            <a:r>
              <a:rPr lang="en-US" sz="3600" b="1" dirty="0"/>
              <a:t> </a:t>
            </a:r>
            <a:r>
              <a:rPr lang="en-US" sz="3600" b="1" dirty="0" err="1"/>
              <a:t>samtools</a:t>
            </a:r>
            <a:endParaRPr lang="en-US" sz="3600" b="1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Wait for it to load, approve the install, and you’re set!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Activate your environment with </a:t>
            </a:r>
            <a:r>
              <a:rPr lang="en-US" sz="3200" dirty="0" err="1"/>
              <a:t>conda</a:t>
            </a:r>
            <a:r>
              <a:rPr lang="en-US" sz="3200" dirty="0"/>
              <a:t> activate rad-workshop-env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6458D-C4C9-6278-A1A3-BAE6652A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646" y="122237"/>
            <a:ext cx="28575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47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2617-1B19-C2C0-96FD-E243532D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073C-B5ED-377F-62C3-F2F33237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353801" cy="1325563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Getting reads, reference, and sample information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06415-8AC9-E483-523A-87F70A85C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10" y="2096343"/>
            <a:ext cx="5477753" cy="17589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CDA022-CAE6-2711-4876-EE68C875229D}"/>
              </a:ext>
            </a:extLst>
          </p:cNvPr>
          <p:cNvSpPr/>
          <p:nvPr/>
        </p:nvSpPr>
        <p:spPr>
          <a:xfrm>
            <a:off x="3445727" y="3007676"/>
            <a:ext cx="2274849" cy="6690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E500F3-C915-70E1-8951-CCBB6A57B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00" y="3997923"/>
            <a:ext cx="5701572" cy="226012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D65C4D-0454-864A-6EC1-A333BA30C88F}"/>
              </a:ext>
            </a:extLst>
          </p:cNvPr>
          <p:cNvSpPr/>
          <p:nvPr/>
        </p:nvSpPr>
        <p:spPr>
          <a:xfrm>
            <a:off x="1810848" y="6066769"/>
            <a:ext cx="4070195" cy="2002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55943B-7E0F-22C4-4581-439BA660D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043" y="2087408"/>
            <a:ext cx="6069276" cy="160270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4751F5-BE85-F89A-AFCB-4B81A8C22607}"/>
              </a:ext>
            </a:extLst>
          </p:cNvPr>
          <p:cNvSpPr/>
          <p:nvPr/>
        </p:nvSpPr>
        <p:spPr>
          <a:xfrm>
            <a:off x="7612566" y="3021045"/>
            <a:ext cx="4353982" cy="4915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B3E9F9-A4FB-5F0B-73C8-31BD5553FEC6}"/>
              </a:ext>
            </a:extLst>
          </p:cNvPr>
          <p:cNvSpPr txBox="1"/>
          <p:nvPr/>
        </p:nvSpPr>
        <p:spPr>
          <a:xfrm>
            <a:off x="10192215" y="2598234"/>
            <a:ext cx="988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COPY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9E49BD2-F4AE-F479-28F2-FB3236FA0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1929" y="3974057"/>
            <a:ext cx="5854494" cy="22669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78BF0BC-8DED-1FB0-880F-71744B7B4623}"/>
              </a:ext>
            </a:extLst>
          </p:cNvPr>
          <p:cNvSpPr txBox="1"/>
          <p:nvPr/>
        </p:nvSpPr>
        <p:spPr>
          <a:xfrm>
            <a:off x="7850573" y="3757029"/>
            <a:ext cx="3784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Paste in working directory</a:t>
            </a:r>
          </a:p>
        </p:txBody>
      </p:sp>
    </p:spTree>
    <p:extLst>
      <p:ext uri="{BB962C8B-B14F-4D97-AF65-F5344CB8AC3E}">
        <p14:creationId xmlns:p14="http://schemas.microsoft.com/office/powerpoint/2010/main" val="1000897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DEF6-00A2-BAEB-C29A-50C48B246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6BC0-40FB-11A7-357E-F65BDC411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While we download reads – </a:t>
            </a: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Hello World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CE0B0BB-E920-ED47-837C-2FC4D765AF95}"/>
              </a:ext>
            </a:extLst>
          </p:cNvPr>
          <p:cNvSpPr txBox="1">
            <a:spLocks/>
          </p:cNvSpPr>
          <p:nvPr/>
        </p:nvSpPr>
        <p:spPr>
          <a:xfrm>
            <a:off x="904129" y="1690688"/>
            <a:ext cx="10515600" cy="30485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Make a new script with </a:t>
            </a:r>
            <a:r>
              <a:rPr lang="en-US" b="1" dirty="0">
                <a:solidFill>
                  <a:schemeClr val="accent6"/>
                </a:solidFill>
              </a:rPr>
              <a:t>touch hello_world.sh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Edit that file with </a:t>
            </a:r>
            <a:r>
              <a:rPr lang="en-US" b="1" dirty="0">
                <a:solidFill>
                  <a:schemeClr val="accent6"/>
                </a:solidFill>
              </a:rPr>
              <a:t>nano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a header that tells your computer how to run it</a:t>
            </a:r>
          </a:p>
          <a:p>
            <a:pPr lvl="1"/>
            <a:r>
              <a:rPr lang="en-US" dirty="0"/>
              <a:t>#!/bin/bash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a line that prints out a phrase</a:t>
            </a:r>
          </a:p>
          <a:p>
            <a:pPr lvl="1"/>
            <a:r>
              <a:rPr lang="en-US" dirty="0"/>
              <a:t>echo Hello world!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Save (write </a:t>
            </a:r>
            <a:r>
              <a:rPr lang="en-US" b="1" dirty="0">
                <a:solidFill>
                  <a:schemeClr val="accent6"/>
                </a:solidFill>
              </a:rPr>
              <a:t>o</a:t>
            </a:r>
            <a:r>
              <a:rPr lang="en-US" dirty="0"/>
              <a:t>ut) with </a:t>
            </a:r>
            <a:r>
              <a:rPr lang="en-US" dirty="0" err="1"/>
              <a:t>Control+O</a:t>
            </a:r>
            <a:r>
              <a:rPr lang="en-US" dirty="0"/>
              <a:t> then hit enter, e</a:t>
            </a:r>
            <a:r>
              <a:rPr lang="en-US" b="1" dirty="0">
                <a:solidFill>
                  <a:schemeClr val="accent6"/>
                </a:solidFill>
              </a:rPr>
              <a:t>x</a:t>
            </a:r>
            <a:r>
              <a:rPr lang="en-US" dirty="0"/>
              <a:t>it with </a:t>
            </a:r>
            <a:r>
              <a:rPr lang="en-US" dirty="0" err="1"/>
              <a:t>Control+X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with </a:t>
            </a:r>
            <a:r>
              <a:rPr lang="en-US" b="1" dirty="0" err="1">
                <a:solidFill>
                  <a:schemeClr val="accent6"/>
                </a:solidFill>
              </a:rPr>
              <a:t>sh</a:t>
            </a:r>
            <a:r>
              <a:rPr lang="en-US" b="1" dirty="0">
                <a:solidFill>
                  <a:schemeClr val="accent6"/>
                </a:solidFill>
              </a:rPr>
              <a:t> hello_world.sh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CD347-F24B-8B9B-7E8F-2D77AD7A4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8" y="4739268"/>
            <a:ext cx="5395428" cy="2004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185468-3DCA-1DA3-CC86-6C3568FDEA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668"/>
          <a:stretch>
            <a:fillRect/>
          </a:stretch>
        </p:blipFill>
        <p:spPr>
          <a:xfrm>
            <a:off x="5827391" y="5167312"/>
            <a:ext cx="6144421" cy="112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21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691C-851C-7B28-9E7B-1468EED2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Nano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5BF1F-85A3-4671-9B8A-464178297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234" y="1907510"/>
            <a:ext cx="9766570" cy="441070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F124956-1DFC-C640-1E86-B589D0185728}"/>
              </a:ext>
            </a:extLst>
          </p:cNvPr>
          <p:cNvSpPr/>
          <p:nvPr/>
        </p:nvSpPr>
        <p:spPr>
          <a:xfrm>
            <a:off x="2541326" y="2199656"/>
            <a:ext cx="286715" cy="2607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DA99BC-02D1-6C2A-7AEC-E3A72F021096}"/>
              </a:ext>
            </a:extLst>
          </p:cNvPr>
          <p:cNvSpPr/>
          <p:nvPr/>
        </p:nvSpPr>
        <p:spPr>
          <a:xfrm>
            <a:off x="2300942" y="5924815"/>
            <a:ext cx="1054197" cy="3934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C6739A-E084-5DFB-8439-D7C8D4E52A77}"/>
              </a:ext>
            </a:extLst>
          </p:cNvPr>
          <p:cNvSpPr/>
          <p:nvPr/>
        </p:nvSpPr>
        <p:spPr>
          <a:xfrm>
            <a:off x="1219027" y="6004218"/>
            <a:ext cx="770030" cy="3934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2C31F7-6DA0-7A03-74F4-3E08006931B1}"/>
              </a:ext>
            </a:extLst>
          </p:cNvPr>
          <p:cNvCxnSpPr>
            <a:stCxn id="5" idx="5"/>
          </p:cNvCxnSpPr>
          <p:nvPr/>
        </p:nvCxnSpPr>
        <p:spPr>
          <a:xfrm>
            <a:off x="2786053" y="2422212"/>
            <a:ext cx="569086" cy="2738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8694FE-5B35-FBE5-AAD5-0441A872C1E6}"/>
              </a:ext>
            </a:extLst>
          </p:cNvPr>
          <p:cNvCxnSpPr>
            <a:cxnSpLocks/>
          </p:cNvCxnSpPr>
          <p:nvPr/>
        </p:nvCxnSpPr>
        <p:spPr>
          <a:xfrm flipV="1">
            <a:off x="1729117" y="5053477"/>
            <a:ext cx="155943" cy="9507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1340F-10DF-E97B-512D-55E8C191E4C1}"/>
              </a:ext>
            </a:extLst>
          </p:cNvPr>
          <p:cNvCxnSpPr>
            <a:cxnSpLocks/>
          </p:cNvCxnSpPr>
          <p:nvPr/>
        </p:nvCxnSpPr>
        <p:spPr>
          <a:xfrm flipV="1">
            <a:off x="3005611" y="5630069"/>
            <a:ext cx="661413" cy="3225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130B65-B352-7A13-DFA5-2878CCDF4C7A}"/>
              </a:ext>
            </a:extLst>
          </p:cNvPr>
          <p:cNvSpPr txBox="1"/>
          <p:nvPr/>
        </p:nvSpPr>
        <p:spPr>
          <a:xfrm>
            <a:off x="3355139" y="2681141"/>
            <a:ext cx="4788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Marker of where you are typing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9936B0-EB10-6AB3-726C-E608718F814A}"/>
              </a:ext>
            </a:extLst>
          </p:cNvPr>
          <p:cNvSpPr txBox="1"/>
          <p:nvPr/>
        </p:nvSpPr>
        <p:spPr>
          <a:xfrm>
            <a:off x="3761231" y="5267237"/>
            <a:ext cx="5291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Ctrl+O</a:t>
            </a:r>
            <a:r>
              <a:rPr lang="en-US" sz="2800" dirty="0">
                <a:solidFill>
                  <a:schemeClr val="bg1"/>
                </a:solidFill>
              </a:rPr>
              <a:t> to write </a:t>
            </a:r>
            <a:r>
              <a:rPr lang="en-US" sz="2800" b="1" dirty="0">
                <a:solidFill>
                  <a:srgbClr val="FF0000"/>
                </a:solidFill>
              </a:rPr>
              <a:t>o</a:t>
            </a:r>
            <a:r>
              <a:rPr lang="en-US" sz="2800" dirty="0">
                <a:solidFill>
                  <a:schemeClr val="bg1"/>
                </a:solidFill>
              </a:rPr>
              <a:t>ut, or save the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3EC97D-1AEC-2FBA-747D-07B84BA8134A}"/>
              </a:ext>
            </a:extLst>
          </p:cNvPr>
          <p:cNvSpPr txBox="1"/>
          <p:nvPr/>
        </p:nvSpPr>
        <p:spPr>
          <a:xfrm>
            <a:off x="1885060" y="4167667"/>
            <a:ext cx="65519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Ctrl+X</a:t>
            </a:r>
            <a:r>
              <a:rPr lang="en-US" sz="2800" dirty="0">
                <a:solidFill>
                  <a:schemeClr val="bg1"/>
                </a:solidFill>
              </a:rPr>
              <a:t> to e</a:t>
            </a:r>
            <a:r>
              <a:rPr lang="en-US" sz="2800" b="1" dirty="0">
                <a:solidFill>
                  <a:srgbClr val="FF0000"/>
                </a:solidFill>
              </a:rPr>
              <a:t>x</a:t>
            </a:r>
            <a:r>
              <a:rPr lang="en-US" sz="2800" dirty="0">
                <a:solidFill>
                  <a:schemeClr val="bg1"/>
                </a:solidFill>
              </a:rPr>
              <a:t>it the program, may prompt you to save, read the prompt and don’t rush!</a:t>
            </a:r>
          </a:p>
        </p:txBody>
      </p:sp>
    </p:spTree>
    <p:extLst>
      <p:ext uri="{BB962C8B-B14F-4D97-AF65-F5344CB8AC3E}">
        <p14:creationId xmlns:p14="http://schemas.microsoft.com/office/powerpoint/2010/main" val="2905651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E353-D983-4C34-674E-3AC63D88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A72D-E35E-B21C-BBDF-14ADF7E1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Bash scripts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76CDE9C-8A16-DFED-D430-765C0B27F86E}"/>
              </a:ext>
            </a:extLst>
          </p:cNvPr>
          <p:cNvSpPr txBox="1">
            <a:spLocks/>
          </p:cNvSpPr>
          <p:nvPr/>
        </p:nvSpPr>
        <p:spPr>
          <a:xfrm>
            <a:off x="904129" y="1690688"/>
            <a:ext cx="10515600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just made a bash script! It runs a bunch of commands in order, and is a convenient way to save your work</a:t>
            </a:r>
          </a:p>
          <a:p>
            <a:r>
              <a:rPr lang="en-US" dirty="0"/>
              <a:t>This is the programming language “</a:t>
            </a:r>
            <a:r>
              <a:rPr lang="en-US" b="1" dirty="0">
                <a:solidFill>
                  <a:schemeClr val="accent6"/>
                </a:solidFill>
              </a:rPr>
              <a:t>bash</a:t>
            </a:r>
            <a:r>
              <a:rPr lang="en-US" dirty="0"/>
              <a:t>”, with stands for </a:t>
            </a:r>
            <a:r>
              <a:rPr lang="en-US" b="1" dirty="0">
                <a:solidFill>
                  <a:schemeClr val="accent6"/>
                </a:solidFill>
              </a:rPr>
              <a:t>B</a:t>
            </a:r>
            <a:r>
              <a:rPr lang="en-US" dirty="0"/>
              <a:t>ourne 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dirty="0"/>
              <a:t>gain </a:t>
            </a:r>
            <a:r>
              <a:rPr lang="en-US" b="1" dirty="0">
                <a:solidFill>
                  <a:schemeClr val="accent6"/>
                </a:solidFill>
              </a:rPr>
              <a:t>Sh</a:t>
            </a:r>
            <a:r>
              <a:rPr lang="en-US" dirty="0"/>
              <a:t>ell, which is the same language you used to move around</a:t>
            </a:r>
          </a:p>
          <a:p>
            <a:r>
              <a:rPr lang="en-US" dirty="0"/>
              <a:t>You can write it in any plain text editor, nano is just an easy one</a:t>
            </a:r>
          </a:p>
          <a:p>
            <a:r>
              <a:rPr lang="en-US" dirty="0"/>
              <a:t>You will see bash scripts in the </a:t>
            </a:r>
            <a:r>
              <a:rPr lang="en-US" dirty="0" err="1"/>
              <a:t>github</a:t>
            </a:r>
            <a:r>
              <a:rPr lang="en-US" dirty="0"/>
              <a:t> for each section that run relevant commands</a:t>
            </a:r>
          </a:p>
        </p:txBody>
      </p:sp>
    </p:spTree>
    <p:extLst>
      <p:ext uri="{BB962C8B-B14F-4D97-AF65-F5344CB8AC3E}">
        <p14:creationId xmlns:p14="http://schemas.microsoft.com/office/powerpoint/2010/main" val="84881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DA286-4162-FA7A-8373-0777168C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F39D-A1F3-3C6F-0BEC-3C323EAC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Look at your sample map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B11E93A-0461-4EE6-71F6-A838FF334076}"/>
              </a:ext>
            </a:extLst>
          </p:cNvPr>
          <p:cNvSpPr txBox="1">
            <a:spLocks/>
          </p:cNvSpPr>
          <p:nvPr/>
        </p:nvSpPr>
        <p:spPr>
          <a:xfrm>
            <a:off x="904128" y="1690688"/>
            <a:ext cx="4902034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open in a spreadsheet program or command line (try </a:t>
            </a:r>
            <a:r>
              <a:rPr lang="en-US" b="1" dirty="0">
                <a:solidFill>
                  <a:schemeClr val="accent6"/>
                </a:solidFill>
              </a:rPr>
              <a:t>less</a:t>
            </a:r>
            <a:r>
              <a:rPr lang="en-US" dirty="0"/>
              <a:t>)</a:t>
            </a:r>
          </a:p>
          <a:p>
            <a:r>
              <a:rPr lang="en-US" dirty="0"/>
              <a:t>You can see columns for several levels of organization</a:t>
            </a:r>
          </a:p>
          <a:p>
            <a:r>
              <a:rPr lang="en-US" dirty="0"/>
              <a:t>All sets have a single designated outgroup for phylogenetics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This is a plain text file you can process using Unix 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FD1EA-3BD2-D0D0-C4D4-D372A7420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840" y="1375898"/>
            <a:ext cx="5345058" cy="303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131A2E-9C8F-0C0A-79C2-50929CE5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393" y="4552005"/>
            <a:ext cx="4769119" cy="218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6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5D8E-B753-8ACE-FD30-C6474D79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F4A8-90BD-0C4D-F742-4E1A5AF0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a sample list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B698F5F-0EF1-2FC1-02B3-976ADA3481BC}"/>
              </a:ext>
            </a:extLst>
          </p:cNvPr>
          <p:cNvSpPr txBox="1">
            <a:spLocks/>
          </p:cNvSpPr>
          <p:nvPr/>
        </p:nvSpPr>
        <p:spPr>
          <a:xfrm>
            <a:off x="904127" y="1690688"/>
            <a:ext cx="11395667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need a list of samples for our programs to process</a:t>
            </a:r>
          </a:p>
          <a:p>
            <a:r>
              <a:rPr lang="en-US" dirty="0"/>
              <a:t>We will first subset the file to the sample name column with </a:t>
            </a:r>
            <a:r>
              <a:rPr lang="en-US" b="1" dirty="0">
                <a:solidFill>
                  <a:schemeClr val="accent6"/>
                </a:solidFill>
              </a:rPr>
              <a:t>cut</a:t>
            </a:r>
            <a:r>
              <a:rPr lang="en-US" dirty="0"/>
              <a:t> then exclude the first row with</a:t>
            </a:r>
            <a:r>
              <a:rPr lang="en-US" b="1" dirty="0">
                <a:solidFill>
                  <a:schemeClr val="accent6"/>
                </a:solidFill>
              </a:rPr>
              <a:t> tail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cut</a:t>
            </a:r>
            <a:r>
              <a:rPr lang="en-US" dirty="0"/>
              <a:t> samples columns from a file based on a delimiter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tail</a:t>
            </a:r>
            <a:r>
              <a:rPr lang="en-US" dirty="0"/>
              <a:t> samples rows from a file</a:t>
            </a:r>
          </a:p>
          <a:p>
            <a:r>
              <a:rPr lang="en-US" dirty="0"/>
              <a:t>We will use the pipe symbol </a:t>
            </a:r>
            <a:r>
              <a:rPr lang="en-US" b="1" dirty="0">
                <a:solidFill>
                  <a:schemeClr val="accent6"/>
                </a:solidFill>
              </a:rPr>
              <a:t>|</a:t>
            </a:r>
            <a:r>
              <a:rPr lang="en-US" dirty="0"/>
              <a:t> and output symbol </a:t>
            </a:r>
            <a:r>
              <a:rPr lang="en-US" b="1" dirty="0">
                <a:solidFill>
                  <a:schemeClr val="accent6"/>
                </a:solidFill>
              </a:rPr>
              <a:t>&gt;</a:t>
            </a:r>
            <a:r>
              <a:rPr lang="en-US" dirty="0"/>
              <a:t> for the first time</a:t>
            </a:r>
          </a:p>
          <a:p>
            <a:pPr lvl="1"/>
            <a:r>
              <a:rPr lang="en-US" dirty="0"/>
              <a:t>The pipe connect commands together smoothly</a:t>
            </a:r>
          </a:p>
          <a:p>
            <a:pPr lvl="1"/>
            <a:r>
              <a:rPr lang="en-US" dirty="0"/>
              <a:t>The output writes a new plain text file</a:t>
            </a:r>
          </a:p>
          <a:p>
            <a:r>
              <a:rPr lang="en-US" dirty="0"/>
              <a:t>Try each part individually</a:t>
            </a:r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28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61F56-0A52-FB87-62E2-4485DCCD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6A78-4FBD-B0E8-1EC5-35D2E414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a sample list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55EDD0D-C87A-0670-DB29-65790788CA7E}"/>
              </a:ext>
            </a:extLst>
          </p:cNvPr>
          <p:cNvSpPr txBox="1">
            <a:spLocks/>
          </p:cNvSpPr>
          <p:nvPr/>
        </p:nvSpPr>
        <p:spPr>
          <a:xfrm>
            <a:off x="904127" y="1690688"/>
            <a:ext cx="11395667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cut -f 1 -d ',' sample_table_NAME.csv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83691F-65EC-F609-B971-EF329D69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930" y="102857"/>
            <a:ext cx="4089867" cy="317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73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32DA-5062-0F67-0BE5-BB240926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8F99-C36B-F582-12A7-516F6033C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a sample list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13D2835-ECED-B8FA-A0BC-BCBA07D9A2E9}"/>
              </a:ext>
            </a:extLst>
          </p:cNvPr>
          <p:cNvSpPr txBox="1">
            <a:spLocks/>
          </p:cNvSpPr>
          <p:nvPr/>
        </p:nvSpPr>
        <p:spPr>
          <a:xfrm>
            <a:off x="904127" y="1690688"/>
            <a:ext cx="11395667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cut -f 1 -d ',' sample_table_NAME.csv |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tail -n+2</a:t>
            </a:r>
          </a:p>
          <a:p>
            <a:pPr marL="457200" lvl="1" indent="0"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C24B1-5975-EE1B-FF26-BFD9786FC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930" y="102857"/>
            <a:ext cx="4089867" cy="3175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8A78C2-0576-E388-F668-D95C38D03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234" y="3410823"/>
            <a:ext cx="4656563" cy="272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25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279C-545E-4224-D5D5-34810B6B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77E9-635D-6D00-886A-57040740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a sample list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6695A40-CB1C-4844-D661-E2A9D87700A3}"/>
              </a:ext>
            </a:extLst>
          </p:cNvPr>
          <p:cNvSpPr txBox="1">
            <a:spLocks/>
          </p:cNvSpPr>
          <p:nvPr/>
        </p:nvSpPr>
        <p:spPr>
          <a:xfrm>
            <a:off x="904127" y="1690688"/>
            <a:ext cx="11395667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cut -f 1 -d ',' sample_table_NAME.csv |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tail -n+2 &gt;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chemeClr val="accent6"/>
                </a:solidFill>
              </a:rPr>
              <a:t>sample_list_NAME</a:t>
            </a:r>
            <a:endParaRPr lang="en-US" b="1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B9DF4-474D-9207-AA73-49D236E34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930" y="102857"/>
            <a:ext cx="4089867" cy="3175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D04170-53A3-08B9-8454-CF1C860E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234" y="3410823"/>
            <a:ext cx="4656563" cy="2726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0E1D0E-9399-F3D6-1C07-86DAFAA20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144" y="6207821"/>
            <a:ext cx="8728255" cy="45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54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6EA5C-AF00-C023-C723-A4793931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CEAB-9707-767E-8639-8F6FF66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a sample list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65185BE-A0A5-56E4-C20C-7086F5F62233}"/>
              </a:ext>
            </a:extLst>
          </p:cNvPr>
          <p:cNvSpPr txBox="1">
            <a:spLocks/>
          </p:cNvSpPr>
          <p:nvPr/>
        </p:nvSpPr>
        <p:spPr>
          <a:xfrm>
            <a:off x="904127" y="1690688"/>
            <a:ext cx="11395667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cut -f 1 -d ',' sample_table_NAME.csv |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tail -n+2 &gt;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chemeClr val="accent6"/>
                </a:solidFill>
              </a:rPr>
              <a:t>sample_list_NAME</a:t>
            </a:r>
            <a:endParaRPr lang="en-US" b="1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en-US" b="1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less </a:t>
            </a:r>
            <a:r>
              <a:rPr lang="en-US" b="1" dirty="0" err="1">
                <a:solidFill>
                  <a:schemeClr val="accent6"/>
                </a:solidFill>
              </a:rPr>
              <a:t>sample_list_NAME</a:t>
            </a:r>
            <a:endParaRPr lang="en-US" b="1" dirty="0">
              <a:solidFill>
                <a:schemeClr val="accent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9D9022-E9D9-0B61-DB82-8A9BC4B1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930" y="102857"/>
            <a:ext cx="4089867" cy="3175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E7FEC3-40B8-F30B-B413-A5E4CA95F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234" y="3410823"/>
            <a:ext cx="4656563" cy="2726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401464-403B-D765-A243-60452FBBA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144" y="6207821"/>
            <a:ext cx="8728255" cy="452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8939D3-0A13-4061-0161-F8D452BA8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8773" y="3652694"/>
            <a:ext cx="2956816" cy="24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69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3A00-7EC1-0FB3-63ED-3280C300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6297-2F12-D3F1-6420-478B1A3D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a population map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7A4ACB8-5289-04F4-A8E7-709D44AF7461}"/>
              </a:ext>
            </a:extLst>
          </p:cNvPr>
          <p:cNvSpPr txBox="1">
            <a:spLocks/>
          </p:cNvSpPr>
          <p:nvPr/>
        </p:nvSpPr>
        <p:spPr>
          <a:xfrm>
            <a:off x="635621" y="1690688"/>
            <a:ext cx="11664174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Stacks doesn’t take a sample list on its own, it needs to know how those samples are divided into population</a:t>
            </a:r>
          </a:p>
          <a:p>
            <a:r>
              <a:rPr lang="en-US" dirty="0"/>
              <a:t>We will combine two columns from our sample table </a:t>
            </a:r>
          </a:p>
          <a:p>
            <a:r>
              <a:rPr lang="en-US" dirty="0"/>
              <a:t>We need to convert commas to tabs using the </a:t>
            </a:r>
            <a:r>
              <a:rPr lang="en-US" b="1" dirty="0">
                <a:solidFill>
                  <a:schemeClr val="accent6"/>
                </a:solidFill>
              </a:rPr>
              <a:t>tr</a:t>
            </a:r>
            <a:r>
              <a:rPr lang="en-US" dirty="0"/>
              <a:t>anslate command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cut -f 1,4 -d ',' sample_table_NAME.csv | tail -n+2 | tr , \\t &gt; </a:t>
            </a:r>
            <a:r>
              <a:rPr lang="en-US" b="1" dirty="0" err="1">
                <a:solidFill>
                  <a:schemeClr val="accent6"/>
                </a:solidFill>
              </a:rPr>
              <a:t>popmap_full</a:t>
            </a:r>
            <a:endParaRPr lang="en-US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57627-04A1-B65E-7088-32584928B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168" y="4366044"/>
            <a:ext cx="6904318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5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BE507-41C9-D1A7-2BA3-9824ABB69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3276-42CD-574F-24AC-EC17F739A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a population map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9CD67B4-CC96-0241-8233-C298A8FE8A62}"/>
              </a:ext>
            </a:extLst>
          </p:cNvPr>
          <p:cNvSpPr txBox="1">
            <a:spLocks/>
          </p:cNvSpPr>
          <p:nvPr/>
        </p:nvSpPr>
        <p:spPr>
          <a:xfrm>
            <a:off x="904127" y="1690688"/>
            <a:ext cx="11395667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will make a second map with only the ingroup for some analyses with </a:t>
            </a:r>
            <a:r>
              <a:rPr lang="en-US" b="1" dirty="0">
                <a:solidFill>
                  <a:schemeClr val="accent6"/>
                </a:solidFill>
              </a:rPr>
              <a:t>grep</a:t>
            </a:r>
            <a:r>
              <a:rPr lang="en-US" dirty="0"/>
              <a:t> (</a:t>
            </a:r>
            <a:r>
              <a:rPr lang="en-US" b="1" dirty="0">
                <a:solidFill>
                  <a:schemeClr val="accent6"/>
                </a:solidFill>
              </a:rPr>
              <a:t>g</a:t>
            </a:r>
            <a:r>
              <a:rPr lang="en-US" dirty="0"/>
              <a:t>lobal </a:t>
            </a:r>
            <a:r>
              <a:rPr lang="en-US" b="1" dirty="0">
                <a:solidFill>
                  <a:schemeClr val="accent6"/>
                </a:solidFill>
              </a:rPr>
              <a:t>r</a:t>
            </a:r>
            <a:r>
              <a:rPr lang="en-US" dirty="0"/>
              <a:t>egular </a:t>
            </a:r>
            <a:r>
              <a:rPr lang="en-US" b="1" dirty="0">
                <a:solidFill>
                  <a:schemeClr val="accent6"/>
                </a:solidFill>
              </a:rPr>
              <a:t>e</a:t>
            </a:r>
            <a:r>
              <a:rPr lang="en-US" dirty="0"/>
              <a:t>xpression </a:t>
            </a:r>
            <a:r>
              <a:rPr lang="en-US" b="1" dirty="0">
                <a:solidFill>
                  <a:schemeClr val="accent6"/>
                </a:solidFill>
              </a:rPr>
              <a:t>p</a:t>
            </a:r>
            <a:r>
              <a:rPr lang="en-US" dirty="0"/>
              <a:t>rint)</a:t>
            </a:r>
          </a:p>
          <a:p>
            <a:r>
              <a:rPr lang="en-US" b="1" dirty="0">
                <a:solidFill>
                  <a:schemeClr val="accent6"/>
                </a:solidFill>
              </a:rPr>
              <a:t>grep</a:t>
            </a:r>
            <a:r>
              <a:rPr lang="en-US" dirty="0"/>
              <a:t> tries to match every line in a file with a prompt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grep Outgroup </a:t>
            </a:r>
            <a:r>
              <a:rPr lang="en-US" b="1" dirty="0" err="1">
                <a:solidFill>
                  <a:schemeClr val="accent6"/>
                </a:solidFill>
              </a:rPr>
              <a:t>popmap_full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-v</a:t>
            </a:r>
            <a:r>
              <a:rPr lang="en-US" dirty="0"/>
              <a:t> option EXCLUDES anything matching a prompt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grep –v Outgroup </a:t>
            </a:r>
            <a:r>
              <a:rPr lang="en-US" b="1" dirty="0" err="1">
                <a:solidFill>
                  <a:schemeClr val="accent6"/>
                </a:solidFill>
              </a:rPr>
              <a:t>popmap_full</a:t>
            </a:r>
            <a:endParaRPr lang="en-US" b="1" dirty="0">
              <a:solidFill>
                <a:schemeClr val="accent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4F044-4367-7E24-8170-FC950D3C1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231" y="3016251"/>
            <a:ext cx="3747216" cy="518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811FEA-7A5B-7C2D-2C9A-F1888906A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48496"/>
            <a:ext cx="4208059" cy="261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0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0E0B0-E309-F6B7-A72F-14C0962F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1E13-03A4-0356-D7C7-99C260B7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a population map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31C42E4-18F3-A535-7C11-A84D78811680}"/>
              </a:ext>
            </a:extLst>
          </p:cNvPr>
          <p:cNvSpPr txBox="1">
            <a:spLocks/>
          </p:cNvSpPr>
          <p:nvPr/>
        </p:nvSpPr>
        <p:spPr>
          <a:xfrm>
            <a:off x="904127" y="1690688"/>
            <a:ext cx="11395667" cy="51673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will make a second map with only the ingroup for some analyses with </a:t>
            </a:r>
            <a:r>
              <a:rPr lang="en-US" b="1" dirty="0">
                <a:solidFill>
                  <a:schemeClr val="accent6"/>
                </a:solidFill>
              </a:rPr>
              <a:t>grep</a:t>
            </a:r>
            <a:r>
              <a:rPr lang="en-US" dirty="0"/>
              <a:t> (</a:t>
            </a:r>
            <a:r>
              <a:rPr lang="en-US" b="1" dirty="0">
                <a:solidFill>
                  <a:schemeClr val="accent6"/>
                </a:solidFill>
              </a:rPr>
              <a:t>g</a:t>
            </a:r>
            <a:r>
              <a:rPr lang="en-US" dirty="0"/>
              <a:t>lobal </a:t>
            </a:r>
            <a:r>
              <a:rPr lang="en-US" b="1" dirty="0">
                <a:solidFill>
                  <a:schemeClr val="accent6"/>
                </a:solidFill>
              </a:rPr>
              <a:t>r</a:t>
            </a:r>
            <a:r>
              <a:rPr lang="en-US" dirty="0"/>
              <a:t>egular </a:t>
            </a:r>
            <a:r>
              <a:rPr lang="en-US" b="1" dirty="0">
                <a:solidFill>
                  <a:schemeClr val="accent6"/>
                </a:solidFill>
              </a:rPr>
              <a:t>e</a:t>
            </a:r>
            <a:r>
              <a:rPr lang="en-US" dirty="0"/>
              <a:t>xpression </a:t>
            </a:r>
            <a:r>
              <a:rPr lang="en-US" b="1" dirty="0">
                <a:solidFill>
                  <a:schemeClr val="accent6"/>
                </a:solidFill>
              </a:rPr>
              <a:t>p</a:t>
            </a:r>
            <a:r>
              <a:rPr lang="en-US" dirty="0"/>
              <a:t>rint)</a:t>
            </a:r>
          </a:p>
          <a:p>
            <a:r>
              <a:rPr lang="en-US" b="1" dirty="0">
                <a:solidFill>
                  <a:schemeClr val="accent6"/>
                </a:solidFill>
              </a:rPr>
              <a:t>grep</a:t>
            </a:r>
            <a:r>
              <a:rPr lang="en-US" dirty="0"/>
              <a:t> tries to match every line in a file with a prompt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grep Outgroup </a:t>
            </a:r>
            <a:r>
              <a:rPr lang="en-US" b="1" dirty="0" err="1">
                <a:solidFill>
                  <a:schemeClr val="accent6"/>
                </a:solidFill>
              </a:rPr>
              <a:t>popmap_full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-v</a:t>
            </a:r>
            <a:r>
              <a:rPr lang="en-US" dirty="0"/>
              <a:t> option EXCLUDES anything matching a prompt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grep –v Outgroup </a:t>
            </a:r>
            <a:r>
              <a:rPr lang="en-US" b="1" dirty="0" err="1">
                <a:solidFill>
                  <a:schemeClr val="accent6"/>
                </a:solidFill>
              </a:rPr>
              <a:t>popmap_full</a:t>
            </a:r>
            <a:endParaRPr lang="en-US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grep –v Outgroup </a:t>
            </a:r>
            <a:r>
              <a:rPr lang="en-US" b="1" dirty="0" err="1">
                <a:solidFill>
                  <a:schemeClr val="accent6"/>
                </a:solidFill>
              </a:rPr>
              <a:t>popmap_full</a:t>
            </a:r>
            <a:r>
              <a:rPr lang="en-US" b="1" dirty="0">
                <a:solidFill>
                  <a:schemeClr val="accent6"/>
                </a:solidFill>
              </a:rPr>
              <a:t> &gt; </a:t>
            </a:r>
            <a:r>
              <a:rPr lang="en-US" b="1" dirty="0" err="1">
                <a:solidFill>
                  <a:schemeClr val="accent6"/>
                </a:solidFill>
              </a:rPr>
              <a:t>popmap_ingroup</a:t>
            </a:r>
            <a:endParaRPr lang="en-US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You can choose what column what you make the </a:t>
            </a:r>
            <a:r>
              <a:rPr lang="en-US" b="1" dirty="0" err="1"/>
              <a:t>popmap</a:t>
            </a:r>
            <a:r>
              <a:rPr lang="en-US" b="1" dirty="0"/>
              <a:t> with! I suggest starting with island (column 4), but you can re-run this later with e.g. species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4C98A-94E0-91B2-3019-70717C52F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231" y="3016251"/>
            <a:ext cx="3747216" cy="51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52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2695</TotalTime>
  <Words>1229</Words>
  <Application>Microsoft Office PowerPoint</Application>
  <PresentationFormat>Widescreen</PresentationFormat>
  <Paragraphs>142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Abadi</vt:lpstr>
      <vt:lpstr>Aharoni</vt:lpstr>
      <vt:lpstr>Aptos</vt:lpstr>
      <vt:lpstr>Aptos Display</vt:lpstr>
      <vt:lpstr>Arial</vt:lpstr>
      <vt:lpstr>Office Theme</vt:lpstr>
      <vt:lpstr>Introduction to command line</vt:lpstr>
      <vt:lpstr>What is a pipeline?</vt:lpstr>
      <vt:lpstr>What is Stacks?</vt:lpstr>
      <vt:lpstr>What is Stacks?</vt:lpstr>
      <vt:lpstr>Accessing the command line</vt:lpstr>
      <vt:lpstr>Accessing the command line</vt:lpstr>
      <vt:lpstr>Accessing the command line</vt:lpstr>
      <vt:lpstr>Accessing the command line</vt:lpstr>
      <vt:lpstr>Command line cheatsheats</vt:lpstr>
      <vt:lpstr>Navigating your computer</vt:lpstr>
      <vt:lpstr>Navigating your computer</vt:lpstr>
      <vt:lpstr>Navigating your computer</vt:lpstr>
      <vt:lpstr>Installing command line programs</vt:lpstr>
      <vt:lpstr>Installing miniconda</vt:lpstr>
      <vt:lpstr>Installing command line programs</vt:lpstr>
      <vt:lpstr>Getting reads, reference, and sample information table</vt:lpstr>
      <vt:lpstr>While we download reads –  Hello World</vt:lpstr>
      <vt:lpstr>Nano summary</vt:lpstr>
      <vt:lpstr>Bash scripts</vt:lpstr>
      <vt:lpstr>Look at your sample map</vt:lpstr>
      <vt:lpstr>Making a sample list</vt:lpstr>
      <vt:lpstr>Making a sample list</vt:lpstr>
      <vt:lpstr>Making a sample list</vt:lpstr>
      <vt:lpstr>Making a sample list</vt:lpstr>
      <vt:lpstr>Making a sample list</vt:lpstr>
      <vt:lpstr>Making a population map</vt:lpstr>
      <vt:lpstr>Making a population map</vt:lpstr>
      <vt:lpstr>Making a population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Gyllenhaal</dc:creator>
  <cp:lastModifiedBy>Ethan Gyllenhaal</cp:lastModifiedBy>
  <cp:revision>448</cp:revision>
  <dcterms:created xsi:type="dcterms:W3CDTF">2026-07-08T01:44:49Z</dcterms:created>
  <dcterms:modified xsi:type="dcterms:W3CDTF">2026-07-20T11:29:39Z</dcterms:modified>
</cp:coreProperties>
</file>