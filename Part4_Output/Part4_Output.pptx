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183" autoAdjust="0"/>
  </p:normalViewPr>
  <p:slideViewPr>
    <p:cSldViewPr snapToGrid="0">
      <p:cViewPr varScale="1">
        <p:scale>
          <a:sx n="69" d="100"/>
          <a:sy n="69" d="100"/>
        </p:scale>
        <p:origin x="6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EDAD82-4A91-4FCD-8377-229631DED7F6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BE17A-011E-42C8-B886-9AAF1509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66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03C9C-2ED6-07E2-5187-63CCB8E96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1D277A-038B-673F-4627-ADF83DE4C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42BEB-104C-39ED-7273-6BDF73559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F42A1-DB42-5F71-7EDA-C82442E0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23A78-E333-71CD-2D41-FCA8444F3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228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97225-767F-C323-5C43-E544A73C3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82BBC-A2A3-E886-0002-300022D49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BD229-AF2F-0677-327E-8DAF0AE5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89CE4-29FC-FC2B-3B3C-9F22D1AB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0D58C-9177-8E3B-7CD7-CC6F2EB40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6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200DE-C7AC-CEE1-5C67-BAF1E4B3E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99492-F707-0AF1-90A2-0D010D1BF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98528-6399-C1CC-1E0F-750B84AB4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49D72-0B87-711C-2F2B-F736FE0D6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FE287-9188-0985-0DD5-FCBE67261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478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78880-F7AB-A1AF-BA71-32BC25F00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BECC1-A04F-BE53-BAE3-287D478DD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F2504-8519-1D66-087A-D6410690B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E88D8-4C57-2D0B-FBE1-0C4D3A16F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D8E72A-5DC1-BE0E-DD96-81577DFFE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5A0AF2-98A4-2E7D-BC56-365F78FBE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689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68984-04BA-5449-9B81-A909A0FBC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51707-BFD4-6B46-E020-7F1BE906B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9B8FA0-FBD2-C0DC-57EF-56268657D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BC8736-2EAD-0683-5FFF-93AD48D03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C52C8A-01FC-253F-1170-AC3F51B8CB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AA93B8-9E72-3054-6CCD-85CCB4139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79AFD3-5A50-72DC-3B44-B15257DF7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C6A861-2F50-63FB-41E4-20BCF7071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093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DEE4F-DDD0-3508-D3FD-23721D711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BCA520-90D2-5900-2CE8-8297A56E1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90712D-2C92-E280-8039-56B32AAFE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E1E025-E056-74C6-D982-FADD49F6E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149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700ADF-7189-4746-5A27-5534D9BC4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3677B9-E138-21A2-28C3-23E66257A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513E7-BD02-0CC6-2312-A81C6CD18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56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324B5-B629-E352-2A5C-A65764C33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223BE-33E6-0EEF-B15C-D85FFEA18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EB9F4E-9B72-2DFB-F832-4CCCE235C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FD08E-23DC-D49B-6243-34BE241CE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684A2-5407-A704-920F-6B8B94194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ACE16-2690-3C6D-FCA4-C3E7AA724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896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8B66A-737B-CBDE-519F-387170E2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77FBC2-B41F-501A-708B-F32B24FA76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E5A01-1E6C-775F-E6D0-D65B75A42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07599-0952-FB31-3856-C45A37800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12A0D-C317-E1A4-EABA-1FDF1F380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A2969-6900-ADA2-9316-D9A2945E1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660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86A61-148E-387F-5384-06C3FAA6B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D8F97-629D-244A-1A23-1DBABEDAB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599E9-2437-4F8D-6202-FD0DBCD98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D7D28-26E7-CF93-4879-24F3238A9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3F103-F0C1-095C-A68F-81CD223A4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872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69002C-7B52-4611-B2BF-C1BF37DF3E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D7E27-91D1-BD36-1CE2-232F9A1D0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7D49C-FBFA-8F27-ADE4-2B725E15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96545-C681-2F33-6F91-FF65A9C0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0622C-1851-4647-7DB2-1675CABF7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989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45A00-E370-A361-4157-93A5BEA91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66534-883C-7F46-5FE7-D1017D4C5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CD54F-879E-01CE-4AA2-15688F79AC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1E8BD-15BC-B84B-9F33-6B985724E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E012D-9AEF-ECEB-9F79-C10A55537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57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atchenlab.life.illinois.edu/stacks/comp/populations.php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9B03F-C091-E144-388E-E639BA3574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>
                <a:latin typeface="Aharoni" panose="02010803020104030203" pitchFamily="2" charset="-79"/>
                <a:cs typeface="Aharoni" panose="02010803020104030203" pitchFamily="2" charset="-79"/>
              </a:rPr>
              <a:t>Making and filtering output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A0D4C-299D-E73D-F102-E7B2B50F18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USP </a:t>
            </a:r>
            <a:r>
              <a:rPr lang="en-US" dirty="0" err="1">
                <a:latin typeface="Abadi" panose="020B0604020104020204" pitchFamily="34" charset="0"/>
              </a:rPr>
              <a:t>RADseq</a:t>
            </a:r>
            <a:r>
              <a:rPr lang="en-US" dirty="0">
                <a:latin typeface="Abadi" panose="020B0604020104020204" pitchFamily="34" charset="0"/>
              </a:rPr>
              <a:t> Workshop</a:t>
            </a:r>
          </a:p>
          <a:p>
            <a:r>
              <a:rPr lang="en-US" dirty="0">
                <a:latin typeface="Abadi" panose="020B0604020104020204" pitchFamily="34" charset="0"/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1286170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C8C45-9FE0-D060-07DA-680C7A1B5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VCF: the baseline for pop 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B6EFC-6FD6-EEC0-89DC-56DD7A7E3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800063" cy="4898560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Data format that is concise, flexible, and sufficiently data rich it can be used for most programs</a:t>
            </a:r>
          </a:p>
          <a:p>
            <a:r>
              <a:rPr lang="en-US" dirty="0">
                <a:latin typeface="Abadi" panose="020B0604020104020204" pitchFamily="34" charset="0"/>
              </a:rPr>
              <a:t>We will make a VCF with Stacks’ populations module, then filter it fully with </a:t>
            </a:r>
            <a:r>
              <a:rPr lang="en-US" dirty="0" err="1">
                <a:latin typeface="Abadi" panose="020B0604020104020204" pitchFamily="34" charset="0"/>
              </a:rPr>
              <a:t>VCFtools</a:t>
            </a:r>
            <a:endParaRPr lang="en-US" dirty="0">
              <a:latin typeface="Abadi" panose="020B06040201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0B04F2-8DCA-381A-A443-0AE42D8FF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56" y="3965506"/>
            <a:ext cx="11392887" cy="27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9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848F4-7D8C-9EE4-F0B6-9FB4478E3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67D23-BA98-5716-FB45-C73BF1FF2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Stacks populations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8B9EF-4207-D030-AA78-73BF8359A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24171" cy="4898560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A nice program with lots of options for output: </a:t>
            </a:r>
            <a:r>
              <a:rPr lang="en-US" dirty="0">
                <a:latin typeface="Abadi" panose="020B0604020104020204" pitchFamily="34" charset="0"/>
                <a:hlinkClick r:id="rId2"/>
              </a:rPr>
              <a:t>https://catchenlab.life.illinois.edu/stacks/comp/populations.php</a:t>
            </a:r>
            <a:endParaRPr lang="en-US" dirty="0">
              <a:latin typeface="Abadi" panose="020B0604020104020204" pitchFamily="34" charset="0"/>
            </a:endParaRPr>
          </a:p>
          <a:p>
            <a:r>
              <a:rPr lang="en-US" dirty="0">
                <a:latin typeface="Abadi" panose="020B0604020104020204" pitchFamily="34" charset="0"/>
              </a:rPr>
              <a:t>Also will calculate some summary statistics for us!</a:t>
            </a:r>
          </a:p>
        </p:txBody>
      </p:sp>
      <p:pic>
        <p:nvPicPr>
          <p:cNvPr id="6" name="Picture 5" descr="Stacks Pipeline">
            <a:extLst>
              <a:ext uri="{FF2B5EF4-FFF2-40B4-BE49-F238E27FC236}">
                <a16:creationId xmlns:a16="http://schemas.microsoft.com/office/drawing/2014/main" id="{C5C42F98-97C7-3C57-C4DB-49D0301571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587" r="2966" b="23198"/>
          <a:stretch>
            <a:fillRect/>
          </a:stretch>
        </p:blipFill>
        <p:spPr bwMode="auto">
          <a:xfrm>
            <a:off x="142658" y="3725094"/>
            <a:ext cx="11906684" cy="3132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611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B5CD0-EFF1-51FB-ED46-EBC908884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CBCCA-6635-EE6E-2E00-16339C9EC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Common filters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CB75F-9D10-38B9-B06F-A1D940B7E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24171" cy="4898560"/>
          </a:xfrm>
        </p:spPr>
        <p:txBody>
          <a:bodyPr>
            <a:normAutofit/>
          </a:bodyPr>
          <a:lstStyle/>
          <a:p>
            <a:r>
              <a:rPr lang="en-US" dirty="0"/>
              <a:t>--min-samples-overall (-R): minimum percentage of individuals across pops required to include a locus</a:t>
            </a:r>
          </a:p>
          <a:p>
            <a:r>
              <a:rPr lang="en-US" dirty="0"/>
              <a:t>--min-</a:t>
            </a:r>
            <a:r>
              <a:rPr lang="en-US" dirty="0" err="1"/>
              <a:t>maf</a:t>
            </a:r>
            <a:r>
              <a:rPr lang="en-US" dirty="0"/>
              <a:t> and --min-mac: minimum minor allele </a:t>
            </a:r>
            <a:r>
              <a:rPr lang="en-US" dirty="0" err="1"/>
              <a:t>freq</a:t>
            </a:r>
            <a:r>
              <a:rPr lang="en-US" dirty="0"/>
              <a:t> and out</a:t>
            </a:r>
          </a:p>
          <a:p>
            <a:r>
              <a:rPr lang="en-US" dirty="0"/>
              <a:t>--write-random-</a:t>
            </a:r>
            <a:r>
              <a:rPr lang="en-US" dirty="0" err="1"/>
              <a:t>snp</a:t>
            </a:r>
            <a:r>
              <a:rPr lang="en-US" dirty="0"/>
              <a:t>: keep one random SNP per locus</a:t>
            </a:r>
          </a:p>
          <a:p>
            <a:r>
              <a:rPr lang="en-US" dirty="0"/>
              <a:t>--max-</a:t>
            </a:r>
            <a:r>
              <a:rPr lang="en-US" dirty="0" err="1"/>
              <a:t>obs</a:t>
            </a:r>
            <a:r>
              <a:rPr lang="en-US" dirty="0"/>
              <a:t>-het: maximum cross-population heterozygosity a locus can have (to avoid paralogs)</a:t>
            </a:r>
          </a:p>
        </p:txBody>
      </p:sp>
    </p:spTree>
    <p:extLst>
      <p:ext uri="{BB962C8B-B14F-4D97-AF65-F5344CB8AC3E}">
        <p14:creationId xmlns:p14="http://schemas.microsoft.com/office/powerpoint/2010/main" val="2743994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ED26E-4898-09B3-E782-A3ED13DE7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7CF83-4579-3A2C-3B3B-E35558954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Common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114CE-07E8-0398-D346-5FA416697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24171" cy="4898560"/>
          </a:xfrm>
        </p:spPr>
        <p:txBody>
          <a:bodyPr>
            <a:normAutofit/>
          </a:bodyPr>
          <a:lstStyle/>
          <a:p>
            <a:r>
              <a:rPr lang="en-US" dirty="0"/>
              <a:t>--</a:t>
            </a:r>
            <a:r>
              <a:rPr lang="en-US" dirty="0" err="1"/>
              <a:t>vcf</a:t>
            </a:r>
            <a:r>
              <a:rPr lang="en-US" dirty="0"/>
              <a:t>: outputs a VCF (main currency for </a:t>
            </a:r>
            <a:r>
              <a:rPr lang="en-US" dirty="0" err="1"/>
              <a:t>popgen</a:t>
            </a:r>
            <a:r>
              <a:rPr lang="en-US" dirty="0"/>
              <a:t> analyses)</a:t>
            </a:r>
          </a:p>
          <a:p>
            <a:r>
              <a:rPr lang="en-US" dirty="0"/>
              <a:t>--smooth: smooth summary stats (tend to be inaccurate with Stacks)</a:t>
            </a:r>
          </a:p>
          <a:p>
            <a:r>
              <a:rPr lang="en-US" dirty="0"/>
              <a:t>--</a:t>
            </a:r>
            <a:r>
              <a:rPr lang="en-US" dirty="0" err="1"/>
              <a:t>phylip</a:t>
            </a:r>
            <a:r>
              <a:rPr lang="en-US" dirty="0"/>
              <a:t>-var-all: </a:t>
            </a:r>
            <a:r>
              <a:rPr lang="en-US" dirty="0" err="1"/>
              <a:t>phylip</a:t>
            </a:r>
            <a:r>
              <a:rPr lang="en-US" dirty="0"/>
              <a:t> of all variant and invariant sites per “population”, I run this with a </a:t>
            </a:r>
            <a:r>
              <a:rPr lang="en-US" dirty="0" err="1"/>
              <a:t>popmap</a:t>
            </a:r>
            <a:r>
              <a:rPr lang="en-US" dirty="0"/>
              <a:t> including each individual as a population to get input for phylogenetics, concatenated</a:t>
            </a:r>
          </a:p>
          <a:p>
            <a:r>
              <a:rPr lang="en-US" dirty="0"/>
              <a:t>--structure, --plink, --</a:t>
            </a:r>
            <a:r>
              <a:rPr lang="en-US" dirty="0" err="1"/>
              <a:t>treemix</a:t>
            </a:r>
            <a:r>
              <a:rPr lang="en-US" dirty="0"/>
              <a:t>: output for running these programs (PLINK is good for ADMIXTURE)</a:t>
            </a:r>
          </a:p>
        </p:txBody>
      </p:sp>
    </p:spTree>
    <p:extLst>
      <p:ext uri="{BB962C8B-B14F-4D97-AF65-F5344CB8AC3E}">
        <p14:creationId xmlns:p14="http://schemas.microsoft.com/office/powerpoint/2010/main" val="2145589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F40A2-F65E-F18E-A283-F50B4C257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5D0F5-9E9E-9BA0-593D-D444CE2B9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Running populations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4E181-4648-FCA4-AF11-DA9D59876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8560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  <a:cs typeface="Aldhabi" panose="020F0502020204030204" pitchFamily="2" charset="-78"/>
              </a:rPr>
              <a:t>Like most of Stacks, very simple, we will run it only one time for now, like below (remember the </a:t>
            </a:r>
            <a:r>
              <a:rPr lang="en-US" dirty="0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\</a:t>
            </a:r>
            <a:r>
              <a:rPr lang="en-US" dirty="0">
                <a:latin typeface="Abadi" panose="020B0604020104020204" pitchFamily="34" charset="0"/>
                <a:cs typeface="Aldhabi" panose="020F0502020204030204" pitchFamily="2" charset="-78"/>
              </a:rPr>
              <a:t> just means the command continues onto the next line)</a:t>
            </a:r>
          </a:p>
          <a:p>
            <a:pPr marL="0" indent="0">
              <a:buNone/>
            </a:pPr>
            <a:r>
              <a:rPr lang="en-US" sz="2400" b="1" dirty="0" err="1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mkdir</a:t>
            </a:r>
            <a:r>
              <a:rPr lang="en-US" sz="2400" b="1" dirty="0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 </a:t>
            </a:r>
            <a:r>
              <a:rPr lang="en-US" sz="2400" b="1" dirty="0" err="1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populations_out</a:t>
            </a:r>
            <a:r>
              <a:rPr lang="en-US" sz="2400" b="1" dirty="0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/full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populations --in-path </a:t>
            </a:r>
            <a:r>
              <a:rPr lang="en-US" sz="2400" b="1" dirty="0" err="1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stacks_out</a:t>
            </a:r>
            <a:r>
              <a:rPr lang="en-US" sz="2400" b="1" dirty="0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/full/ --</a:t>
            </a:r>
            <a:r>
              <a:rPr lang="en-US" sz="2400" b="1" dirty="0" err="1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popmap</a:t>
            </a:r>
            <a:r>
              <a:rPr lang="en-US" sz="2400" b="1" dirty="0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 </a:t>
            </a:r>
            <a:r>
              <a:rPr lang="en-US" sz="2400" b="1" dirty="0" err="1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popmap_full</a:t>
            </a:r>
            <a:r>
              <a:rPr lang="en-US" sz="2400" b="1" dirty="0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 \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            --out-path </a:t>
            </a:r>
            <a:r>
              <a:rPr lang="en-US" sz="2400" b="1" dirty="0" err="1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populations_out</a:t>
            </a:r>
            <a:r>
              <a:rPr lang="en-US" sz="2400" b="1" dirty="0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/full --</a:t>
            </a:r>
            <a:r>
              <a:rPr lang="en-US" sz="2400" b="1" dirty="0" err="1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vcf</a:t>
            </a:r>
            <a:r>
              <a:rPr lang="en-US" sz="2400" b="1" dirty="0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 --min-samples-overall 0.75 \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            --write-random-</a:t>
            </a:r>
            <a:r>
              <a:rPr lang="en-US" sz="2400" b="1" dirty="0" err="1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snp</a:t>
            </a:r>
            <a:r>
              <a:rPr lang="en-US" sz="2400" b="1" dirty="0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  --min-mac 2 --smooth --threads 2</a:t>
            </a:r>
          </a:p>
          <a:p>
            <a:pPr marL="0" indent="0">
              <a:buNone/>
            </a:pPr>
            <a:endParaRPr lang="en-US" sz="2000" dirty="0">
              <a:latin typeface="Abadi" panose="020B0604020104020204" pitchFamily="34" charset="0"/>
              <a:cs typeface="Aldhabi" panose="020F0502020204030204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5AE897-44BF-0854-C472-E011602B8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047" y="4897907"/>
            <a:ext cx="7803906" cy="196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781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CB9AA-506B-2B94-7B48-09BA71427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2DB14-82A6-548B-1F21-565157412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Running populations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750E6EF-AA0C-B14C-F502-D90C847DA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 that it shows the a summary of the population genetic summary statistics results, a nice first pass at the data, but not the </a:t>
            </a:r>
            <a:r>
              <a:rPr lang="en-US"/>
              <a:t>most accurate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3EE7F8-5676-345F-B9E4-688B2E4E6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07" y="3065292"/>
            <a:ext cx="10023185" cy="368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570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4CFBB-1EF2-2C90-0CE1-4C7808E20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08A7F-8DCB-EA4F-EF94-159559567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Moving populations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BD255-EE8C-A87A-7EC9-C366DA8F1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4898560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  <a:cs typeface="Aldhabi" panose="020F0502020204030204" pitchFamily="2" charset="-78"/>
              </a:rPr>
              <a:t>We will then rename that output and move it somewhere easier to find</a:t>
            </a:r>
          </a:p>
          <a:p>
            <a:r>
              <a:rPr lang="en-US" dirty="0">
                <a:latin typeface="Abadi" panose="020B0604020104020204" pitchFamily="34" charset="0"/>
                <a:cs typeface="Aldhabi" panose="020F0502020204030204" pitchFamily="2" charset="-78"/>
              </a:rPr>
              <a:t>We will give it informative names that include the percent completeness and that it was thinned</a:t>
            </a:r>
          </a:p>
          <a:p>
            <a:pPr marL="0" indent="0">
              <a:buNone/>
            </a:pPr>
            <a:endParaRPr lang="en-US" dirty="0">
              <a:latin typeface="Abadi" panose="020B0604020104020204" pitchFamily="34" charset="0"/>
              <a:cs typeface="Aldhabi" panose="020F0502020204030204" pitchFamily="2" charset="-78"/>
            </a:endParaRPr>
          </a:p>
          <a:p>
            <a:endParaRPr lang="en-US" sz="2000" dirty="0">
              <a:latin typeface="Abadi" panose="020B0604020104020204" pitchFamily="34" charset="0"/>
              <a:cs typeface="Aldhabi" panose="020F0502020204030204" pitchFamily="2" charset="-78"/>
            </a:endParaRPr>
          </a:p>
          <a:p>
            <a:pPr marL="0" indent="0">
              <a:buNone/>
            </a:pPr>
            <a:endParaRPr lang="en-US" sz="2000" dirty="0">
              <a:latin typeface="Abadi" panose="020B0604020104020204" pitchFamily="34" charset="0"/>
              <a:cs typeface="Aldhabi" panose="020F0502020204030204" pitchFamily="2" charset="-78"/>
            </a:endParaRPr>
          </a:p>
          <a:p>
            <a:pPr marL="0" indent="0">
              <a:buNone/>
            </a:pPr>
            <a:endParaRPr lang="en-US" sz="1800" dirty="0">
              <a:solidFill>
                <a:schemeClr val="accent6"/>
              </a:solidFill>
              <a:latin typeface="Abadi" panose="020B0604020104020204" pitchFamily="34" charset="0"/>
              <a:cs typeface="Aldhabi" panose="020F0502020204030204" pitchFamily="2" charset="-78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mv </a:t>
            </a:r>
            <a:r>
              <a:rPr lang="en-US" sz="1800" dirty="0" err="1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populations_out</a:t>
            </a:r>
            <a:r>
              <a:rPr lang="en-US" sz="1800" dirty="0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/ingroup/populations.snps.vcf output/pachycephala_ingroup_75_thinned.vcf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mv </a:t>
            </a:r>
            <a:r>
              <a:rPr lang="en-US" sz="1800" dirty="0" err="1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populations_out</a:t>
            </a:r>
            <a:r>
              <a:rPr lang="en-US" sz="1800" dirty="0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/ingroup/</a:t>
            </a:r>
            <a:r>
              <a:rPr lang="en-US" sz="1800" dirty="0" err="1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populations.sumstats_summary.tsv</a:t>
            </a:r>
            <a:r>
              <a:rPr lang="en-US" sz="1800" dirty="0">
                <a:solidFill>
                  <a:schemeClr val="accent6"/>
                </a:solidFill>
                <a:latin typeface="Abadi" panose="020B0604020104020204" pitchFamily="34" charset="0"/>
                <a:cs typeface="Aldhabi" panose="020F0502020204030204" pitchFamily="2" charset="-78"/>
              </a:rPr>
              <a:t> output/pachycephala_ingroup_75_thinned_sumstats.tsv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730904-221F-F5B8-7768-AA0062E64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637" y="3280062"/>
            <a:ext cx="8824725" cy="14098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F7EB00-7B04-C988-77FA-712488FC7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122" y="5809785"/>
            <a:ext cx="9161756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733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29912-CDAF-CC87-FF50-0C2FD061C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75092-D023-71E7-4DCA-BF0EDD7DA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VCFtools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FF0D7-5D05-2452-404F-0F951A905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771" y="1825625"/>
            <a:ext cx="10707030" cy="4898560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  <a:cs typeface="Aldhabi" panose="020F0502020204030204" pitchFamily="2" charset="-78"/>
              </a:rPr>
              <a:t>Common tool for </a:t>
            </a:r>
            <a:r>
              <a:rPr lang="en-US" dirty="0" err="1">
                <a:latin typeface="Abadi" panose="020B0604020104020204" pitchFamily="34" charset="0"/>
                <a:cs typeface="Aldhabi" panose="020F0502020204030204" pitchFamily="2" charset="-78"/>
              </a:rPr>
              <a:t>subsetting</a:t>
            </a:r>
            <a:r>
              <a:rPr lang="en-US" dirty="0">
                <a:latin typeface="Abadi" panose="020B0604020104020204" pitchFamily="34" charset="0"/>
                <a:cs typeface="Aldhabi" panose="020F0502020204030204" pitchFamily="2" charset="-78"/>
              </a:rPr>
              <a:t> SNP datasets, has several ways of filtering and </a:t>
            </a:r>
            <a:r>
              <a:rPr lang="en-US" dirty="0" err="1">
                <a:latin typeface="Abadi" panose="020B0604020104020204" pitchFamily="34" charset="0"/>
                <a:cs typeface="Aldhabi" panose="020F0502020204030204" pitchFamily="2" charset="-78"/>
              </a:rPr>
              <a:t>subsetting</a:t>
            </a:r>
            <a:r>
              <a:rPr lang="en-US" dirty="0">
                <a:latin typeface="Abadi" panose="020B0604020104020204" pitchFamily="34" charset="0"/>
                <a:cs typeface="Aldhabi" panose="020F0502020204030204" pitchFamily="2" charset="-78"/>
              </a:rPr>
              <a:t> loci and samples, a lot like populations</a:t>
            </a:r>
          </a:p>
          <a:p>
            <a:r>
              <a:rPr lang="en-US" dirty="0">
                <a:latin typeface="Abadi" panose="020B0604020104020204" pitchFamily="34" charset="0"/>
                <a:cs typeface="Aldhabi" panose="020F0502020204030204" pitchFamily="2" charset="-78"/>
              </a:rPr>
              <a:t>It also runs several analyses, most notably pairwise FST for genome-wide means and Manhattan plots</a:t>
            </a:r>
          </a:p>
          <a:p>
            <a:r>
              <a:rPr lang="en-US" dirty="0">
                <a:latin typeface="Abadi" panose="020B0604020104020204" pitchFamily="34" charset="0"/>
                <a:cs typeface="Aldhabi" panose="020F0502020204030204" pitchFamily="2" charset="-78"/>
              </a:rPr>
              <a:t>Full documentation: https://vcftools.github.io/man_latest.html</a:t>
            </a:r>
          </a:p>
          <a:p>
            <a:r>
              <a:rPr lang="en-US" dirty="0">
                <a:latin typeface="Abadi" panose="020B0604020104020204" pitchFamily="34" charset="0"/>
                <a:cs typeface="Aldhabi" panose="020F0502020204030204" pitchFamily="2" charset="-78"/>
              </a:rPr>
              <a:t>Installation: we included it in our </a:t>
            </a:r>
            <a:r>
              <a:rPr lang="en-US" dirty="0" err="1">
                <a:latin typeface="Abadi" panose="020B0604020104020204" pitchFamily="34" charset="0"/>
                <a:cs typeface="Aldhabi" panose="020F0502020204030204" pitchFamily="2" charset="-78"/>
              </a:rPr>
              <a:t>conda</a:t>
            </a:r>
            <a:r>
              <a:rPr lang="en-US" dirty="0">
                <a:latin typeface="Abadi" panose="020B0604020104020204" pitchFamily="34" charset="0"/>
                <a:cs typeface="Aldhabi" panose="020F0502020204030204" pitchFamily="2" charset="-78"/>
              </a:rPr>
              <a:t> environment!</a:t>
            </a:r>
          </a:p>
        </p:txBody>
      </p:sp>
    </p:spTree>
    <p:extLst>
      <p:ext uri="{BB962C8B-B14F-4D97-AF65-F5344CB8AC3E}">
        <p14:creationId xmlns:p14="http://schemas.microsoft.com/office/powerpoint/2010/main" val="2070054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9DD1A-AEE7-7651-140B-DCA249E10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D2610-D29E-653F-B133-443D18A6C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VCFtools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D2B37-6C69-99B2-9D0F-D75359C4B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771" y="1825625"/>
            <a:ext cx="10707030" cy="4898560"/>
          </a:xfrm>
        </p:spPr>
        <p:txBody>
          <a:bodyPr>
            <a:normAutofit/>
          </a:bodyPr>
          <a:lstStyle/>
          <a:p>
            <a:r>
              <a:rPr lang="en-US" dirty="0"/>
              <a:t>Basic syntax:</a:t>
            </a:r>
          </a:p>
          <a:p>
            <a:pPr lvl="1"/>
            <a:r>
              <a:rPr lang="en-US" dirty="0" err="1"/>
              <a:t>vcftools</a:t>
            </a:r>
            <a:r>
              <a:rPr lang="en-US" dirty="0"/>
              <a:t> --</a:t>
            </a:r>
            <a:r>
              <a:rPr lang="en-US" dirty="0" err="1"/>
              <a:t>vcf</a:t>
            </a:r>
            <a:r>
              <a:rPr lang="en-US" dirty="0"/>
              <a:t> samples.vcf {commands} --out path/and/</a:t>
            </a:r>
            <a:r>
              <a:rPr lang="en-US" dirty="0" err="1"/>
              <a:t>stem_of_output</a:t>
            </a:r>
            <a:endParaRPr lang="en-US" dirty="0"/>
          </a:p>
          <a:p>
            <a:r>
              <a:rPr lang="en-US" dirty="0" err="1"/>
              <a:t>VCFtools</a:t>
            </a:r>
            <a:r>
              <a:rPr lang="en-US" dirty="0"/>
              <a:t> generally only runs one analysis at a time (including “recode” to write a filtered VCF), but can take many options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701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A2A3F-E1C1-35C8-8F21-FC0A58A19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8069D-8FC6-F57F-DA44-EF79814A9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Common </a:t>
            </a:r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VCFtools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 SNP filters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2D958-605A-4EA8-5CA0-4DB139D11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771" y="1825625"/>
            <a:ext cx="10707030" cy="48985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--remove-filtered-all: remove sites with a filter tag</a:t>
            </a:r>
          </a:p>
          <a:p>
            <a:r>
              <a:rPr lang="en-US" dirty="0"/>
              <a:t>--max-missing: proportion of missing data</a:t>
            </a:r>
          </a:p>
          <a:p>
            <a:r>
              <a:rPr lang="en-US" dirty="0"/>
              <a:t>--chr and --not-chr: include and exclude regions (respectively)</a:t>
            </a:r>
          </a:p>
          <a:p>
            <a:r>
              <a:rPr lang="en-US" dirty="0"/>
              <a:t>--thin: remove SNPs such that no two sites are closer than X distance</a:t>
            </a:r>
          </a:p>
          <a:p>
            <a:r>
              <a:rPr lang="en-US" dirty="0"/>
              <a:t>--remove-indels: remove indels</a:t>
            </a:r>
          </a:p>
          <a:p>
            <a:r>
              <a:rPr lang="en-US" dirty="0"/>
              <a:t>--</a:t>
            </a:r>
            <a:r>
              <a:rPr lang="en-US" dirty="0" err="1"/>
              <a:t>maf</a:t>
            </a:r>
            <a:r>
              <a:rPr lang="en-US" dirty="0"/>
              <a:t> and mac: only include sites with minor allele </a:t>
            </a:r>
            <a:r>
              <a:rPr lang="en-US" dirty="0" err="1"/>
              <a:t>freq</a:t>
            </a:r>
            <a:r>
              <a:rPr lang="en-US" dirty="0"/>
              <a:t>/count &gt;= X</a:t>
            </a:r>
          </a:p>
          <a:p>
            <a:r>
              <a:rPr lang="en-US" dirty="0"/>
              <a:t>--min-alleles and --max-alleles: max and min number of alleles at a site</a:t>
            </a:r>
          </a:p>
          <a:p>
            <a:r>
              <a:rPr lang="en-US" dirty="0"/>
              <a:t>Example (outputs filtered </a:t>
            </a:r>
            <a:r>
              <a:rPr lang="en-US" dirty="0" err="1"/>
              <a:t>vcf</a:t>
            </a:r>
            <a:r>
              <a:rPr lang="en-US" dirty="0"/>
              <a:t> like path/to/output_stem.recode.vcf)</a:t>
            </a:r>
          </a:p>
          <a:p>
            <a:r>
              <a:rPr lang="en-US" dirty="0" err="1"/>
              <a:t>vcftools</a:t>
            </a:r>
            <a:r>
              <a:rPr lang="en-US" dirty="0"/>
              <a:t> --</a:t>
            </a:r>
            <a:r>
              <a:rPr lang="en-US" dirty="0" err="1"/>
              <a:t>vcf</a:t>
            </a:r>
            <a:r>
              <a:rPr lang="en-US" dirty="0"/>
              <a:t> samples.vcf --recode --max-missing 0.75 --thin 10000 --mac 3 --mix-alleles 2 --max-alleles 2 --not-</a:t>
            </a:r>
            <a:r>
              <a:rPr lang="en-US" dirty="0" err="1"/>
              <a:t>chrom</a:t>
            </a:r>
            <a:r>
              <a:rPr lang="en-US" dirty="0"/>
              <a:t> </a:t>
            </a:r>
            <a:r>
              <a:rPr lang="en-US" dirty="0" err="1"/>
              <a:t>Z_chrom</a:t>
            </a:r>
            <a:r>
              <a:rPr lang="en-US" dirty="0"/>
              <a:t> --out path/to/</a:t>
            </a:r>
            <a:r>
              <a:rPr lang="en-US" dirty="0" err="1"/>
              <a:t>output_stem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905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F80D7-B5A5-6FF9-5905-3972E9534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C1DEA-C88D-A06F-6FB6-AFD12704A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Common </a:t>
            </a:r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VCFtools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 individual filters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5B7AB-3324-B1FD-4471-A33D18DE8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771" y="1825625"/>
            <a:ext cx="10707030" cy="4898560"/>
          </a:xfrm>
        </p:spPr>
        <p:txBody>
          <a:bodyPr>
            <a:normAutofit/>
          </a:bodyPr>
          <a:lstStyle/>
          <a:p>
            <a:r>
              <a:rPr lang="en-US" dirty="0"/>
              <a:t>--</a:t>
            </a:r>
            <a:r>
              <a:rPr lang="en-US" dirty="0" err="1"/>
              <a:t>indv</a:t>
            </a:r>
            <a:r>
              <a:rPr lang="en-US" dirty="0"/>
              <a:t> and --remove-</a:t>
            </a:r>
            <a:r>
              <a:rPr lang="en-US" dirty="0" err="1"/>
              <a:t>indv</a:t>
            </a:r>
            <a:r>
              <a:rPr lang="en-US" dirty="0"/>
              <a:t>: keep and remove a given individual (can be used multiple times)</a:t>
            </a:r>
          </a:p>
          <a:p>
            <a:r>
              <a:rPr lang="en-US" dirty="0"/>
              <a:t>--keep and --remove: keep a list of individuals (a text file of names, like a sample list, NOT a </a:t>
            </a:r>
            <a:r>
              <a:rPr lang="en-US" dirty="0" err="1"/>
              <a:t>popmap</a:t>
            </a:r>
            <a:r>
              <a:rPr lang="en-US" dirty="0"/>
              <a:t>)</a:t>
            </a:r>
          </a:p>
          <a:p>
            <a:r>
              <a:rPr lang="en-US" dirty="0"/>
              <a:t>Example (outputs filtered </a:t>
            </a:r>
            <a:r>
              <a:rPr lang="en-US" dirty="0" err="1"/>
              <a:t>vcf</a:t>
            </a:r>
            <a:r>
              <a:rPr lang="en-US" dirty="0"/>
              <a:t> like path/to/output_stem.recode.vcf)</a:t>
            </a:r>
          </a:p>
          <a:p>
            <a:r>
              <a:rPr lang="en-US" dirty="0" err="1"/>
              <a:t>vcftools</a:t>
            </a:r>
            <a:r>
              <a:rPr lang="en-US" dirty="0"/>
              <a:t> --</a:t>
            </a:r>
            <a:r>
              <a:rPr lang="en-US" dirty="0" err="1"/>
              <a:t>vcf</a:t>
            </a:r>
            <a:r>
              <a:rPr lang="en-US" dirty="0"/>
              <a:t> samples.vcf --recode --keep </a:t>
            </a:r>
            <a:r>
              <a:rPr lang="en-US" dirty="0" err="1"/>
              <a:t>list_of_indivs</a:t>
            </a:r>
            <a:r>
              <a:rPr lang="en-US" dirty="0"/>
              <a:t> --remove-filtered-all --max-missing 0.75 --thin 10000 --mac 3 --mix-alleles 2 --max-alleles 2 --out path/to/</a:t>
            </a:r>
            <a:r>
              <a:rPr lang="en-US" dirty="0" err="1"/>
              <a:t>output_stem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4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BCDB4-DA67-C19D-B073-F7884194D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EBA81-CB1B-B467-76F7-D3DED91FF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Common </a:t>
            </a:r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VCFtools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74C68-C26F-B370-F6C0-CF38873A8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771" y="1825625"/>
            <a:ext cx="10707030" cy="489856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--recode: make a VCF of this filtering scheme</a:t>
            </a:r>
          </a:p>
          <a:p>
            <a:r>
              <a:rPr lang="en-US" dirty="0"/>
              <a:t>--012: outputs a file with SNPs codes as 0/1/2 for homozygous ref/heterozygous/homozygous alternate</a:t>
            </a:r>
          </a:p>
          <a:p>
            <a:r>
              <a:rPr lang="en-US" dirty="0"/>
              <a:t>--plink: outputs PLINK format files</a:t>
            </a:r>
          </a:p>
          <a:p>
            <a:r>
              <a:rPr lang="en-US" dirty="0"/>
              <a:t>--depth: outputs mean depth per individual</a:t>
            </a:r>
          </a:p>
          <a:p>
            <a:r>
              <a:rPr lang="en-US" dirty="0"/>
              <a:t>--window-pi: outputs mean diversity per window</a:t>
            </a:r>
          </a:p>
          <a:p>
            <a:r>
              <a:rPr lang="en-US" dirty="0"/>
              <a:t>--weir-</a:t>
            </a:r>
            <a:r>
              <a:rPr lang="en-US" dirty="0" err="1"/>
              <a:t>fst</a:t>
            </a:r>
            <a:r>
              <a:rPr lang="en-US" dirty="0"/>
              <a:t>-pop: most likely to be used here, outputs pairwise FST for a given pair (or more) of populations, input is a list (like --keep), output to command line includes genome-wide mean, output file has site or window based FST</a:t>
            </a:r>
          </a:p>
          <a:p>
            <a:r>
              <a:rPr lang="en-US" dirty="0"/>
              <a:t>Example: </a:t>
            </a:r>
            <a:r>
              <a:rPr lang="en-US" dirty="0" err="1"/>
              <a:t>vcftools</a:t>
            </a:r>
            <a:r>
              <a:rPr lang="en-US" dirty="0"/>
              <a:t> --</a:t>
            </a:r>
            <a:r>
              <a:rPr lang="en-US" dirty="0" err="1"/>
              <a:t>vcf</a:t>
            </a:r>
            <a:r>
              <a:rPr lang="en-US" dirty="0"/>
              <a:t> samples.vcf --recode --max-missing 0.75 --mix-alleles 2 --max-alleles 2 --weir-</a:t>
            </a:r>
            <a:r>
              <a:rPr lang="en-US" dirty="0" err="1"/>
              <a:t>fst</a:t>
            </a:r>
            <a:r>
              <a:rPr lang="en-US" dirty="0"/>
              <a:t>-pop pop1_list --weir-fast-pop pop2_list --not-</a:t>
            </a:r>
            <a:r>
              <a:rPr lang="en-US" dirty="0" err="1"/>
              <a:t>chrom</a:t>
            </a:r>
            <a:r>
              <a:rPr lang="en-US" dirty="0"/>
              <a:t> </a:t>
            </a:r>
            <a:r>
              <a:rPr lang="en-US" dirty="0" err="1"/>
              <a:t>Z_chrom</a:t>
            </a:r>
            <a:r>
              <a:rPr lang="en-US" dirty="0"/>
              <a:t> --out path/to/</a:t>
            </a:r>
            <a:r>
              <a:rPr lang="en-US" dirty="0" err="1"/>
              <a:t>output_stem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173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D7957-1845-08C1-2479-F1711CF72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738AA-4B0F-3415-311E-618A9DFC4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SNPfiltR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23AEC-BAF4-5FB7-16EE-5EFE29456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807" y="1825625"/>
            <a:ext cx="5687122" cy="4898560"/>
          </a:xfrm>
        </p:spPr>
        <p:txBody>
          <a:bodyPr>
            <a:normAutofit/>
          </a:bodyPr>
          <a:lstStyle/>
          <a:p>
            <a:r>
              <a:rPr lang="en-US" sz="2400" dirty="0"/>
              <a:t>A very helpful exploratory tool for filtering, we will not be using it here unless we have time at the end, but I recommend looking into it for exploring your own data (at least for </a:t>
            </a:r>
            <a:r>
              <a:rPr lang="en-US" sz="2400" dirty="0" err="1"/>
              <a:t>RADseq</a:t>
            </a:r>
            <a:r>
              <a:rPr lang="en-US" sz="2400" dirty="0"/>
              <a:t>): https://devonderaad.github.io/SNPfiltR/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12B0C2-3B96-AB50-D611-C5B5552BE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279" y="1304847"/>
            <a:ext cx="6351721" cy="42483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93CF93-309E-4822-0B1F-CF53B52D3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71" y="4092497"/>
            <a:ext cx="5152177" cy="263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482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2849</TotalTime>
  <Words>981</Words>
  <Application>Microsoft Office PowerPoint</Application>
  <PresentationFormat>Widescreen</PresentationFormat>
  <Paragraphs>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Abadi</vt:lpstr>
      <vt:lpstr>Aharoni</vt:lpstr>
      <vt:lpstr>Aptos</vt:lpstr>
      <vt:lpstr>Aptos Display</vt:lpstr>
      <vt:lpstr>Arial</vt:lpstr>
      <vt:lpstr>Office Theme</vt:lpstr>
      <vt:lpstr>Making and filtering output</vt:lpstr>
      <vt:lpstr>VCF: the baseline for pop gen</vt:lpstr>
      <vt:lpstr>Stacks populations</vt:lpstr>
      <vt:lpstr>Common filters</vt:lpstr>
      <vt:lpstr>Common outputs</vt:lpstr>
      <vt:lpstr>Running populations</vt:lpstr>
      <vt:lpstr>Running populations</vt:lpstr>
      <vt:lpstr>Moving populations output</vt:lpstr>
      <vt:lpstr>VCFtools</vt:lpstr>
      <vt:lpstr>VCFtools</vt:lpstr>
      <vt:lpstr>Common VCFtools SNP filters</vt:lpstr>
      <vt:lpstr>Common VCFtools individual filters</vt:lpstr>
      <vt:lpstr>Common VCFtools outputs</vt:lpstr>
      <vt:lpstr>SNPfiltR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Gyllenhaal</dc:creator>
  <cp:lastModifiedBy>Ethan Gyllenhaal</cp:lastModifiedBy>
  <cp:revision>625</cp:revision>
  <dcterms:created xsi:type="dcterms:W3CDTF">2026-07-08T01:44:49Z</dcterms:created>
  <dcterms:modified xsi:type="dcterms:W3CDTF">2026-07-20T11:43:55Z</dcterms:modified>
</cp:coreProperties>
</file>