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316" r:id="rId11"/>
    <p:sldId id="281" r:id="rId12"/>
    <p:sldId id="288" r:id="rId13"/>
    <p:sldId id="289" r:id="rId14"/>
    <p:sldId id="290" r:id="rId15"/>
    <p:sldId id="311" r:id="rId16"/>
    <p:sldId id="31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83" autoAdjust="0"/>
  </p:normalViewPr>
  <p:slideViewPr>
    <p:cSldViewPr snapToGrid="0">
      <p:cViewPr varScale="1">
        <p:scale>
          <a:sx n="69" d="100"/>
          <a:sy n="69" d="100"/>
        </p:scale>
        <p:origin x="64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EDAD82-4A91-4FCD-8377-229631DED7F6}"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BE17A-011E-42C8-B886-9AAF15091A83}" type="slidenum">
              <a:rPr lang="en-US" smtClean="0"/>
              <a:t>‹#›</a:t>
            </a:fld>
            <a:endParaRPr lang="en-US"/>
          </a:p>
        </p:txBody>
      </p:sp>
    </p:spTree>
    <p:extLst>
      <p:ext uri="{BB962C8B-B14F-4D97-AF65-F5344CB8AC3E}">
        <p14:creationId xmlns:p14="http://schemas.microsoft.com/office/powerpoint/2010/main" val="2995966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BBE17A-011E-42C8-B886-9AAF15091A83}" type="slidenum">
              <a:rPr lang="en-US" smtClean="0"/>
              <a:t>5</a:t>
            </a:fld>
            <a:endParaRPr lang="en-US"/>
          </a:p>
        </p:txBody>
      </p:sp>
    </p:spTree>
    <p:extLst>
      <p:ext uri="{BB962C8B-B14F-4D97-AF65-F5344CB8AC3E}">
        <p14:creationId xmlns:p14="http://schemas.microsoft.com/office/powerpoint/2010/main" val="764698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03C9C-2ED6-07E2-5187-63CCB8E968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1D277A-038B-673F-4627-ADF83DE4C0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642BEB-104C-39ED-7273-6BDF73559F7D}"/>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FBAF42A1-DB42-5F71-7EDA-C82442E0D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23A78-E333-71CD-2D41-FCA8444F3211}"/>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3319228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97225-767F-C323-5C43-E544A73C38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482BBC-A2A3-E886-0002-300022D493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ABD229-AF2F-0677-327E-8DAF0AE5F1CF}"/>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89189CE4-29FC-FC2B-3B3C-9F22D1AB70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30D58C-9177-8E3B-7CD7-CC6F2EB40AEC}"/>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337965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200DE-C7AC-CEE1-5C67-BAF1E4B3EC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A99492-F707-0AF1-90A2-0D010D1BFD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498528-6399-C1CC-1E0F-750B84AB49E4}"/>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16E49D72-0B87-711C-2F2B-F736FE0D67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5FE287-9188-0985-0DD5-FCBE672614FC}"/>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507478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78880-F7AB-A1AF-BA71-32BC25F003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BECC1-A04F-BE53-BAE3-287D478DD0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8F2504-8519-1D66-087A-D6410690B7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3E88D8-4C57-2D0B-FBE1-0C4D3A16F52B}"/>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6" name="Footer Placeholder 5">
            <a:extLst>
              <a:ext uri="{FF2B5EF4-FFF2-40B4-BE49-F238E27FC236}">
                <a16:creationId xmlns:a16="http://schemas.microsoft.com/office/drawing/2014/main" id="{79D8E72A-5DC1-BE0E-DD96-81577DFFEB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5A0AF2-98A4-2E7D-BC56-365F78FBEEF4}"/>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3685689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68984-04BA-5449-9B81-A909A0FBCE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051707-BFD4-6B46-E020-7F1BE906BB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9B8FA0-FBD2-C0DC-57EF-56268657D6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BC8736-2EAD-0683-5FFF-93AD48D03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C52C8A-01FC-253F-1170-AC3F51B8CB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AA93B8-9E72-3054-6CCD-85CCB4139829}"/>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8" name="Footer Placeholder 7">
            <a:extLst>
              <a:ext uri="{FF2B5EF4-FFF2-40B4-BE49-F238E27FC236}">
                <a16:creationId xmlns:a16="http://schemas.microsoft.com/office/drawing/2014/main" id="{0079AFD3-5A50-72DC-3B44-B15257DF7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C6A861-2F50-63FB-41E4-20BCF707153F}"/>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1215093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DEE4F-DDD0-3508-D3FD-23721D711F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BCA520-90D2-5900-2CE8-8297A56E197F}"/>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4" name="Footer Placeholder 3">
            <a:extLst>
              <a:ext uri="{FF2B5EF4-FFF2-40B4-BE49-F238E27FC236}">
                <a16:creationId xmlns:a16="http://schemas.microsoft.com/office/drawing/2014/main" id="{E790712D-2C92-E280-8039-56B32AAFEF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E1E025-E056-74C6-D982-FADD49F6E512}"/>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3809149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700ADF-7189-4746-5A27-5534D9BC4BC0}"/>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3" name="Footer Placeholder 2">
            <a:extLst>
              <a:ext uri="{FF2B5EF4-FFF2-40B4-BE49-F238E27FC236}">
                <a16:creationId xmlns:a16="http://schemas.microsoft.com/office/drawing/2014/main" id="{333677B9-E138-21A2-28C3-23E66257A0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7513E7-BD02-0CC6-2312-A81C6CD18560}"/>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861756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24B5-B629-E352-2A5C-A65764C332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D223BE-33E6-0EEF-B15C-D85FFEA18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EB9F4E-9B72-2DFB-F832-4CCCE235C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5FD08E-23DC-D49B-6243-34BE241CEBD9}"/>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6" name="Footer Placeholder 5">
            <a:extLst>
              <a:ext uri="{FF2B5EF4-FFF2-40B4-BE49-F238E27FC236}">
                <a16:creationId xmlns:a16="http://schemas.microsoft.com/office/drawing/2014/main" id="{6AC684A2-5407-A704-920F-6B8B94194A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FACE16-2690-3C6D-FCA4-C3E7AA72402F}"/>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980896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8B66A-737B-CBDE-519F-387170E2AD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77FBC2-B41F-501A-708B-F32B24FA76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3E5A01-1E6C-775F-E6D0-D65B75A423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07599-0952-FB31-3856-C45A37800023}"/>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6" name="Footer Placeholder 5">
            <a:extLst>
              <a:ext uri="{FF2B5EF4-FFF2-40B4-BE49-F238E27FC236}">
                <a16:creationId xmlns:a16="http://schemas.microsoft.com/office/drawing/2014/main" id="{93112A0D-C317-E1A4-EABA-1FDF1F3802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8A2969-6900-ADA2-9316-D9A2945E1353}"/>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464660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86A61-148E-387F-5384-06C3FAA6B8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7D8F97-629D-244A-1A23-1DBABEDABC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9599E9-2437-4F8D-6202-FD0DBCD984A0}"/>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B34D7D28-26E7-CF93-4879-24F3238A90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3F103-F0C1-095C-A68F-81CD223A4E84}"/>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1852872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69002C-7B52-4611-B2BF-C1BF37DF3E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2D7E27-91D1-BD36-1CE2-232F9A1D00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7D49C-FBFA-8F27-ADE4-2B725E15148C}"/>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D4696545-C681-2F33-6F91-FF65A9C0A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20622C-1851-4647-7DB2-1675CABF79E6}"/>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390989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45A00-E370-A361-4157-93A5BEA919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066534-883C-7F46-5FE7-D1017D4C54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DCD54F-879E-01CE-4AA2-15688F79AC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09C1E8BD-15BC-B84B-9F33-6B985724EE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C1E012D-9AEF-ECEB-9F79-C10A55537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C4012-88BB-4B98-8AE4-2BB8371F6952}" type="slidenum">
              <a:rPr lang="en-US" smtClean="0"/>
              <a:t>‹#›</a:t>
            </a:fld>
            <a:endParaRPr lang="en-US"/>
          </a:p>
        </p:txBody>
      </p:sp>
    </p:spTree>
    <p:extLst>
      <p:ext uri="{BB962C8B-B14F-4D97-AF65-F5344CB8AC3E}">
        <p14:creationId xmlns:p14="http://schemas.microsoft.com/office/powerpoint/2010/main" val="2186575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9B03F-C091-E144-388E-E639BA357483}"/>
              </a:ext>
            </a:extLst>
          </p:cNvPr>
          <p:cNvSpPr>
            <a:spLocks noGrp="1"/>
          </p:cNvSpPr>
          <p:nvPr>
            <p:ph type="ctrTitle"/>
          </p:nvPr>
        </p:nvSpPr>
        <p:spPr/>
        <p:txBody>
          <a:bodyPr>
            <a:normAutofit/>
          </a:bodyPr>
          <a:lstStyle/>
          <a:p>
            <a:r>
              <a:rPr lang="en-US" sz="7200" dirty="0">
                <a:latin typeface="Aharoni" panose="02010803020104030203" pitchFamily="2" charset="-79"/>
                <a:cs typeface="Aharoni" panose="02010803020104030203" pitchFamily="2" charset="-79"/>
              </a:rPr>
              <a:t>Examining and aligning reads</a:t>
            </a:r>
          </a:p>
        </p:txBody>
      </p:sp>
      <p:sp>
        <p:nvSpPr>
          <p:cNvPr id="3" name="Subtitle 2">
            <a:extLst>
              <a:ext uri="{FF2B5EF4-FFF2-40B4-BE49-F238E27FC236}">
                <a16:creationId xmlns:a16="http://schemas.microsoft.com/office/drawing/2014/main" id="{7FBA0D4C-299D-E73D-F102-E7B2B50F1816}"/>
              </a:ext>
            </a:extLst>
          </p:cNvPr>
          <p:cNvSpPr>
            <a:spLocks noGrp="1"/>
          </p:cNvSpPr>
          <p:nvPr>
            <p:ph type="subTitle" idx="1"/>
          </p:nvPr>
        </p:nvSpPr>
        <p:spPr/>
        <p:txBody>
          <a:bodyPr/>
          <a:lstStyle/>
          <a:p>
            <a:r>
              <a:rPr lang="en-US" dirty="0">
                <a:latin typeface="Abadi" panose="020B0604020104020204" pitchFamily="34" charset="0"/>
              </a:rPr>
              <a:t>USP </a:t>
            </a:r>
            <a:r>
              <a:rPr lang="en-US" dirty="0" err="1">
                <a:latin typeface="Abadi" panose="020B0604020104020204" pitchFamily="34" charset="0"/>
              </a:rPr>
              <a:t>RADseq</a:t>
            </a:r>
            <a:r>
              <a:rPr lang="en-US" dirty="0">
                <a:latin typeface="Abadi" panose="020B0604020104020204" pitchFamily="34" charset="0"/>
              </a:rPr>
              <a:t> Workshop</a:t>
            </a:r>
          </a:p>
          <a:p>
            <a:r>
              <a:rPr lang="en-US" dirty="0">
                <a:latin typeface="Abadi" panose="020B0604020104020204" pitchFamily="34" charset="0"/>
              </a:rPr>
              <a:t>July 2026</a:t>
            </a:r>
          </a:p>
        </p:txBody>
      </p:sp>
    </p:spTree>
    <p:extLst>
      <p:ext uri="{BB962C8B-B14F-4D97-AF65-F5344CB8AC3E}">
        <p14:creationId xmlns:p14="http://schemas.microsoft.com/office/powerpoint/2010/main" val="1286170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C8C45-9FE0-D060-07DA-680C7A1B506E}"/>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What is a read?</a:t>
            </a:r>
          </a:p>
        </p:txBody>
      </p:sp>
      <p:sp>
        <p:nvSpPr>
          <p:cNvPr id="3" name="Content Placeholder 2">
            <a:extLst>
              <a:ext uri="{FF2B5EF4-FFF2-40B4-BE49-F238E27FC236}">
                <a16:creationId xmlns:a16="http://schemas.microsoft.com/office/drawing/2014/main" id="{12CB6EFC-6FD6-EEC0-89DC-56DD7A7E343C}"/>
              </a:ext>
            </a:extLst>
          </p:cNvPr>
          <p:cNvSpPr>
            <a:spLocks noGrp="1"/>
          </p:cNvSpPr>
          <p:nvPr>
            <p:ph idx="1"/>
          </p:nvPr>
        </p:nvSpPr>
        <p:spPr>
          <a:xfrm>
            <a:off x="838200" y="1825625"/>
            <a:ext cx="5410669" cy="4898560"/>
          </a:xfrm>
        </p:spPr>
        <p:txBody>
          <a:bodyPr>
            <a:normAutofit/>
          </a:bodyPr>
          <a:lstStyle/>
          <a:p>
            <a:r>
              <a:rPr lang="en-US" dirty="0">
                <a:latin typeface="Abadi" panose="020B0604020104020204" pitchFamily="34" charset="0"/>
              </a:rPr>
              <a:t>It is the data the sequencer outputs composed of 3 lines</a:t>
            </a:r>
          </a:p>
          <a:p>
            <a:pPr marL="914400" lvl="1" indent="-457200">
              <a:buFont typeface="+mj-lt"/>
              <a:buAutoNum type="arabicPeriod"/>
            </a:pPr>
            <a:r>
              <a:rPr lang="en-US" dirty="0">
                <a:latin typeface="Abadi" panose="020B0604020104020204" pitchFamily="34" charset="0"/>
              </a:rPr>
              <a:t>Identifier</a:t>
            </a:r>
          </a:p>
          <a:p>
            <a:pPr marL="914400" lvl="1" indent="-457200">
              <a:buFont typeface="+mj-lt"/>
              <a:buAutoNum type="arabicPeriod"/>
            </a:pPr>
            <a:r>
              <a:rPr lang="en-US" dirty="0">
                <a:latin typeface="Abadi" panose="020B0604020104020204" pitchFamily="34" charset="0"/>
              </a:rPr>
              <a:t>Sequence</a:t>
            </a:r>
          </a:p>
          <a:p>
            <a:pPr marL="914400" lvl="1" indent="-457200">
              <a:buFont typeface="+mj-lt"/>
              <a:buAutoNum type="arabicPeriod"/>
            </a:pPr>
            <a:r>
              <a:rPr lang="en-US" dirty="0">
                <a:latin typeface="Abadi" panose="020B0604020104020204" pitchFamily="34" charset="0"/>
              </a:rPr>
              <a:t>+</a:t>
            </a:r>
          </a:p>
          <a:p>
            <a:pPr marL="914400" lvl="1" indent="-457200">
              <a:buFont typeface="+mj-lt"/>
              <a:buAutoNum type="arabicPeriod"/>
            </a:pPr>
            <a:r>
              <a:rPr lang="en-US" dirty="0">
                <a:latin typeface="Abadi" panose="020B0604020104020204" pitchFamily="34" charset="0"/>
              </a:rPr>
              <a:t>Quality scores</a:t>
            </a:r>
          </a:p>
          <a:p>
            <a:r>
              <a:rPr lang="en-US" dirty="0">
                <a:latin typeface="Abadi" panose="020B0604020104020204" pitchFamily="34" charset="0"/>
              </a:rPr>
              <a:t>Sequence is what is aligned to reference/assembled, quality scores inform is</a:t>
            </a:r>
          </a:p>
          <a:p>
            <a:r>
              <a:rPr lang="en-US" dirty="0">
                <a:latin typeface="Abadi" panose="020B0604020104020204" pitchFamily="34" charset="0"/>
              </a:rPr>
              <a:t>Consistent 4 lines lets us count reads easily</a:t>
            </a:r>
          </a:p>
        </p:txBody>
      </p:sp>
      <p:pic>
        <p:nvPicPr>
          <p:cNvPr id="8" name="Picture 7">
            <a:extLst>
              <a:ext uri="{FF2B5EF4-FFF2-40B4-BE49-F238E27FC236}">
                <a16:creationId xmlns:a16="http://schemas.microsoft.com/office/drawing/2014/main" id="{951698FF-9757-EF66-6C3F-AEDB4F66F67E}"/>
              </a:ext>
            </a:extLst>
          </p:cNvPr>
          <p:cNvPicPr>
            <a:picLocks noChangeAspect="1"/>
          </p:cNvPicPr>
          <p:nvPr/>
        </p:nvPicPr>
        <p:blipFill>
          <a:blip r:embed="rId2"/>
          <a:stretch>
            <a:fillRect/>
          </a:stretch>
        </p:blipFill>
        <p:spPr>
          <a:xfrm>
            <a:off x="6096000" y="1507407"/>
            <a:ext cx="6027288" cy="4213167"/>
          </a:xfrm>
          <a:prstGeom prst="rect">
            <a:avLst/>
          </a:prstGeom>
        </p:spPr>
      </p:pic>
    </p:spTree>
    <p:extLst>
      <p:ext uri="{BB962C8B-B14F-4D97-AF65-F5344CB8AC3E}">
        <p14:creationId xmlns:p14="http://schemas.microsoft.com/office/powerpoint/2010/main" val="273399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8D797-A2F4-4D1A-BBD0-DA3FBF8F2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28F9F-F2D3-A0F5-8125-178BF64C9697}"/>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Counting reads</a:t>
            </a:r>
          </a:p>
        </p:txBody>
      </p:sp>
      <p:sp>
        <p:nvSpPr>
          <p:cNvPr id="3" name="Content Placeholder 2">
            <a:extLst>
              <a:ext uri="{FF2B5EF4-FFF2-40B4-BE49-F238E27FC236}">
                <a16:creationId xmlns:a16="http://schemas.microsoft.com/office/drawing/2014/main" id="{47FE987F-1C08-5C39-18FE-88C9F978DCFC}"/>
              </a:ext>
            </a:extLst>
          </p:cNvPr>
          <p:cNvSpPr>
            <a:spLocks noGrp="1"/>
          </p:cNvSpPr>
          <p:nvPr>
            <p:ph idx="1"/>
          </p:nvPr>
        </p:nvSpPr>
        <p:spPr>
          <a:xfrm>
            <a:off x="838200" y="1825625"/>
            <a:ext cx="11227420" cy="4898560"/>
          </a:xfrm>
        </p:spPr>
        <p:txBody>
          <a:bodyPr>
            <a:normAutofit/>
          </a:bodyPr>
          <a:lstStyle/>
          <a:p>
            <a:r>
              <a:rPr lang="en-US" dirty="0">
                <a:latin typeface="Abadi" panose="020B0604020104020204" pitchFamily="34" charset="0"/>
              </a:rPr>
              <a:t>Read files are compressed (made smaller but not human readable) with </a:t>
            </a:r>
            <a:r>
              <a:rPr lang="en-US" b="1" dirty="0" err="1">
                <a:solidFill>
                  <a:schemeClr val="accent6"/>
                </a:solidFill>
                <a:latin typeface="Abadi" panose="020B0604020104020204" pitchFamily="34" charset="0"/>
              </a:rPr>
              <a:t>gzip</a:t>
            </a:r>
            <a:endParaRPr lang="en-US" b="1" dirty="0">
              <a:solidFill>
                <a:schemeClr val="accent6"/>
              </a:solidFill>
              <a:latin typeface="Abadi" panose="020B0604020104020204" pitchFamily="34" charset="0"/>
            </a:endParaRPr>
          </a:p>
          <a:p>
            <a:r>
              <a:rPr lang="en-US" dirty="0">
                <a:latin typeface="Abadi" panose="020B0604020104020204" pitchFamily="34" charset="0"/>
              </a:rPr>
              <a:t>Tools like </a:t>
            </a:r>
            <a:r>
              <a:rPr lang="en-US" b="1" dirty="0" err="1">
                <a:solidFill>
                  <a:schemeClr val="accent6"/>
                </a:solidFill>
                <a:latin typeface="Abadi" panose="020B0604020104020204" pitchFamily="34" charset="0"/>
              </a:rPr>
              <a:t>z</a:t>
            </a:r>
            <a:r>
              <a:rPr lang="en-US" dirty="0" err="1">
                <a:latin typeface="Abadi" panose="020B0604020104020204" pitchFamily="34" charset="0"/>
              </a:rPr>
              <a:t>cat</a:t>
            </a:r>
            <a:r>
              <a:rPr lang="en-US" dirty="0">
                <a:latin typeface="Abadi" panose="020B0604020104020204" pitchFamily="34" charset="0"/>
              </a:rPr>
              <a:t> and </a:t>
            </a:r>
            <a:r>
              <a:rPr lang="en-US" b="1" dirty="0" err="1">
                <a:solidFill>
                  <a:schemeClr val="accent6"/>
                </a:solidFill>
                <a:latin typeface="Abadi" panose="020B0604020104020204" pitchFamily="34" charset="0"/>
              </a:rPr>
              <a:t>z</a:t>
            </a:r>
            <a:r>
              <a:rPr lang="en-US" dirty="0" err="1">
                <a:latin typeface="Abadi" panose="020B0604020104020204" pitchFamily="34" charset="0"/>
              </a:rPr>
              <a:t>less</a:t>
            </a:r>
            <a:r>
              <a:rPr lang="en-US" dirty="0">
                <a:latin typeface="Abadi" panose="020B0604020104020204" pitchFamily="34" charset="0"/>
              </a:rPr>
              <a:t> look at compressed files</a:t>
            </a:r>
          </a:p>
          <a:p>
            <a:r>
              <a:rPr lang="en-US" b="1" dirty="0">
                <a:solidFill>
                  <a:schemeClr val="accent6"/>
                </a:solidFill>
                <a:latin typeface="Abadi" panose="020B0604020104020204" pitchFamily="34" charset="0"/>
              </a:rPr>
              <a:t>cat</a:t>
            </a:r>
            <a:r>
              <a:rPr lang="en-US" dirty="0">
                <a:latin typeface="Abadi" panose="020B0604020104020204" pitchFamily="34" charset="0"/>
              </a:rPr>
              <a:t> commands spit ALL lines of a file into output</a:t>
            </a:r>
          </a:p>
          <a:p>
            <a:r>
              <a:rPr lang="en-US" dirty="0">
                <a:latin typeface="Abadi" panose="020B0604020104020204" pitchFamily="34" charset="0"/>
              </a:rPr>
              <a:t>The </a:t>
            </a:r>
            <a:r>
              <a:rPr lang="en-US" b="1" dirty="0">
                <a:solidFill>
                  <a:schemeClr val="accent6"/>
                </a:solidFill>
                <a:latin typeface="Abadi" panose="020B0604020104020204" pitchFamily="34" charset="0"/>
              </a:rPr>
              <a:t>w</a:t>
            </a:r>
            <a:r>
              <a:rPr lang="en-US" dirty="0">
                <a:latin typeface="Abadi" panose="020B0604020104020204" pitchFamily="34" charset="0"/>
              </a:rPr>
              <a:t>ord </a:t>
            </a:r>
            <a:r>
              <a:rPr lang="en-US" b="1" dirty="0">
                <a:solidFill>
                  <a:schemeClr val="accent6"/>
                </a:solidFill>
                <a:latin typeface="Abadi" panose="020B0604020104020204" pitchFamily="34" charset="0"/>
              </a:rPr>
              <a:t>c</a:t>
            </a:r>
            <a:r>
              <a:rPr lang="en-US" dirty="0">
                <a:latin typeface="Abadi" panose="020B0604020104020204" pitchFamily="34" charset="0"/>
              </a:rPr>
              <a:t>ount command with the line option, </a:t>
            </a:r>
            <a:r>
              <a:rPr lang="en-US" b="1" dirty="0" err="1">
                <a:solidFill>
                  <a:schemeClr val="accent6"/>
                </a:solidFill>
                <a:latin typeface="Abadi" panose="020B0604020104020204" pitchFamily="34" charset="0"/>
              </a:rPr>
              <a:t>wc</a:t>
            </a:r>
            <a:r>
              <a:rPr lang="en-US" b="1" dirty="0">
                <a:solidFill>
                  <a:schemeClr val="accent6"/>
                </a:solidFill>
                <a:latin typeface="Abadi" panose="020B0604020104020204" pitchFamily="34" charset="0"/>
              </a:rPr>
              <a:t> -l</a:t>
            </a:r>
            <a:r>
              <a:rPr lang="en-US" dirty="0">
                <a:latin typeface="Abadi" panose="020B0604020104020204" pitchFamily="34" charset="0"/>
              </a:rPr>
              <a:t>, lets us count the number of lines in a file</a:t>
            </a:r>
          </a:p>
          <a:p>
            <a:r>
              <a:rPr lang="en-US" dirty="0">
                <a:latin typeface="Abadi" panose="020B0604020104020204" pitchFamily="34" charset="0"/>
              </a:rPr>
              <a:t>Combine them and get the number of lines in read file, divide by 4 for the actual read count (if people get ahead, incorporate that yourself!)</a:t>
            </a:r>
          </a:p>
          <a:p>
            <a:endParaRPr lang="en-US" dirty="0">
              <a:latin typeface="Abadi" panose="020B0604020104020204" pitchFamily="34" charset="0"/>
            </a:endParaRPr>
          </a:p>
        </p:txBody>
      </p:sp>
      <p:pic>
        <p:nvPicPr>
          <p:cNvPr id="5" name="Picture 4">
            <a:extLst>
              <a:ext uri="{FF2B5EF4-FFF2-40B4-BE49-F238E27FC236}">
                <a16:creationId xmlns:a16="http://schemas.microsoft.com/office/drawing/2014/main" id="{3B9447D2-84B4-AB29-BE85-769093D22D69}"/>
              </a:ext>
            </a:extLst>
          </p:cNvPr>
          <p:cNvPicPr>
            <a:picLocks noChangeAspect="1"/>
          </p:cNvPicPr>
          <p:nvPr/>
        </p:nvPicPr>
        <p:blipFill>
          <a:blip r:embed="rId2"/>
          <a:stretch>
            <a:fillRect/>
          </a:stretch>
        </p:blipFill>
        <p:spPr>
          <a:xfrm>
            <a:off x="1662098" y="5721395"/>
            <a:ext cx="8867803" cy="1002790"/>
          </a:xfrm>
          <a:prstGeom prst="rect">
            <a:avLst/>
          </a:prstGeom>
        </p:spPr>
      </p:pic>
    </p:spTree>
    <p:extLst>
      <p:ext uri="{BB962C8B-B14F-4D97-AF65-F5344CB8AC3E}">
        <p14:creationId xmlns:p14="http://schemas.microsoft.com/office/powerpoint/2010/main" val="1893642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919F-8DCC-41FD-278F-7EDC186B3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53D71-6FCC-B034-086A-97EF21DDB200}"/>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Loops</a:t>
            </a:r>
          </a:p>
        </p:txBody>
      </p:sp>
      <p:sp>
        <p:nvSpPr>
          <p:cNvPr id="3" name="Content Placeholder 2">
            <a:extLst>
              <a:ext uri="{FF2B5EF4-FFF2-40B4-BE49-F238E27FC236}">
                <a16:creationId xmlns:a16="http://schemas.microsoft.com/office/drawing/2014/main" id="{906E3688-18B6-230C-9982-CB2F3D9C9105}"/>
              </a:ext>
            </a:extLst>
          </p:cNvPr>
          <p:cNvSpPr>
            <a:spLocks noGrp="1"/>
          </p:cNvSpPr>
          <p:nvPr>
            <p:ph idx="1"/>
          </p:nvPr>
        </p:nvSpPr>
        <p:spPr>
          <a:xfrm>
            <a:off x="838200" y="1825625"/>
            <a:ext cx="11227420" cy="4898560"/>
          </a:xfrm>
        </p:spPr>
        <p:txBody>
          <a:bodyPr>
            <a:normAutofit/>
          </a:bodyPr>
          <a:lstStyle/>
          <a:p>
            <a:r>
              <a:rPr lang="en-US" dirty="0">
                <a:latin typeface="Abadi" panose="020B0604020104020204" pitchFamily="34" charset="0"/>
              </a:rPr>
              <a:t>Common in all programming languages, how to code repetitive </a:t>
            </a:r>
            <a:r>
              <a:rPr lang="en-US" dirty="0" err="1">
                <a:latin typeface="Abadi" panose="020B0604020104020204" pitchFamily="34" charset="0"/>
              </a:rPr>
              <a:t>taks</a:t>
            </a:r>
            <a:r>
              <a:rPr lang="en-US" dirty="0">
                <a:latin typeface="Abadi" panose="020B0604020104020204" pitchFamily="34" charset="0"/>
              </a:rPr>
              <a:t> without parallelization</a:t>
            </a:r>
          </a:p>
          <a:p>
            <a:r>
              <a:rPr lang="en-US" dirty="0">
                <a:latin typeface="Abadi" panose="020B0604020104020204" pitchFamily="34" charset="0"/>
              </a:rPr>
              <a:t>Basic syntax is: </a:t>
            </a:r>
            <a:r>
              <a:rPr lang="en-US" b="1" dirty="0">
                <a:solidFill>
                  <a:schemeClr val="accent6"/>
                </a:solidFill>
                <a:latin typeface="Abadi" panose="020B0604020104020204" pitchFamily="34" charset="0"/>
              </a:rPr>
              <a:t>for [iterator]; do command; done</a:t>
            </a:r>
          </a:p>
          <a:p>
            <a:endParaRPr lang="en-US" dirty="0">
              <a:latin typeface="Abadi" panose="020B0604020104020204" pitchFamily="34" charset="0"/>
            </a:endParaRPr>
          </a:p>
        </p:txBody>
      </p:sp>
      <p:pic>
        <p:nvPicPr>
          <p:cNvPr id="6" name="Picture 5">
            <a:extLst>
              <a:ext uri="{FF2B5EF4-FFF2-40B4-BE49-F238E27FC236}">
                <a16:creationId xmlns:a16="http://schemas.microsoft.com/office/drawing/2014/main" id="{DE5650C0-71B4-66E2-58D9-B1EB3E591AC1}"/>
              </a:ext>
            </a:extLst>
          </p:cNvPr>
          <p:cNvPicPr>
            <a:picLocks noChangeAspect="1"/>
          </p:cNvPicPr>
          <p:nvPr/>
        </p:nvPicPr>
        <p:blipFill>
          <a:blip r:embed="rId2"/>
          <a:stretch>
            <a:fillRect/>
          </a:stretch>
        </p:blipFill>
        <p:spPr>
          <a:xfrm>
            <a:off x="2520176" y="4250790"/>
            <a:ext cx="8181244" cy="2607209"/>
          </a:xfrm>
          <a:prstGeom prst="rect">
            <a:avLst/>
          </a:prstGeom>
        </p:spPr>
      </p:pic>
      <p:pic>
        <p:nvPicPr>
          <p:cNvPr id="8" name="Picture 7">
            <a:extLst>
              <a:ext uri="{FF2B5EF4-FFF2-40B4-BE49-F238E27FC236}">
                <a16:creationId xmlns:a16="http://schemas.microsoft.com/office/drawing/2014/main" id="{14E379FB-35F5-6D27-A6BD-E8D589E7CE5A}"/>
              </a:ext>
            </a:extLst>
          </p:cNvPr>
          <p:cNvPicPr>
            <a:picLocks noChangeAspect="1"/>
          </p:cNvPicPr>
          <p:nvPr/>
        </p:nvPicPr>
        <p:blipFill>
          <a:blip r:embed="rId3"/>
          <a:stretch>
            <a:fillRect/>
          </a:stretch>
        </p:blipFill>
        <p:spPr>
          <a:xfrm>
            <a:off x="1371483" y="3271949"/>
            <a:ext cx="9932081" cy="843903"/>
          </a:xfrm>
          <a:prstGeom prst="rect">
            <a:avLst/>
          </a:prstGeom>
        </p:spPr>
      </p:pic>
    </p:spTree>
    <p:extLst>
      <p:ext uri="{BB962C8B-B14F-4D97-AF65-F5344CB8AC3E}">
        <p14:creationId xmlns:p14="http://schemas.microsoft.com/office/powerpoint/2010/main" val="191651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6A9EA-1D3E-A282-C977-141F667A6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024B8-E3D4-EDC6-C064-CC5C015372F6}"/>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Loops</a:t>
            </a:r>
          </a:p>
        </p:txBody>
      </p:sp>
      <p:sp>
        <p:nvSpPr>
          <p:cNvPr id="3" name="Content Placeholder 2">
            <a:extLst>
              <a:ext uri="{FF2B5EF4-FFF2-40B4-BE49-F238E27FC236}">
                <a16:creationId xmlns:a16="http://schemas.microsoft.com/office/drawing/2014/main" id="{86030F9F-5AAC-0D9D-840D-12CCA400414A}"/>
              </a:ext>
            </a:extLst>
          </p:cNvPr>
          <p:cNvSpPr>
            <a:spLocks noGrp="1"/>
          </p:cNvSpPr>
          <p:nvPr>
            <p:ph idx="1"/>
          </p:nvPr>
        </p:nvSpPr>
        <p:spPr>
          <a:xfrm>
            <a:off x="838200" y="1825625"/>
            <a:ext cx="11227420" cy="4898560"/>
          </a:xfrm>
        </p:spPr>
        <p:txBody>
          <a:bodyPr>
            <a:normAutofit/>
          </a:bodyPr>
          <a:lstStyle/>
          <a:p>
            <a:r>
              <a:rPr lang="en-US" dirty="0">
                <a:latin typeface="Abadi" panose="020B0604020104020204" pitchFamily="34" charset="0"/>
              </a:rPr>
              <a:t>Combine this loop script with the read counting command (note that file extensions are different between datasets)</a:t>
            </a:r>
          </a:p>
          <a:p>
            <a:r>
              <a:rPr lang="en-US" dirty="0">
                <a:latin typeface="Abadi" panose="020B0604020104020204" pitchFamily="34" charset="0"/>
              </a:rPr>
              <a:t>Ideally output the sample names and read counts to a file</a:t>
            </a:r>
          </a:p>
        </p:txBody>
      </p:sp>
      <p:pic>
        <p:nvPicPr>
          <p:cNvPr id="5" name="Picture 4">
            <a:extLst>
              <a:ext uri="{FF2B5EF4-FFF2-40B4-BE49-F238E27FC236}">
                <a16:creationId xmlns:a16="http://schemas.microsoft.com/office/drawing/2014/main" id="{6774CBCB-B315-1CA5-8B9C-790A4B787FE0}"/>
              </a:ext>
            </a:extLst>
          </p:cNvPr>
          <p:cNvPicPr>
            <a:picLocks noChangeAspect="1"/>
          </p:cNvPicPr>
          <p:nvPr/>
        </p:nvPicPr>
        <p:blipFill>
          <a:blip r:embed="rId3"/>
          <a:stretch>
            <a:fillRect/>
          </a:stretch>
        </p:blipFill>
        <p:spPr>
          <a:xfrm>
            <a:off x="1068658" y="3429000"/>
            <a:ext cx="10054683" cy="2819222"/>
          </a:xfrm>
          <a:prstGeom prst="rect">
            <a:avLst/>
          </a:prstGeom>
        </p:spPr>
      </p:pic>
    </p:spTree>
    <p:extLst>
      <p:ext uri="{BB962C8B-B14F-4D97-AF65-F5344CB8AC3E}">
        <p14:creationId xmlns:p14="http://schemas.microsoft.com/office/powerpoint/2010/main" val="280852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FEE54-ACA0-F15D-D59B-772EF83FC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E25FF-3431-597F-7DD5-84E05F5745C3}"/>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Reference genome</a:t>
            </a:r>
          </a:p>
        </p:txBody>
      </p:sp>
      <p:sp>
        <p:nvSpPr>
          <p:cNvPr id="3" name="Content Placeholder 2">
            <a:extLst>
              <a:ext uri="{FF2B5EF4-FFF2-40B4-BE49-F238E27FC236}">
                <a16:creationId xmlns:a16="http://schemas.microsoft.com/office/drawing/2014/main" id="{75B1013A-B9DD-8958-3F12-35A8FCC7F1FA}"/>
              </a:ext>
            </a:extLst>
          </p:cNvPr>
          <p:cNvSpPr>
            <a:spLocks noGrp="1"/>
          </p:cNvSpPr>
          <p:nvPr>
            <p:ph idx="1"/>
          </p:nvPr>
        </p:nvSpPr>
        <p:spPr>
          <a:xfrm>
            <a:off x="838200" y="1825625"/>
            <a:ext cx="11227420" cy="4898560"/>
          </a:xfrm>
        </p:spPr>
        <p:txBody>
          <a:bodyPr>
            <a:normAutofit/>
          </a:bodyPr>
          <a:lstStyle/>
          <a:p>
            <a:r>
              <a:rPr lang="en-US" dirty="0">
                <a:latin typeface="Abadi" panose="020B0604020104020204" pitchFamily="34" charset="0"/>
              </a:rPr>
              <a:t>A list of sequence names and sequences like a </a:t>
            </a:r>
            <a:r>
              <a:rPr lang="en-US" dirty="0" err="1">
                <a:latin typeface="Abadi" panose="020B0604020104020204" pitchFamily="34" charset="0"/>
              </a:rPr>
              <a:t>fastq</a:t>
            </a:r>
            <a:r>
              <a:rPr lang="en-US" dirty="0">
                <a:latin typeface="Abadi" panose="020B0604020104020204" pitchFamily="34" charset="0"/>
              </a:rPr>
              <a:t>… just much larger</a:t>
            </a:r>
          </a:p>
          <a:p>
            <a:r>
              <a:rPr lang="en-US" dirty="0">
                <a:latin typeface="Abadi" panose="020B0604020104020204" pitchFamily="34" charset="0"/>
              </a:rPr>
              <a:t>View yours with </a:t>
            </a:r>
            <a:r>
              <a:rPr lang="en-US" b="1" dirty="0">
                <a:solidFill>
                  <a:schemeClr val="accent6"/>
                </a:solidFill>
                <a:latin typeface="Abadi" panose="020B0604020104020204" pitchFamily="34" charset="0"/>
              </a:rPr>
              <a:t>less</a:t>
            </a:r>
            <a:endParaRPr lang="en-US" dirty="0">
              <a:solidFill>
                <a:schemeClr val="accent6"/>
              </a:solidFill>
              <a:latin typeface="Abadi" panose="020B0604020104020204" pitchFamily="34" charset="0"/>
            </a:endParaRPr>
          </a:p>
          <a:p>
            <a:r>
              <a:rPr lang="en-US" dirty="0">
                <a:latin typeface="Abadi" panose="020B0604020104020204" pitchFamily="34" charset="0"/>
              </a:rPr>
              <a:t>If you haven’t already, load your </a:t>
            </a:r>
            <a:r>
              <a:rPr lang="en-US" dirty="0" err="1">
                <a:latin typeface="Abadi" panose="020B0604020104020204" pitchFamily="34" charset="0"/>
              </a:rPr>
              <a:t>conda</a:t>
            </a:r>
            <a:r>
              <a:rPr lang="en-US" dirty="0">
                <a:latin typeface="Abadi" panose="020B0604020104020204" pitchFamily="34" charset="0"/>
              </a:rPr>
              <a:t> environment (</a:t>
            </a:r>
            <a:r>
              <a:rPr lang="en-US" b="1" dirty="0" err="1">
                <a:solidFill>
                  <a:schemeClr val="accent6"/>
                </a:solidFill>
                <a:latin typeface="Abadi" panose="020B0604020104020204" pitchFamily="34" charset="0"/>
              </a:rPr>
              <a:t>conda</a:t>
            </a:r>
            <a:r>
              <a:rPr lang="en-US" b="1" dirty="0">
                <a:solidFill>
                  <a:schemeClr val="accent6"/>
                </a:solidFill>
                <a:latin typeface="Abadi" panose="020B0604020104020204" pitchFamily="34" charset="0"/>
              </a:rPr>
              <a:t> activate name-of-env</a:t>
            </a:r>
            <a:r>
              <a:rPr lang="en-US" dirty="0">
                <a:latin typeface="Abadi" panose="020B0604020104020204" pitchFamily="34" charset="0"/>
              </a:rPr>
              <a:t>)</a:t>
            </a:r>
          </a:p>
          <a:p>
            <a:r>
              <a:rPr lang="en-US" dirty="0">
                <a:latin typeface="Abadi" panose="020B0604020104020204" pitchFamily="34" charset="0"/>
              </a:rPr>
              <a:t>Index your reference by running this (takes about 20 minutes):</a:t>
            </a:r>
          </a:p>
          <a:p>
            <a:pPr marL="0" indent="0">
              <a:buNone/>
            </a:pPr>
            <a:r>
              <a:rPr lang="en-US" b="1" dirty="0">
                <a:solidFill>
                  <a:schemeClr val="accent6"/>
                </a:solidFill>
                <a:latin typeface="Abadi" panose="020B0604020104020204" pitchFamily="34" charset="0"/>
              </a:rPr>
              <a:t>bwa index </a:t>
            </a:r>
            <a:r>
              <a:rPr lang="en-US" b="1" dirty="0" err="1">
                <a:solidFill>
                  <a:schemeClr val="accent6"/>
                </a:solidFill>
                <a:latin typeface="Abadi" panose="020B0604020104020204" pitchFamily="34" charset="0"/>
              </a:rPr>
              <a:t>name_of_reference.fna</a:t>
            </a:r>
            <a:endParaRPr lang="en-US" b="1" dirty="0">
              <a:solidFill>
                <a:schemeClr val="accent6"/>
              </a:solidFill>
              <a:latin typeface="Abadi" panose="020B0604020104020204" pitchFamily="34" charset="0"/>
            </a:endParaRPr>
          </a:p>
          <a:p>
            <a:pPr marL="0" indent="0">
              <a:buNone/>
            </a:pPr>
            <a:endParaRPr lang="en-US" b="1" dirty="0">
              <a:solidFill>
                <a:schemeClr val="accent6"/>
              </a:solidFill>
              <a:latin typeface="Abadi" panose="020B0604020104020204" pitchFamily="34" charset="0"/>
            </a:endParaRPr>
          </a:p>
          <a:p>
            <a:pPr marL="0" indent="0">
              <a:buNone/>
            </a:pPr>
            <a:r>
              <a:rPr lang="en-US" b="1" dirty="0">
                <a:latin typeface="Abadi" panose="020B0604020104020204" pitchFamily="34" charset="0"/>
              </a:rPr>
              <a:t>While we wait, take a closer look at your population file, compare with your neighbors, and improve your read counting script</a:t>
            </a:r>
          </a:p>
        </p:txBody>
      </p:sp>
      <p:pic>
        <p:nvPicPr>
          <p:cNvPr id="6" name="Picture 5">
            <a:extLst>
              <a:ext uri="{FF2B5EF4-FFF2-40B4-BE49-F238E27FC236}">
                <a16:creationId xmlns:a16="http://schemas.microsoft.com/office/drawing/2014/main" id="{76BBF9B7-6EBC-7BE2-E843-DF9A5495BB0B}"/>
              </a:ext>
            </a:extLst>
          </p:cNvPr>
          <p:cNvPicPr>
            <a:picLocks noChangeAspect="1"/>
          </p:cNvPicPr>
          <p:nvPr/>
        </p:nvPicPr>
        <p:blipFill>
          <a:blip r:embed="rId2"/>
          <a:stretch>
            <a:fillRect/>
          </a:stretch>
        </p:blipFill>
        <p:spPr>
          <a:xfrm>
            <a:off x="658659" y="5117271"/>
            <a:ext cx="10874682" cy="548688"/>
          </a:xfrm>
          <a:prstGeom prst="rect">
            <a:avLst/>
          </a:prstGeom>
        </p:spPr>
      </p:pic>
    </p:spTree>
    <p:extLst>
      <p:ext uri="{BB962C8B-B14F-4D97-AF65-F5344CB8AC3E}">
        <p14:creationId xmlns:p14="http://schemas.microsoft.com/office/powerpoint/2010/main" val="87480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F58A4-620E-3458-9903-F77F23742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A0DE3-5D3D-8D53-DC61-3C01236F6ECA}"/>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Aligning to our reference</a:t>
            </a:r>
          </a:p>
        </p:txBody>
      </p:sp>
      <p:sp>
        <p:nvSpPr>
          <p:cNvPr id="3" name="Content Placeholder 2">
            <a:extLst>
              <a:ext uri="{FF2B5EF4-FFF2-40B4-BE49-F238E27FC236}">
                <a16:creationId xmlns:a16="http://schemas.microsoft.com/office/drawing/2014/main" id="{0DDBE3C1-6613-89D6-6F32-0ED04D00A78E}"/>
              </a:ext>
            </a:extLst>
          </p:cNvPr>
          <p:cNvSpPr>
            <a:spLocks noGrp="1"/>
          </p:cNvSpPr>
          <p:nvPr>
            <p:ph idx="1"/>
          </p:nvPr>
        </p:nvSpPr>
        <p:spPr>
          <a:xfrm>
            <a:off x="838200" y="1825625"/>
            <a:ext cx="11227420" cy="4898560"/>
          </a:xfrm>
        </p:spPr>
        <p:txBody>
          <a:bodyPr>
            <a:normAutofit/>
          </a:bodyPr>
          <a:lstStyle/>
          <a:p>
            <a:r>
              <a:rPr lang="en-US" b="1" dirty="0">
                <a:latin typeface="Abadi" panose="020B0604020104020204" pitchFamily="34" charset="0"/>
              </a:rPr>
              <a:t>This is the big step where we map all our sequence data to the reference genome using that index we just made</a:t>
            </a:r>
          </a:p>
          <a:p>
            <a:r>
              <a:rPr lang="en-US" b="1" dirty="0">
                <a:latin typeface="Abadi" panose="020B0604020104020204" pitchFamily="34" charset="0"/>
              </a:rPr>
              <a:t>The backbone for how we run this is very similar to the other loop</a:t>
            </a:r>
          </a:p>
          <a:p>
            <a:r>
              <a:rPr lang="en-US" b="1" dirty="0">
                <a:latin typeface="Abadi" panose="020B0604020104020204" pitchFamily="34" charset="0"/>
              </a:rPr>
              <a:t>Put the following in a bash script and start running it</a:t>
            </a:r>
          </a:p>
          <a:p>
            <a:pPr marL="0" indent="0">
              <a:buNone/>
            </a:pPr>
            <a:r>
              <a:rPr lang="en-US" sz="2400" b="1" dirty="0">
                <a:solidFill>
                  <a:schemeClr val="accent6"/>
                </a:solidFill>
                <a:latin typeface="Abadi" panose="020B0604020104020204" pitchFamily="34" charset="0"/>
              </a:rPr>
              <a:t>for sample in $(cat </a:t>
            </a:r>
            <a:r>
              <a:rPr lang="en-US" sz="2400" b="1" dirty="0" err="1">
                <a:solidFill>
                  <a:schemeClr val="accent6"/>
                </a:solidFill>
                <a:latin typeface="Abadi" panose="020B0604020104020204" pitchFamily="34" charset="0"/>
              </a:rPr>
              <a:t>sample_list_NAME</a:t>
            </a:r>
            <a:r>
              <a:rPr lang="en-US" sz="2400" b="1" dirty="0">
                <a:solidFill>
                  <a:schemeClr val="accent6"/>
                </a:solidFill>
                <a:latin typeface="Abadi" panose="020B0604020104020204" pitchFamily="34" charset="0"/>
              </a:rPr>
              <a:t>); do</a:t>
            </a:r>
          </a:p>
          <a:p>
            <a:pPr marL="457200" lvl="1" indent="0">
              <a:buNone/>
            </a:pPr>
            <a:r>
              <a:rPr lang="en-US" b="1" dirty="0">
                <a:solidFill>
                  <a:schemeClr val="accent6"/>
                </a:solidFill>
                <a:latin typeface="Abadi" panose="020B0604020104020204" pitchFamily="34" charset="0"/>
              </a:rPr>
              <a:t>bwa mem -t 2 -M </a:t>
            </a:r>
            <a:r>
              <a:rPr lang="en-US" b="1" dirty="0" err="1">
                <a:solidFill>
                  <a:schemeClr val="accent6"/>
                </a:solidFill>
                <a:latin typeface="Abadi" panose="020B0604020104020204" pitchFamily="34" charset="0"/>
              </a:rPr>
              <a:t>name_of_reference.fna</a:t>
            </a:r>
            <a:r>
              <a:rPr lang="en-US" b="1" dirty="0">
                <a:solidFill>
                  <a:schemeClr val="accent6"/>
                </a:solidFill>
                <a:latin typeface="Abadi" panose="020B0604020104020204" pitchFamily="34" charset="0"/>
              </a:rPr>
              <a:t> \</a:t>
            </a:r>
          </a:p>
          <a:p>
            <a:pPr marL="457200" lvl="1" indent="0">
              <a:buNone/>
            </a:pPr>
            <a:r>
              <a:rPr lang="en-US" b="1" dirty="0">
                <a:solidFill>
                  <a:schemeClr val="accent6"/>
                </a:solidFill>
                <a:latin typeface="Abadi" panose="020B0604020104020204" pitchFamily="34" charset="0"/>
              </a:rPr>
              <a:t>reads/${sample}.*.gz \</a:t>
            </a:r>
          </a:p>
          <a:p>
            <a:pPr marL="457200" lvl="1" indent="0">
              <a:buNone/>
            </a:pPr>
            <a:r>
              <a:rPr lang="en-US" b="1" dirty="0">
                <a:solidFill>
                  <a:schemeClr val="accent6"/>
                </a:solidFill>
                <a:latin typeface="Abadi" panose="020B0604020104020204" pitchFamily="34" charset="0"/>
              </a:rPr>
              <a:t>| </a:t>
            </a:r>
            <a:r>
              <a:rPr lang="en-US" b="1" dirty="0" err="1">
                <a:solidFill>
                  <a:schemeClr val="accent6"/>
                </a:solidFill>
                <a:latin typeface="Abadi" panose="020B0604020104020204" pitchFamily="34" charset="0"/>
              </a:rPr>
              <a:t>samtools</a:t>
            </a:r>
            <a:r>
              <a:rPr lang="en-US" b="1" dirty="0">
                <a:solidFill>
                  <a:schemeClr val="accent6"/>
                </a:solidFill>
                <a:latin typeface="Abadi" panose="020B0604020104020204" pitchFamily="34" charset="0"/>
              </a:rPr>
              <a:t> view -b -F 4 \ </a:t>
            </a:r>
          </a:p>
          <a:p>
            <a:pPr marL="457200" lvl="1" indent="0">
              <a:buNone/>
            </a:pPr>
            <a:r>
              <a:rPr lang="en-US" b="1" dirty="0">
                <a:solidFill>
                  <a:schemeClr val="accent6"/>
                </a:solidFill>
                <a:latin typeface="Abadi" panose="020B0604020104020204" pitchFamily="34" charset="0"/>
              </a:rPr>
              <a:t>| </a:t>
            </a:r>
            <a:r>
              <a:rPr lang="en-US" b="1" dirty="0" err="1">
                <a:solidFill>
                  <a:schemeClr val="accent6"/>
                </a:solidFill>
                <a:latin typeface="Abadi" panose="020B0604020104020204" pitchFamily="34" charset="0"/>
              </a:rPr>
              <a:t>samtools</a:t>
            </a:r>
            <a:r>
              <a:rPr lang="en-US" b="1" dirty="0">
                <a:solidFill>
                  <a:schemeClr val="accent6"/>
                </a:solidFill>
                <a:latin typeface="Abadi" panose="020B0604020104020204" pitchFamily="34" charset="0"/>
              </a:rPr>
              <a:t> sort -o </a:t>
            </a:r>
            <a:r>
              <a:rPr lang="en-US" b="1" dirty="0" err="1">
                <a:solidFill>
                  <a:schemeClr val="accent6"/>
                </a:solidFill>
                <a:latin typeface="Abadi" panose="020B0604020104020204" pitchFamily="34" charset="0"/>
              </a:rPr>
              <a:t>bams</a:t>
            </a:r>
            <a:r>
              <a:rPr lang="en-US" b="1" dirty="0">
                <a:solidFill>
                  <a:schemeClr val="accent6"/>
                </a:solidFill>
                <a:latin typeface="Abadi" panose="020B0604020104020204" pitchFamily="34" charset="0"/>
              </a:rPr>
              <a:t>/${sample}.bam</a:t>
            </a:r>
          </a:p>
          <a:p>
            <a:pPr marL="0" indent="0">
              <a:buNone/>
            </a:pPr>
            <a:r>
              <a:rPr lang="en-US" sz="2400" b="1" dirty="0">
                <a:solidFill>
                  <a:schemeClr val="accent6"/>
                </a:solidFill>
                <a:latin typeface="Abadi" panose="020B0604020104020204" pitchFamily="34" charset="0"/>
              </a:rPr>
              <a:t>done </a:t>
            </a:r>
          </a:p>
        </p:txBody>
      </p:sp>
    </p:spTree>
    <p:extLst>
      <p:ext uri="{BB962C8B-B14F-4D97-AF65-F5344CB8AC3E}">
        <p14:creationId xmlns:p14="http://schemas.microsoft.com/office/powerpoint/2010/main" val="263059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4DCAE-2587-9691-3C13-96BAF056A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6E414-15CB-726F-6DA3-322C429AB9D8}"/>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Aligning to our reference</a:t>
            </a:r>
          </a:p>
        </p:txBody>
      </p:sp>
      <p:sp>
        <p:nvSpPr>
          <p:cNvPr id="3" name="Content Placeholder 2">
            <a:extLst>
              <a:ext uri="{FF2B5EF4-FFF2-40B4-BE49-F238E27FC236}">
                <a16:creationId xmlns:a16="http://schemas.microsoft.com/office/drawing/2014/main" id="{EE467FD5-98D0-34D1-9F58-06B8E2B7D36E}"/>
              </a:ext>
            </a:extLst>
          </p:cNvPr>
          <p:cNvSpPr>
            <a:spLocks noGrp="1"/>
          </p:cNvSpPr>
          <p:nvPr>
            <p:ph idx="1"/>
          </p:nvPr>
        </p:nvSpPr>
        <p:spPr>
          <a:xfrm>
            <a:off x="5287351" y="1825625"/>
            <a:ext cx="6622709" cy="4898560"/>
          </a:xfrm>
        </p:spPr>
        <p:txBody>
          <a:bodyPr>
            <a:normAutofit/>
          </a:bodyPr>
          <a:lstStyle/>
          <a:p>
            <a:endParaRPr lang="en-US" b="1" dirty="0">
              <a:latin typeface="Abadi" panose="020B0604020104020204" pitchFamily="34" charset="0"/>
            </a:endParaRPr>
          </a:p>
          <a:p>
            <a:pPr marL="0" indent="0">
              <a:buNone/>
            </a:pPr>
            <a:r>
              <a:rPr lang="en-US" sz="2400" b="1" dirty="0">
                <a:latin typeface="Abadi" panose="020B0604020104020204" pitchFamily="34" charset="0"/>
              </a:rPr>
              <a:t>1</a:t>
            </a:r>
            <a:r>
              <a:rPr lang="en-US" sz="2400" b="1" dirty="0">
                <a:solidFill>
                  <a:schemeClr val="accent6"/>
                </a:solidFill>
                <a:latin typeface="Abadi" panose="020B0604020104020204" pitchFamily="34" charset="0"/>
              </a:rPr>
              <a:t> for </a:t>
            </a:r>
            <a:r>
              <a:rPr lang="en-US" sz="2400" b="1" dirty="0">
                <a:solidFill>
                  <a:schemeClr val="accent5"/>
                </a:solidFill>
                <a:latin typeface="Abadi" panose="020B0604020104020204" pitchFamily="34" charset="0"/>
              </a:rPr>
              <a:t>sample</a:t>
            </a:r>
            <a:r>
              <a:rPr lang="en-US" sz="2400" b="1" dirty="0">
                <a:solidFill>
                  <a:schemeClr val="accent6"/>
                </a:solidFill>
                <a:latin typeface="Abadi" panose="020B0604020104020204" pitchFamily="34" charset="0"/>
              </a:rPr>
              <a:t> in $(cat </a:t>
            </a:r>
            <a:r>
              <a:rPr lang="en-US" sz="2400" b="1" dirty="0" err="1">
                <a:solidFill>
                  <a:schemeClr val="accent6"/>
                </a:solidFill>
                <a:latin typeface="Abadi" panose="020B0604020104020204" pitchFamily="34" charset="0"/>
              </a:rPr>
              <a:t>sample_list_NAME</a:t>
            </a:r>
            <a:r>
              <a:rPr lang="en-US" sz="2400" b="1" dirty="0">
                <a:solidFill>
                  <a:schemeClr val="accent6"/>
                </a:solidFill>
                <a:latin typeface="Abadi" panose="020B0604020104020204" pitchFamily="34" charset="0"/>
              </a:rPr>
              <a:t>); do</a:t>
            </a:r>
          </a:p>
          <a:p>
            <a:pPr marL="457200" lvl="1" indent="0">
              <a:buNone/>
            </a:pPr>
            <a:r>
              <a:rPr lang="en-US" b="1" dirty="0">
                <a:latin typeface="Abadi" panose="020B0604020104020204" pitchFamily="34" charset="0"/>
              </a:rPr>
              <a:t>2 </a:t>
            </a:r>
            <a:r>
              <a:rPr lang="en-US" b="1" dirty="0">
                <a:solidFill>
                  <a:schemeClr val="accent6"/>
                </a:solidFill>
                <a:latin typeface="Abadi" panose="020B0604020104020204" pitchFamily="34" charset="0"/>
              </a:rPr>
              <a:t>bwa mem -t 2 - </a:t>
            </a:r>
            <a:r>
              <a:rPr lang="en-US" b="1" dirty="0" err="1">
                <a:solidFill>
                  <a:schemeClr val="accent6"/>
                </a:solidFill>
                <a:latin typeface="Abadi" panose="020B0604020104020204" pitchFamily="34" charset="0"/>
              </a:rPr>
              <a:t>name_of_reference.fna</a:t>
            </a:r>
            <a:r>
              <a:rPr lang="en-US" b="1" dirty="0">
                <a:solidFill>
                  <a:schemeClr val="accent6"/>
                </a:solidFill>
                <a:latin typeface="Abadi" panose="020B0604020104020204" pitchFamily="34" charset="0"/>
              </a:rPr>
              <a:t> \</a:t>
            </a:r>
          </a:p>
          <a:p>
            <a:pPr marL="457200" lvl="1" indent="0">
              <a:buNone/>
            </a:pPr>
            <a:r>
              <a:rPr lang="en-US" b="1" dirty="0">
                <a:latin typeface="Abadi" panose="020B0604020104020204" pitchFamily="34" charset="0"/>
              </a:rPr>
              <a:t>3 </a:t>
            </a:r>
            <a:r>
              <a:rPr lang="en-US" b="1" dirty="0">
                <a:solidFill>
                  <a:schemeClr val="accent6"/>
                </a:solidFill>
                <a:latin typeface="Abadi" panose="020B0604020104020204" pitchFamily="34" charset="0"/>
              </a:rPr>
              <a:t>reads/${</a:t>
            </a:r>
            <a:r>
              <a:rPr lang="en-US" b="1" dirty="0">
                <a:solidFill>
                  <a:schemeClr val="accent5"/>
                </a:solidFill>
                <a:latin typeface="Abadi" panose="020B0604020104020204" pitchFamily="34" charset="0"/>
              </a:rPr>
              <a:t>sample</a:t>
            </a:r>
            <a:r>
              <a:rPr lang="en-US" b="1" dirty="0">
                <a:solidFill>
                  <a:schemeClr val="accent6"/>
                </a:solidFill>
                <a:latin typeface="Abadi" panose="020B0604020104020204" pitchFamily="34" charset="0"/>
              </a:rPr>
              <a:t>}.*.gz \</a:t>
            </a:r>
          </a:p>
          <a:p>
            <a:pPr marL="457200" lvl="1" indent="0">
              <a:buNone/>
            </a:pPr>
            <a:r>
              <a:rPr lang="en-US" b="1" dirty="0">
                <a:latin typeface="Abadi" panose="020B0604020104020204" pitchFamily="34" charset="0"/>
              </a:rPr>
              <a:t>4 </a:t>
            </a:r>
            <a:r>
              <a:rPr lang="en-US" b="1" dirty="0">
                <a:solidFill>
                  <a:schemeClr val="accent6"/>
                </a:solidFill>
                <a:latin typeface="Abadi" panose="020B0604020104020204" pitchFamily="34" charset="0"/>
              </a:rPr>
              <a:t>| </a:t>
            </a:r>
            <a:r>
              <a:rPr lang="en-US" b="1" dirty="0" err="1">
                <a:solidFill>
                  <a:schemeClr val="accent6"/>
                </a:solidFill>
                <a:latin typeface="Abadi" panose="020B0604020104020204" pitchFamily="34" charset="0"/>
              </a:rPr>
              <a:t>samtools</a:t>
            </a:r>
            <a:r>
              <a:rPr lang="en-US" b="1" dirty="0">
                <a:solidFill>
                  <a:schemeClr val="accent6"/>
                </a:solidFill>
                <a:latin typeface="Abadi" panose="020B0604020104020204" pitchFamily="34" charset="0"/>
              </a:rPr>
              <a:t> view -b -F 4 \</a:t>
            </a:r>
          </a:p>
          <a:p>
            <a:pPr marL="457200" lvl="1" indent="0">
              <a:buNone/>
            </a:pPr>
            <a:r>
              <a:rPr lang="en-US" b="1" dirty="0">
                <a:latin typeface="Abadi" panose="020B0604020104020204" pitchFamily="34" charset="0"/>
              </a:rPr>
              <a:t>5 </a:t>
            </a:r>
            <a:r>
              <a:rPr lang="en-US" b="1" dirty="0">
                <a:solidFill>
                  <a:schemeClr val="accent6"/>
                </a:solidFill>
                <a:latin typeface="Abadi" panose="020B0604020104020204" pitchFamily="34" charset="0"/>
              </a:rPr>
              <a:t>| </a:t>
            </a:r>
            <a:r>
              <a:rPr lang="en-US" b="1" dirty="0" err="1">
                <a:solidFill>
                  <a:schemeClr val="accent6"/>
                </a:solidFill>
                <a:latin typeface="Abadi" panose="020B0604020104020204" pitchFamily="34" charset="0"/>
              </a:rPr>
              <a:t>samtools</a:t>
            </a:r>
            <a:r>
              <a:rPr lang="en-US" b="1" dirty="0">
                <a:solidFill>
                  <a:schemeClr val="accent6"/>
                </a:solidFill>
                <a:latin typeface="Abadi" panose="020B0604020104020204" pitchFamily="34" charset="0"/>
              </a:rPr>
              <a:t> sort -o </a:t>
            </a:r>
            <a:r>
              <a:rPr lang="en-US" b="1" dirty="0" err="1">
                <a:solidFill>
                  <a:schemeClr val="accent6"/>
                </a:solidFill>
                <a:latin typeface="Abadi" panose="020B0604020104020204" pitchFamily="34" charset="0"/>
              </a:rPr>
              <a:t>bams</a:t>
            </a:r>
            <a:r>
              <a:rPr lang="en-US" b="1" dirty="0">
                <a:solidFill>
                  <a:schemeClr val="accent6"/>
                </a:solidFill>
                <a:latin typeface="Abadi" panose="020B0604020104020204" pitchFamily="34" charset="0"/>
              </a:rPr>
              <a:t>/${</a:t>
            </a:r>
            <a:r>
              <a:rPr lang="en-US" b="1" dirty="0">
                <a:solidFill>
                  <a:schemeClr val="accent5"/>
                </a:solidFill>
                <a:latin typeface="Abadi" panose="020B0604020104020204" pitchFamily="34" charset="0"/>
              </a:rPr>
              <a:t>sample</a:t>
            </a:r>
            <a:r>
              <a:rPr lang="en-US" b="1" dirty="0">
                <a:solidFill>
                  <a:schemeClr val="accent6"/>
                </a:solidFill>
                <a:latin typeface="Abadi" panose="020B0604020104020204" pitchFamily="34" charset="0"/>
              </a:rPr>
              <a:t>}.bam</a:t>
            </a:r>
          </a:p>
          <a:p>
            <a:pPr marL="0" indent="0">
              <a:buNone/>
            </a:pPr>
            <a:r>
              <a:rPr lang="en-US" sz="2400" b="1" dirty="0">
                <a:latin typeface="Abadi" panose="020B0604020104020204" pitchFamily="34" charset="0"/>
              </a:rPr>
              <a:t>6 </a:t>
            </a:r>
            <a:r>
              <a:rPr lang="en-US" sz="2400" b="1" dirty="0">
                <a:solidFill>
                  <a:schemeClr val="accent6"/>
                </a:solidFill>
                <a:latin typeface="Abadi" panose="020B0604020104020204" pitchFamily="34" charset="0"/>
              </a:rPr>
              <a:t>done </a:t>
            </a:r>
          </a:p>
        </p:txBody>
      </p:sp>
      <p:sp>
        <p:nvSpPr>
          <p:cNvPr id="6" name="Content Placeholder 2">
            <a:extLst>
              <a:ext uri="{FF2B5EF4-FFF2-40B4-BE49-F238E27FC236}">
                <a16:creationId xmlns:a16="http://schemas.microsoft.com/office/drawing/2014/main" id="{F83E9A81-DBE6-E411-76D6-94EE46779C27}"/>
              </a:ext>
            </a:extLst>
          </p:cNvPr>
          <p:cNvSpPr txBox="1">
            <a:spLocks/>
          </p:cNvSpPr>
          <p:nvPr/>
        </p:nvSpPr>
        <p:spPr>
          <a:xfrm>
            <a:off x="369850" y="1690688"/>
            <a:ext cx="5087742" cy="48985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dirty="0">
                <a:latin typeface="Abadi" panose="020B0604020104020204" pitchFamily="34" charset="0"/>
              </a:rPr>
              <a:t>For each </a:t>
            </a:r>
            <a:r>
              <a:rPr lang="en-US" dirty="0">
                <a:solidFill>
                  <a:schemeClr val="accent5"/>
                </a:solidFill>
                <a:latin typeface="Abadi" panose="020B0604020104020204" pitchFamily="34" charset="0"/>
              </a:rPr>
              <a:t>sample name </a:t>
            </a:r>
            <a:r>
              <a:rPr lang="en-US" dirty="0">
                <a:latin typeface="Abadi" panose="020B0604020104020204" pitchFamily="34" charset="0"/>
              </a:rPr>
              <a:t>in our list, run the following command</a:t>
            </a:r>
          </a:p>
          <a:p>
            <a:pPr marL="457200" indent="-457200">
              <a:buFont typeface="+mj-lt"/>
              <a:buAutoNum type="arabicPeriod"/>
            </a:pPr>
            <a:r>
              <a:rPr lang="en-US" sz="2400" dirty="0">
                <a:latin typeface="Abadi" panose="020B0604020104020204" pitchFamily="34" charset="0"/>
              </a:rPr>
              <a:t>Use BWA’s mem algorithm with 2 threads and the focal reference</a:t>
            </a:r>
          </a:p>
          <a:p>
            <a:pPr marL="457200" indent="-457200">
              <a:buFont typeface="+mj-lt"/>
              <a:buAutoNum type="arabicPeriod"/>
            </a:pPr>
            <a:r>
              <a:rPr lang="en-US" sz="2400" dirty="0">
                <a:latin typeface="Abadi" panose="020B0604020104020204" pitchFamily="34" charset="0"/>
              </a:rPr>
              <a:t>Use the read file for that </a:t>
            </a:r>
            <a:r>
              <a:rPr lang="en-US" sz="2400" dirty="0">
                <a:solidFill>
                  <a:schemeClr val="accent5"/>
                </a:solidFill>
                <a:latin typeface="Abadi" panose="020B0604020104020204" pitchFamily="34" charset="0"/>
              </a:rPr>
              <a:t>sample</a:t>
            </a:r>
            <a:r>
              <a:rPr lang="en-US" sz="2400" dirty="0">
                <a:latin typeface="Abadi" panose="020B0604020104020204" pitchFamily="34" charset="0"/>
              </a:rPr>
              <a:t> </a:t>
            </a:r>
          </a:p>
          <a:p>
            <a:pPr marL="457200" indent="-457200">
              <a:buFont typeface="+mj-lt"/>
              <a:buAutoNum type="arabicPeriod"/>
            </a:pPr>
            <a:r>
              <a:rPr lang="en-US" sz="2400" dirty="0">
                <a:latin typeface="Abadi" panose="020B0604020104020204" pitchFamily="34" charset="0"/>
              </a:rPr>
              <a:t>Remove any reads that did not match the reference and compress to a BAM</a:t>
            </a:r>
          </a:p>
          <a:p>
            <a:pPr marL="457200" indent="-457200">
              <a:buFont typeface="+mj-lt"/>
              <a:buAutoNum type="arabicPeriod"/>
            </a:pPr>
            <a:r>
              <a:rPr lang="en-US" sz="2400" dirty="0">
                <a:latin typeface="Abadi" panose="020B0604020104020204" pitchFamily="34" charset="0"/>
              </a:rPr>
              <a:t>Sort the BAM and output it into a file with the </a:t>
            </a:r>
            <a:r>
              <a:rPr lang="en-US" sz="2400" dirty="0">
                <a:solidFill>
                  <a:schemeClr val="accent5"/>
                </a:solidFill>
                <a:latin typeface="Abadi" panose="020B0604020104020204" pitchFamily="34" charset="0"/>
              </a:rPr>
              <a:t>sample name</a:t>
            </a:r>
          </a:p>
          <a:p>
            <a:pPr marL="457200" indent="-457200">
              <a:buFont typeface="+mj-lt"/>
              <a:buAutoNum type="arabicPeriod"/>
            </a:pPr>
            <a:r>
              <a:rPr lang="en-US" sz="2400" dirty="0">
                <a:latin typeface="Abadi" panose="020B0604020104020204" pitchFamily="34" charset="0"/>
              </a:rPr>
              <a:t>Go to the next </a:t>
            </a:r>
            <a:r>
              <a:rPr lang="en-US" sz="2400" dirty="0">
                <a:solidFill>
                  <a:schemeClr val="accent5"/>
                </a:solidFill>
                <a:latin typeface="Abadi" panose="020B0604020104020204" pitchFamily="34" charset="0"/>
              </a:rPr>
              <a:t>sample</a:t>
            </a:r>
            <a:endParaRPr lang="en-US" sz="2400" dirty="0">
              <a:latin typeface="Abadi" panose="020B0604020104020204" pitchFamily="34" charset="0"/>
            </a:endParaRPr>
          </a:p>
        </p:txBody>
      </p:sp>
      <p:sp>
        <p:nvSpPr>
          <p:cNvPr id="7" name="Oval 6">
            <a:extLst>
              <a:ext uri="{FF2B5EF4-FFF2-40B4-BE49-F238E27FC236}">
                <a16:creationId xmlns:a16="http://schemas.microsoft.com/office/drawing/2014/main" id="{FA2A3181-2B28-C2A1-F1CC-75E5095EEEB7}"/>
              </a:ext>
            </a:extLst>
          </p:cNvPr>
          <p:cNvSpPr/>
          <p:nvPr/>
        </p:nvSpPr>
        <p:spPr>
          <a:xfrm>
            <a:off x="11405281" y="2694322"/>
            <a:ext cx="434897" cy="59101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BF61D6E-7CEC-306B-644D-EF5B1FB596E1}"/>
              </a:ext>
            </a:extLst>
          </p:cNvPr>
          <p:cNvSpPr txBox="1"/>
          <p:nvPr/>
        </p:nvSpPr>
        <p:spPr>
          <a:xfrm>
            <a:off x="9778877" y="306456"/>
            <a:ext cx="2565523" cy="1569660"/>
          </a:xfrm>
          <a:prstGeom prst="rect">
            <a:avLst/>
          </a:prstGeom>
          <a:noFill/>
        </p:spPr>
        <p:txBody>
          <a:bodyPr wrap="square" rtlCol="0">
            <a:spAutoFit/>
          </a:bodyPr>
          <a:lstStyle/>
          <a:p>
            <a:r>
              <a:rPr lang="en-US" sz="2400" b="1" dirty="0">
                <a:solidFill>
                  <a:schemeClr val="accent6"/>
                </a:solidFill>
                <a:latin typeface="Abadi" panose="020B0604020104020204" pitchFamily="34" charset="0"/>
              </a:rPr>
              <a:t>\</a:t>
            </a:r>
            <a:r>
              <a:rPr lang="en-US" sz="2400" dirty="0">
                <a:latin typeface="Abadi" panose="020B0604020104020204" pitchFamily="34" charset="0"/>
              </a:rPr>
              <a:t> means to continue reading </a:t>
            </a:r>
          </a:p>
          <a:p>
            <a:r>
              <a:rPr lang="en-US" sz="2400" dirty="0">
                <a:latin typeface="Abadi" panose="020B0604020104020204" pitchFamily="34" charset="0"/>
              </a:rPr>
              <a:t>this as the same line</a:t>
            </a:r>
          </a:p>
        </p:txBody>
      </p:sp>
      <p:sp>
        <p:nvSpPr>
          <p:cNvPr id="10" name="Freeform: Shape 9">
            <a:extLst>
              <a:ext uri="{FF2B5EF4-FFF2-40B4-BE49-F238E27FC236}">
                <a16:creationId xmlns:a16="http://schemas.microsoft.com/office/drawing/2014/main" id="{B13DDB20-3619-47FE-C025-95D9877B0AC7}"/>
              </a:ext>
            </a:extLst>
          </p:cNvPr>
          <p:cNvSpPr/>
          <p:nvPr/>
        </p:nvSpPr>
        <p:spPr>
          <a:xfrm>
            <a:off x="11786653" y="1424986"/>
            <a:ext cx="280224" cy="1447707"/>
          </a:xfrm>
          <a:custGeom>
            <a:avLst/>
            <a:gdLst>
              <a:gd name="csX0" fmla="*/ 22302 w 457246"/>
              <a:gd name="csY0" fmla="*/ 0 h 947854"/>
              <a:gd name="csX1" fmla="*/ 457200 w 457246"/>
              <a:gd name="csY1" fmla="*/ 457200 h 947854"/>
              <a:gd name="csX2" fmla="*/ 0 w 457246"/>
              <a:gd name="csY2" fmla="*/ 947854 h 947854"/>
            </a:gdLst>
            <a:ahLst/>
            <a:cxnLst>
              <a:cxn ang="0">
                <a:pos x="csX0" y="csY0"/>
              </a:cxn>
              <a:cxn ang="0">
                <a:pos x="csX1" y="csY1"/>
              </a:cxn>
              <a:cxn ang="0">
                <a:pos x="csX2" y="csY2"/>
              </a:cxn>
            </a:cxnLst>
            <a:rect l="l" t="t" r="r" b="b"/>
            <a:pathLst>
              <a:path w="457246" h="947854">
                <a:moveTo>
                  <a:pt x="22302" y="0"/>
                </a:moveTo>
                <a:cubicBezTo>
                  <a:pt x="241609" y="149612"/>
                  <a:pt x="460917" y="299224"/>
                  <a:pt x="457200" y="457200"/>
                </a:cubicBezTo>
                <a:cubicBezTo>
                  <a:pt x="453483" y="615176"/>
                  <a:pt x="104078" y="832625"/>
                  <a:pt x="0" y="94785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96D75CA-677D-E929-E5A0-852B88EBB684}"/>
              </a:ext>
            </a:extLst>
          </p:cNvPr>
          <p:cNvSpPr/>
          <p:nvPr/>
        </p:nvSpPr>
        <p:spPr>
          <a:xfrm>
            <a:off x="5958283" y="3440151"/>
            <a:ext cx="434897" cy="59101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94CBB737-DA5E-E472-E901-B8F6D0B194CE}"/>
              </a:ext>
            </a:extLst>
          </p:cNvPr>
          <p:cNvSpPr/>
          <p:nvPr/>
        </p:nvSpPr>
        <p:spPr>
          <a:xfrm>
            <a:off x="6337424" y="3997713"/>
            <a:ext cx="55756" cy="735981"/>
          </a:xfrm>
          <a:custGeom>
            <a:avLst/>
            <a:gdLst>
              <a:gd name="csX0" fmla="*/ 55756 w 55756"/>
              <a:gd name="csY0" fmla="*/ 735981 h 735981"/>
              <a:gd name="csX1" fmla="*/ 0 w 55756"/>
              <a:gd name="csY1" fmla="*/ 0 h 735981"/>
            </a:gdLst>
            <a:ahLst/>
            <a:cxnLst>
              <a:cxn ang="0">
                <a:pos x="csX0" y="csY0"/>
              </a:cxn>
              <a:cxn ang="0">
                <a:pos x="csX1" y="csY1"/>
              </a:cxn>
            </a:cxnLst>
            <a:rect l="l" t="t" r="r" b="b"/>
            <a:pathLst>
              <a:path w="55756" h="735981">
                <a:moveTo>
                  <a:pt x="55756" y="735981"/>
                </a:moveTo>
                <a:cubicBezTo>
                  <a:pt x="43675" y="454412"/>
                  <a:pt x="31595" y="172844"/>
                  <a:pt x="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C02B0D9-E4DF-A0CE-4BD3-24102EF0BFC2}"/>
              </a:ext>
            </a:extLst>
          </p:cNvPr>
          <p:cNvSpPr txBox="1"/>
          <p:nvPr/>
        </p:nvSpPr>
        <p:spPr>
          <a:xfrm>
            <a:off x="6175731" y="4751814"/>
            <a:ext cx="5621423" cy="1200329"/>
          </a:xfrm>
          <a:prstGeom prst="rect">
            <a:avLst/>
          </a:prstGeom>
          <a:noFill/>
        </p:spPr>
        <p:txBody>
          <a:bodyPr wrap="square" rtlCol="0">
            <a:spAutoFit/>
          </a:bodyPr>
          <a:lstStyle/>
          <a:p>
            <a:r>
              <a:rPr lang="en-US" sz="2400" dirty="0">
                <a:latin typeface="Abadi" panose="020B0604020104020204" pitchFamily="34" charset="0"/>
              </a:rPr>
              <a:t>These pipes (|) are the same as before, taking output from one program and feeding it into another</a:t>
            </a:r>
          </a:p>
        </p:txBody>
      </p:sp>
      <p:sp>
        <p:nvSpPr>
          <p:cNvPr id="17" name="Oval 16">
            <a:extLst>
              <a:ext uri="{FF2B5EF4-FFF2-40B4-BE49-F238E27FC236}">
                <a16:creationId xmlns:a16="http://schemas.microsoft.com/office/drawing/2014/main" id="{7BBB7C37-2361-8BEF-372A-9B7D5431B606}"/>
              </a:ext>
            </a:extLst>
          </p:cNvPr>
          <p:cNvSpPr/>
          <p:nvPr/>
        </p:nvSpPr>
        <p:spPr>
          <a:xfrm>
            <a:off x="6924723" y="3005757"/>
            <a:ext cx="434897" cy="59101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A11F2EF-A354-F623-A053-AFDA2C156D88}"/>
              </a:ext>
            </a:extLst>
          </p:cNvPr>
          <p:cNvSpPr txBox="1"/>
          <p:nvPr/>
        </p:nvSpPr>
        <p:spPr>
          <a:xfrm>
            <a:off x="5614409" y="1342658"/>
            <a:ext cx="3758191" cy="830997"/>
          </a:xfrm>
          <a:prstGeom prst="rect">
            <a:avLst/>
          </a:prstGeom>
          <a:noFill/>
        </p:spPr>
        <p:txBody>
          <a:bodyPr wrap="square" rtlCol="0">
            <a:spAutoFit/>
          </a:bodyPr>
          <a:lstStyle/>
          <a:p>
            <a:r>
              <a:rPr lang="en-US" sz="2400" b="1" dirty="0">
                <a:solidFill>
                  <a:schemeClr val="accent6"/>
                </a:solidFill>
                <a:latin typeface="Abadi" panose="020B0604020104020204" pitchFamily="34" charset="0"/>
              </a:rPr>
              <a:t>$</a:t>
            </a:r>
            <a:r>
              <a:rPr lang="en-US" sz="2400" dirty="0">
                <a:latin typeface="Abadi" panose="020B0604020104020204" pitchFamily="34" charset="0"/>
              </a:rPr>
              <a:t> tells the program you are referencing a variable</a:t>
            </a:r>
          </a:p>
        </p:txBody>
      </p:sp>
      <p:sp>
        <p:nvSpPr>
          <p:cNvPr id="20" name="Freeform: Shape 19">
            <a:extLst>
              <a:ext uri="{FF2B5EF4-FFF2-40B4-BE49-F238E27FC236}">
                <a16:creationId xmlns:a16="http://schemas.microsoft.com/office/drawing/2014/main" id="{ABCFD6B5-BC18-7EDE-889C-5826409A9221}"/>
              </a:ext>
            </a:extLst>
          </p:cNvPr>
          <p:cNvSpPr/>
          <p:nvPr/>
        </p:nvSpPr>
        <p:spPr>
          <a:xfrm>
            <a:off x="5955030" y="2148840"/>
            <a:ext cx="971550" cy="1028700"/>
          </a:xfrm>
          <a:custGeom>
            <a:avLst/>
            <a:gdLst>
              <a:gd name="csX0" fmla="*/ 971550 w 971550"/>
              <a:gd name="csY0" fmla="*/ 1028700 h 1028700"/>
              <a:gd name="csX1" fmla="*/ 0 w 971550"/>
              <a:gd name="csY1" fmla="*/ 0 h 1028700"/>
            </a:gdLst>
            <a:ahLst/>
            <a:cxnLst>
              <a:cxn ang="0">
                <a:pos x="csX0" y="csY0"/>
              </a:cxn>
              <a:cxn ang="0">
                <a:pos x="csX1" y="csY1"/>
              </a:cxn>
            </a:cxnLst>
            <a:rect l="l" t="t" r="r" b="b"/>
            <a:pathLst>
              <a:path w="971550" h="1028700">
                <a:moveTo>
                  <a:pt x="971550" y="1028700"/>
                </a:moveTo>
                <a:lnTo>
                  <a:pt x="0"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151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4" end="4"/>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5" end="5"/>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12" grpId="0" animBg="1"/>
      <p:bldP spid="13" grpId="0" animBg="1"/>
      <p:bldP spid="15" grpId="0"/>
      <p:bldP spid="17" grpId="0" animBg="1"/>
      <p:bldP spid="19" grpId="0"/>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CACE8-EAE2-28AB-F1C7-2AE597B31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9C77B-CCF6-0ED3-5F88-4486E263F1E9}"/>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While we wait: de novo </a:t>
            </a:r>
            <a:r>
              <a:rPr lang="en-US" dirty="0" err="1">
                <a:latin typeface="Aharoni" panose="02010803020104030203" pitchFamily="2" charset="-79"/>
                <a:cs typeface="Aharoni" panose="02010803020104030203" pitchFamily="2" charset="-79"/>
              </a:rPr>
              <a:t>RADseq</a:t>
            </a:r>
            <a:endParaRPr lang="en-US" dirty="0">
              <a:latin typeface="Aharoni" panose="02010803020104030203" pitchFamily="2" charset="-79"/>
              <a:cs typeface="Aharoni" panose="02010803020104030203" pitchFamily="2" charset="-79"/>
            </a:endParaRPr>
          </a:p>
        </p:txBody>
      </p:sp>
      <p:sp>
        <p:nvSpPr>
          <p:cNvPr id="3" name="Content Placeholder 2">
            <a:extLst>
              <a:ext uri="{FF2B5EF4-FFF2-40B4-BE49-F238E27FC236}">
                <a16:creationId xmlns:a16="http://schemas.microsoft.com/office/drawing/2014/main" id="{3366DB7C-1CE5-93B1-E2A9-7263B14E6D8B}"/>
              </a:ext>
            </a:extLst>
          </p:cNvPr>
          <p:cNvSpPr>
            <a:spLocks noGrp="1"/>
          </p:cNvSpPr>
          <p:nvPr>
            <p:ph idx="1"/>
          </p:nvPr>
        </p:nvSpPr>
        <p:spPr>
          <a:xfrm>
            <a:off x="838200" y="1825625"/>
            <a:ext cx="4458629" cy="4898560"/>
          </a:xfrm>
        </p:spPr>
        <p:txBody>
          <a:bodyPr>
            <a:normAutofit/>
          </a:bodyPr>
          <a:lstStyle/>
          <a:p>
            <a:r>
              <a:rPr lang="en-US" sz="2400" dirty="0">
                <a:latin typeface="Abadi" panose="020B0604020104020204" pitchFamily="34" charset="0"/>
              </a:rPr>
              <a:t>Birds are an “easy” group</a:t>
            </a:r>
          </a:p>
          <a:p>
            <a:pPr lvl="1"/>
            <a:r>
              <a:rPr lang="en-US" sz="2000" dirty="0">
                <a:latin typeface="Abadi" panose="020B0604020104020204" pitchFamily="34" charset="0"/>
              </a:rPr>
              <a:t>Young, diverse, ubiquitous</a:t>
            </a:r>
          </a:p>
          <a:p>
            <a:pPr lvl="1"/>
            <a:r>
              <a:rPr lang="en-US" sz="2000" dirty="0">
                <a:latin typeface="Abadi" panose="020B0604020104020204" pitchFamily="34" charset="0"/>
              </a:rPr>
              <a:t>Small genomes on average</a:t>
            </a:r>
          </a:p>
          <a:p>
            <a:pPr lvl="1"/>
            <a:r>
              <a:rPr lang="en-US" sz="2000" dirty="0">
                <a:latin typeface="Abadi" panose="020B0604020104020204" pitchFamily="34" charset="0"/>
              </a:rPr>
              <a:t>Conserved genomes compared to other groups</a:t>
            </a:r>
          </a:p>
          <a:p>
            <a:r>
              <a:rPr lang="en-US" sz="2400" dirty="0">
                <a:latin typeface="Abadi" panose="020B0604020104020204" pitchFamily="34" charset="0"/>
              </a:rPr>
              <a:t>“Easy” groups allow flexible reference genome choice</a:t>
            </a:r>
          </a:p>
          <a:p>
            <a:r>
              <a:rPr lang="en-US" sz="2400" dirty="0">
                <a:latin typeface="Abadi" panose="020B0604020104020204" pitchFamily="34" charset="0"/>
              </a:rPr>
              <a:t>Genome sequencing is getting cheaper, but still not feasible for everything</a:t>
            </a:r>
          </a:p>
          <a:p>
            <a:r>
              <a:rPr lang="en-US" sz="2400" dirty="0">
                <a:latin typeface="Abadi" panose="020B0604020104020204" pitchFamily="34" charset="0"/>
              </a:rPr>
              <a:t>De novo assembly of loci is the alternate RAD path</a:t>
            </a:r>
          </a:p>
          <a:p>
            <a:pPr lvl="1"/>
            <a:endParaRPr lang="en-US" sz="2000" dirty="0">
              <a:latin typeface="Abadi" panose="020B0604020104020204" pitchFamily="34" charset="0"/>
            </a:endParaRPr>
          </a:p>
          <a:p>
            <a:pPr lvl="1"/>
            <a:endParaRPr lang="en-US" sz="2000" dirty="0">
              <a:latin typeface="Abadi" panose="020B0604020104020204" pitchFamily="34" charset="0"/>
            </a:endParaRPr>
          </a:p>
        </p:txBody>
      </p:sp>
      <p:pic>
        <p:nvPicPr>
          <p:cNvPr id="4" name="Picture 3" descr="Genome size variation in amniotes. Cytological haploid genome size ranges of different groups of species are shown as black bars (from smallest to largest genome sizes). Birds range from ∼0.96-2.2 Gb (∼2.25×), whereas all reptiles range from 1.1 to 5.44 Gb (∼5×, shown as a blue rectangle) and mammals from 1.6 to 6.3 Gb (∼3.9×, shown as a purple rectangle). For rodents, the red viscacha rat (tetraploid, 8.4 Gb) was not included. This is in contrast to the ranges among all vertebrates (∼0.35 to ∼133 Gb, ∼333×, 3,731 species), or among the other classes of vertebrates that include more than one family: amphibians (0.95-121 Gb, ∼127×, 504 species), cartilaginous fishes (Chondrichthyes; 1.5-17 Gb, ∼11×, 134 species) and bony fishes (Osteichthyes; 0.35-133 Gb, ∼379.5×, 1,407 species). We note that among the 25 orders of Osteichthyes with more than 4 species, 6 have a genome size range &gt;5× (total of 897 species), with a maximum of ∼8.7× (Cypriniformes, 229 species). The average of the 25 within-Osteichthyes genome size ranges is ∼3.7×, which is a similar range than the one of mammals without the red viscacha rat (32). Divergence times are represented on the phylogenetic tree in millions of years as in refs. 33 and 34. Red dot: median. N: numbers of species inside each group with genome size data included in the figure (compiled from ref. 32, as of March 6, 2015). When several measures exist for one single species, values are averaged. Gb: gigabases.">
            <a:extLst>
              <a:ext uri="{FF2B5EF4-FFF2-40B4-BE49-F238E27FC236}">
                <a16:creationId xmlns:a16="http://schemas.microsoft.com/office/drawing/2014/main" id="{D96669F7-9898-A26D-7B74-9F7D5848A541}"/>
              </a:ext>
            </a:extLst>
          </p:cNvPr>
          <p:cNvPicPr>
            <a:picLocks noChangeAspect="1"/>
          </p:cNvPicPr>
          <p:nvPr/>
        </p:nvPicPr>
        <p:blipFill>
          <a:blip r:embed="rId2"/>
          <a:stretch>
            <a:fillRect/>
          </a:stretch>
        </p:blipFill>
        <p:spPr>
          <a:xfrm>
            <a:off x="5262885" y="1690688"/>
            <a:ext cx="6538822" cy="4219458"/>
          </a:xfrm>
          <a:prstGeom prst="rect">
            <a:avLst/>
          </a:prstGeom>
        </p:spPr>
      </p:pic>
    </p:spTree>
    <p:extLst>
      <p:ext uri="{BB962C8B-B14F-4D97-AF65-F5344CB8AC3E}">
        <p14:creationId xmlns:p14="http://schemas.microsoft.com/office/powerpoint/2010/main" val="243216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28328-4F2A-8E4C-4E64-2D868759A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450C2-0214-FCA9-5952-8799226A5C40}"/>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While we wait: de novo </a:t>
            </a:r>
            <a:r>
              <a:rPr lang="en-US" dirty="0" err="1">
                <a:latin typeface="Aharoni" panose="02010803020104030203" pitchFamily="2" charset="-79"/>
                <a:cs typeface="Aharoni" panose="02010803020104030203" pitchFamily="2" charset="-79"/>
              </a:rPr>
              <a:t>RADseq</a:t>
            </a:r>
            <a:endParaRPr lang="en-US" dirty="0">
              <a:latin typeface="Aharoni" panose="02010803020104030203" pitchFamily="2" charset="-79"/>
              <a:cs typeface="Aharoni" panose="02010803020104030203" pitchFamily="2" charset="-79"/>
            </a:endParaRPr>
          </a:p>
        </p:txBody>
      </p:sp>
      <p:sp>
        <p:nvSpPr>
          <p:cNvPr id="3" name="Content Placeholder 2">
            <a:extLst>
              <a:ext uri="{FF2B5EF4-FFF2-40B4-BE49-F238E27FC236}">
                <a16:creationId xmlns:a16="http://schemas.microsoft.com/office/drawing/2014/main" id="{5B2A3B39-18A7-0890-ED50-A2944B49224A}"/>
              </a:ext>
            </a:extLst>
          </p:cNvPr>
          <p:cNvSpPr>
            <a:spLocks noGrp="1"/>
          </p:cNvSpPr>
          <p:nvPr>
            <p:ph idx="1"/>
          </p:nvPr>
        </p:nvSpPr>
        <p:spPr>
          <a:xfrm>
            <a:off x="838200" y="1825625"/>
            <a:ext cx="11216268" cy="4898560"/>
          </a:xfrm>
        </p:spPr>
        <p:txBody>
          <a:bodyPr>
            <a:normAutofit/>
          </a:bodyPr>
          <a:lstStyle/>
          <a:p>
            <a:r>
              <a:rPr lang="en-US" sz="2400" dirty="0">
                <a:latin typeface="Abadi" panose="020B0604020104020204" pitchFamily="34" charset="0"/>
              </a:rPr>
              <a:t>Basics of the pipeline</a:t>
            </a:r>
          </a:p>
          <a:p>
            <a:pPr marL="457200" indent="-457200">
              <a:buFont typeface="+mj-lt"/>
              <a:buAutoNum type="arabicPeriod"/>
            </a:pPr>
            <a:r>
              <a:rPr lang="en-US" sz="2400" dirty="0">
                <a:latin typeface="Abadi" panose="020B0604020104020204" pitchFamily="34" charset="0"/>
              </a:rPr>
              <a:t>Build loci</a:t>
            </a:r>
          </a:p>
          <a:p>
            <a:pPr marL="457200" indent="-457200">
              <a:buFont typeface="+mj-lt"/>
              <a:buAutoNum type="arabicPeriod"/>
            </a:pPr>
            <a:r>
              <a:rPr lang="en-US" sz="2400" dirty="0">
                <a:latin typeface="Abadi" panose="020B0604020104020204" pitchFamily="34" charset="0"/>
              </a:rPr>
              <a:t>Put together a catalog of all loci</a:t>
            </a:r>
          </a:p>
          <a:p>
            <a:pPr marL="457200" indent="-457200">
              <a:buFont typeface="+mj-lt"/>
              <a:buAutoNum type="arabicPeriod"/>
            </a:pPr>
            <a:r>
              <a:rPr lang="en-US" sz="2400" dirty="0">
                <a:latin typeface="Abadi" panose="020B0604020104020204" pitchFamily="34" charset="0"/>
              </a:rPr>
              <a:t>Match individuals to the catalog</a:t>
            </a:r>
          </a:p>
          <a:p>
            <a:r>
              <a:rPr lang="en-US" sz="2400" dirty="0">
                <a:latin typeface="Abadi" panose="020B0604020104020204" pitchFamily="34" charset="0"/>
              </a:rPr>
              <a:t>Complexity comes from choices, but you can run it simply with:</a:t>
            </a:r>
          </a:p>
          <a:p>
            <a:pPr marL="0" indent="0">
              <a:buNone/>
            </a:pPr>
            <a:r>
              <a:rPr lang="pt-BR" sz="2000" b="1" dirty="0">
                <a:solidFill>
                  <a:schemeClr val="accent6"/>
                </a:solidFill>
                <a:latin typeface="Abadi" panose="020B0604020104020204" pitchFamily="34" charset="0"/>
              </a:rPr>
              <a:t>denovo_map.pl -T 2 -o denovo -m 10 -M 5 -n 5 --popmap popmap_ingroup --samples reads/</a:t>
            </a:r>
            <a:endParaRPr lang="en-US" sz="2000" b="1" dirty="0">
              <a:solidFill>
                <a:schemeClr val="accent6"/>
              </a:solidFill>
              <a:latin typeface="Abadi" panose="020B0604020104020204" pitchFamily="34" charset="0"/>
            </a:endParaRPr>
          </a:p>
        </p:txBody>
      </p:sp>
      <p:pic>
        <p:nvPicPr>
          <p:cNvPr id="6" name="Picture 5">
            <a:extLst>
              <a:ext uri="{FF2B5EF4-FFF2-40B4-BE49-F238E27FC236}">
                <a16:creationId xmlns:a16="http://schemas.microsoft.com/office/drawing/2014/main" id="{D36E2EBD-C8BC-237F-8193-4B4095812775}"/>
              </a:ext>
            </a:extLst>
          </p:cNvPr>
          <p:cNvPicPr>
            <a:picLocks noChangeAspect="1"/>
          </p:cNvPicPr>
          <p:nvPr/>
        </p:nvPicPr>
        <p:blipFill>
          <a:blip r:embed="rId2"/>
          <a:stretch>
            <a:fillRect/>
          </a:stretch>
        </p:blipFill>
        <p:spPr>
          <a:xfrm>
            <a:off x="223018" y="5088678"/>
            <a:ext cx="11745964" cy="1486107"/>
          </a:xfrm>
          <a:prstGeom prst="rect">
            <a:avLst/>
          </a:prstGeom>
        </p:spPr>
      </p:pic>
    </p:spTree>
    <p:extLst>
      <p:ext uri="{BB962C8B-B14F-4D97-AF65-F5344CB8AC3E}">
        <p14:creationId xmlns:p14="http://schemas.microsoft.com/office/powerpoint/2010/main" val="2436274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01B8-DBA0-AF48-FABC-3D90545F380E}"/>
              </a:ext>
            </a:extLst>
          </p:cNvPr>
          <p:cNvSpPr>
            <a:spLocks noGrp="1"/>
          </p:cNvSpPr>
          <p:nvPr>
            <p:ph type="title"/>
          </p:nvPr>
        </p:nvSpPr>
        <p:spPr/>
        <p:txBody>
          <a:bodyPr>
            <a:normAutofit/>
          </a:bodyPr>
          <a:lstStyle/>
          <a:p>
            <a:r>
              <a:rPr lang="en-US" sz="6000" dirty="0" err="1">
                <a:latin typeface="Arial" panose="020B0604020202020204" pitchFamily="34" charset="0"/>
                <a:cs typeface="Arial" panose="020B0604020202020204" pitchFamily="34" charset="0"/>
              </a:rPr>
              <a:t>DeNovo</a:t>
            </a:r>
            <a:r>
              <a:rPr lang="en-US" sz="6000" dirty="0">
                <a:latin typeface="Arial" panose="020B0604020202020204" pitchFamily="34" charset="0"/>
                <a:cs typeface="Arial" panose="020B0604020202020204" pitchFamily="34" charset="0"/>
              </a:rPr>
              <a:t> choices</a:t>
            </a:r>
          </a:p>
        </p:txBody>
      </p:sp>
      <p:sp>
        <p:nvSpPr>
          <p:cNvPr id="3" name="Content Placeholder 2">
            <a:extLst>
              <a:ext uri="{FF2B5EF4-FFF2-40B4-BE49-F238E27FC236}">
                <a16:creationId xmlns:a16="http://schemas.microsoft.com/office/drawing/2014/main" id="{46797AB0-9DDA-90B3-A01B-65FDBD33B6CC}"/>
              </a:ext>
            </a:extLst>
          </p:cNvPr>
          <p:cNvSpPr>
            <a:spLocks noGrp="1"/>
          </p:cNvSpPr>
          <p:nvPr>
            <p:ph idx="1"/>
          </p:nvPr>
        </p:nvSpPr>
        <p:spPr/>
        <p:txBody>
          <a:bodyPr>
            <a:normAutofit/>
          </a:bodyPr>
          <a:lstStyle/>
          <a:p>
            <a:pPr>
              <a:buFont typeface="Wingdings" panose="05000000000000000000" pitchFamily="2" charset="2"/>
              <a:buChar char="§"/>
            </a:pPr>
            <a:r>
              <a:rPr lang="en-US" sz="2800" dirty="0">
                <a:latin typeface="Arial" panose="020B0604020202020204" pitchFamily="34" charset="0"/>
                <a:cs typeface="Arial" panose="020B0604020202020204" pitchFamily="34" charset="0"/>
              </a:rPr>
              <a:t>There are some important choices when it comes to locus construction in Stacks. I chose some that should work for everyone, but in short, they are:</a:t>
            </a:r>
          </a:p>
          <a:p>
            <a:pPr lvl="1">
              <a:buFont typeface="Wingdings" panose="05000000000000000000" pitchFamily="2" charset="2"/>
              <a:buChar char="§"/>
            </a:pPr>
            <a:r>
              <a:rPr lang="en-US" sz="2400" dirty="0">
                <a:latin typeface="Arial" panose="020B0604020202020204" pitchFamily="34" charset="0"/>
                <a:cs typeface="Arial" panose="020B0604020202020204" pitchFamily="34" charset="0"/>
              </a:rPr>
              <a:t>m, the minimum number of reads required to make a locus (stack)</a:t>
            </a:r>
          </a:p>
          <a:p>
            <a:pPr lvl="1">
              <a:buFont typeface="Wingdings" panose="05000000000000000000" pitchFamily="2" charset="2"/>
              <a:buChar char="§"/>
            </a:pPr>
            <a:r>
              <a:rPr lang="en-US" sz="2400" dirty="0">
                <a:latin typeface="Arial" panose="020B0604020202020204" pitchFamily="34" charset="0"/>
                <a:cs typeface="Arial" panose="020B0604020202020204" pitchFamily="34" charset="0"/>
              </a:rPr>
              <a:t>M, the maximum distance between loci within an individual</a:t>
            </a:r>
          </a:p>
          <a:p>
            <a:pPr lvl="1">
              <a:buFont typeface="Wingdings" panose="05000000000000000000" pitchFamily="2" charset="2"/>
              <a:buChar char="§"/>
            </a:pPr>
            <a:r>
              <a:rPr lang="en-US" sz="2400" dirty="0">
                <a:latin typeface="Arial" panose="020B0604020202020204" pitchFamily="34" charset="0"/>
                <a:cs typeface="Arial" panose="020B0604020202020204" pitchFamily="34" charset="0"/>
              </a:rPr>
              <a:t>n, the maximum distance between loci between individuals</a:t>
            </a:r>
          </a:p>
        </p:txBody>
      </p:sp>
    </p:spTree>
    <p:extLst>
      <p:ext uri="{BB962C8B-B14F-4D97-AF65-F5344CB8AC3E}">
        <p14:creationId xmlns:p14="http://schemas.microsoft.com/office/powerpoint/2010/main" val="126640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01B8-DBA0-AF48-FABC-3D90545F380E}"/>
              </a:ext>
            </a:extLst>
          </p:cNvPr>
          <p:cNvSpPr>
            <a:spLocks noGrp="1"/>
          </p:cNvSpPr>
          <p:nvPr>
            <p:ph type="title"/>
          </p:nvPr>
        </p:nvSpPr>
        <p:spPr/>
        <p:txBody>
          <a:bodyPr>
            <a:normAutofit/>
          </a:bodyPr>
          <a:lstStyle/>
          <a:p>
            <a:r>
              <a:rPr lang="en-US" sz="6000" dirty="0" err="1">
                <a:latin typeface="Arial" panose="020B0604020202020204" pitchFamily="34" charset="0"/>
                <a:cs typeface="Arial" panose="020B0604020202020204" pitchFamily="34" charset="0"/>
              </a:rPr>
              <a:t>DeNovo</a:t>
            </a:r>
            <a:r>
              <a:rPr lang="en-US" sz="6000" dirty="0">
                <a:latin typeface="Arial" panose="020B0604020202020204" pitchFamily="34" charset="0"/>
                <a:cs typeface="Arial" panose="020B0604020202020204" pitchFamily="34" charset="0"/>
              </a:rPr>
              <a:t> choices</a:t>
            </a:r>
          </a:p>
        </p:txBody>
      </p:sp>
      <p:sp>
        <p:nvSpPr>
          <p:cNvPr id="3" name="Content Placeholder 2">
            <a:extLst>
              <a:ext uri="{FF2B5EF4-FFF2-40B4-BE49-F238E27FC236}">
                <a16:creationId xmlns:a16="http://schemas.microsoft.com/office/drawing/2014/main" id="{46797AB0-9DDA-90B3-A01B-65FDBD33B6CC}"/>
              </a:ext>
            </a:extLst>
          </p:cNvPr>
          <p:cNvSpPr>
            <a:spLocks noGrp="1"/>
          </p:cNvSpPr>
          <p:nvPr>
            <p:ph idx="1"/>
          </p:nvPr>
        </p:nvSpPr>
        <p:spPr/>
        <p:txBody>
          <a:bodyPr>
            <a:normAutofit/>
          </a:bodyPr>
          <a:lstStyle/>
          <a:p>
            <a:pPr>
              <a:buFont typeface="Wingdings" panose="05000000000000000000" pitchFamily="2" charset="2"/>
              <a:buChar char="§"/>
            </a:pPr>
            <a:r>
              <a:rPr lang="en-US" sz="2600" dirty="0">
                <a:latin typeface="Arial" panose="020B0604020202020204" pitchFamily="34" charset="0"/>
                <a:cs typeface="Arial" panose="020B0604020202020204" pitchFamily="34" charset="0"/>
              </a:rPr>
              <a:t>m, the minimum number of reads required to make a locus (stack)</a:t>
            </a:r>
          </a:p>
          <a:p>
            <a:pPr lvl="1">
              <a:buFont typeface="Wingdings" panose="05000000000000000000" pitchFamily="2" charset="2"/>
              <a:buChar char="§"/>
            </a:pPr>
            <a:r>
              <a:rPr lang="en-US" sz="2400" dirty="0">
                <a:latin typeface="Arial" panose="020B0604020202020204" pitchFamily="34" charset="0"/>
                <a:cs typeface="Arial" panose="020B0604020202020204" pitchFamily="34" charset="0"/>
              </a:rPr>
              <a:t>Here it is 10, meaning any locus we have we are pretty confident in</a:t>
            </a:r>
          </a:p>
        </p:txBody>
      </p:sp>
      <p:pic>
        <p:nvPicPr>
          <p:cNvPr id="1026" name="Picture 2" descr="Minimum stack depth">
            <a:extLst>
              <a:ext uri="{FF2B5EF4-FFF2-40B4-BE49-F238E27FC236}">
                <a16:creationId xmlns:a16="http://schemas.microsoft.com/office/drawing/2014/main" id="{12FFF528-A107-11AD-7C03-F23323B88D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6740" y="2772383"/>
            <a:ext cx="6432738" cy="3409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2008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01B8-DBA0-AF48-FABC-3D90545F380E}"/>
              </a:ext>
            </a:extLst>
          </p:cNvPr>
          <p:cNvSpPr>
            <a:spLocks noGrp="1"/>
          </p:cNvSpPr>
          <p:nvPr>
            <p:ph type="title"/>
          </p:nvPr>
        </p:nvSpPr>
        <p:spPr/>
        <p:txBody>
          <a:bodyPr>
            <a:normAutofit/>
          </a:bodyPr>
          <a:lstStyle/>
          <a:p>
            <a:r>
              <a:rPr lang="en-US" sz="6000" dirty="0" err="1">
                <a:latin typeface="Arial" panose="020B0604020202020204" pitchFamily="34" charset="0"/>
                <a:cs typeface="Arial" panose="020B0604020202020204" pitchFamily="34" charset="0"/>
              </a:rPr>
              <a:t>DeNovo</a:t>
            </a:r>
            <a:r>
              <a:rPr lang="en-US" sz="6000" dirty="0">
                <a:latin typeface="Arial" panose="020B0604020202020204" pitchFamily="34" charset="0"/>
                <a:cs typeface="Arial" panose="020B0604020202020204" pitchFamily="34" charset="0"/>
              </a:rPr>
              <a:t> choices</a:t>
            </a:r>
          </a:p>
        </p:txBody>
      </p:sp>
      <p:sp>
        <p:nvSpPr>
          <p:cNvPr id="3" name="Content Placeholder 2">
            <a:extLst>
              <a:ext uri="{FF2B5EF4-FFF2-40B4-BE49-F238E27FC236}">
                <a16:creationId xmlns:a16="http://schemas.microsoft.com/office/drawing/2014/main" id="{46797AB0-9DDA-90B3-A01B-65FDBD33B6CC}"/>
              </a:ext>
            </a:extLst>
          </p:cNvPr>
          <p:cNvSpPr>
            <a:spLocks noGrp="1"/>
          </p:cNvSpPr>
          <p:nvPr>
            <p:ph idx="1"/>
          </p:nvPr>
        </p:nvSpPr>
        <p:spPr>
          <a:xfrm>
            <a:off x="1097280" y="1845734"/>
            <a:ext cx="5230339" cy="4023360"/>
          </a:xfrm>
        </p:spPr>
        <p:txBody>
          <a:bodyPr>
            <a:normAutofit/>
          </a:bodyPr>
          <a:lstStyle/>
          <a:p>
            <a:pPr>
              <a:buFont typeface="Wingdings" panose="05000000000000000000" pitchFamily="2" charset="2"/>
              <a:buChar char="§"/>
            </a:pPr>
            <a:r>
              <a:rPr lang="en-US" sz="2600" dirty="0">
                <a:latin typeface="Arial" panose="020B0604020202020204" pitchFamily="34" charset="0"/>
                <a:cs typeface="Arial" panose="020B0604020202020204" pitchFamily="34" charset="0"/>
              </a:rPr>
              <a:t>M, the maximum distance between loci within an individual</a:t>
            </a:r>
          </a:p>
          <a:p>
            <a:pPr lvl="1">
              <a:buFont typeface="Wingdings" panose="05000000000000000000" pitchFamily="2" charset="2"/>
              <a:buChar char="§"/>
            </a:pPr>
            <a:r>
              <a:rPr lang="en-US" sz="2400" dirty="0">
                <a:latin typeface="Arial" panose="020B0604020202020204" pitchFamily="34" charset="0"/>
                <a:cs typeface="Arial" panose="020B0604020202020204" pitchFamily="34" charset="0"/>
              </a:rPr>
              <a:t>Here is 3, meaning there are a maximum of 3 differences for our ~130 bp loci to be merged into a single locus</a:t>
            </a:r>
          </a:p>
        </p:txBody>
      </p:sp>
      <p:pic>
        <p:nvPicPr>
          <p:cNvPr id="2050" name="Picture 2" descr="Stack distance">
            <a:extLst>
              <a:ext uri="{FF2B5EF4-FFF2-40B4-BE49-F238E27FC236}">
                <a16:creationId xmlns:a16="http://schemas.microsoft.com/office/drawing/2014/main" id="{8492C313-0D6C-DAAD-9154-BA61DDA8A6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7619" y="1850598"/>
            <a:ext cx="5230339" cy="4315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40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01B8-DBA0-AF48-FABC-3D90545F380E}"/>
              </a:ext>
            </a:extLst>
          </p:cNvPr>
          <p:cNvSpPr>
            <a:spLocks noGrp="1"/>
          </p:cNvSpPr>
          <p:nvPr>
            <p:ph type="title"/>
          </p:nvPr>
        </p:nvSpPr>
        <p:spPr/>
        <p:txBody>
          <a:bodyPr>
            <a:normAutofit/>
          </a:bodyPr>
          <a:lstStyle/>
          <a:p>
            <a:r>
              <a:rPr lang="en-US" sz="6000" dirty="0" err="1">
                <a:latin typeface="Arial" panose="020B0604020202020204" pitchFamily="34" charset="0"/>
                <a:cs typeface="Arial" panose="020B0604020202020204" pitchFamily="34" charset="0"/>
              </a:rPr>
              <a:t>DeNovo</a:t>
            </a:r>
            <a:r>
              <a:rPr lang="en-US" sz="6000" dirty="0">
                <a:latin typeface="Arial" panose="020B0604020202020204" pitchFamily="34" charset="0"/>
                <a:cs typeface="Arial" panose="020B0604020202020204" pitchFamily="34" charset="0"/>
              </a:rPr>
              <a:t> choices</a:t>
            </a:r>
          </a:p>
        </p:txBody>
      </p:sp>
      <p:sp>
        <p:nvSpPr>
          <p:cNvPr id="3" name="Content Placeholder 2">
            <a:extLst>
              <a:ext uri="{FF2B5EF4-FFF2-40B4-BE49-F238E27FC236}">
                <a16:creationId xmlns:a16="http://schemas.microsoft.com/office/drawing/2014/main" id="{46797AB0-9DDA-90B3-A01B-65FDBD33B6CC}"/>
              </a:ext>
            </a:extLst>
          </p:cNvPr>
          <p:cNvSpPr>
            <a:spLocks noGrp="1"/>
          </p:cNvSpPr>
          <p:nvPr>
            <p:ph idx="1"/>
          </p:nvPr>
        </p:nvSpPr>
        <p:spPr>
          <a:xfrm>
            <a:off x="1097279" y="1845734"/>
            <a:ext cx="4252933" cy="4023360"/>
          </a:xfrm>
        </p:spPr>
        <p:txBody>
          <a:bodyPr>
            <a:normAutofit/>
          </a:bodyPr>
          <a:lstStyle/>
          <a:p>
            <a:pPr>
              <a:buFont typeface="Wingdings" panose="05000000000000000000" pitchFamily="2" charset="2"/>
              <a:buChar char="§"/>
            </a:pPr>
            <a:r>
              <a:rPr lang="en-US" sz="2600" dirty="0">
                <a:latin typeface="Arial" panose="020B0604020202020204" pitchFamily="34" charset="0"/>
                <a:cs typeface="Arial" panose="020B0604020202020204" pitchFamily="34" charset="0"/>
              </a:rPr>
              <a:t>n, the maximum distance between loci between individuals</a:t>
            </a:r>
          </a:p>
          <a:p>
            <a:pPr lvl="1">
              <a:buFont typeface="Wingdings" panose="05000000000000000000" pitchFamily="2" charset="2"/>
              <a:buChar char="§"/>
            </a:pPr>
            <a:r>
              <a:rPr lang="en-US" sz="2400" dirty="0">
                <a:latin typeface="Arial" panose="020B0604020202020204" pitchFamily="34" charset="0"/>
                <a:cs typeface="Arial" panose="020B0604020202020204" pitchFamily="34" charset="0"/>
              </a:rPr>
              <a:t>Here it is 3, meaning loci with more than 3 differences will be treated as separate, this fairly low number may mean you lose a lot of loci in multi-species analyses!!</a:t>
            </a:r>
          </a:p>
        </p:txBody>
      </p:sp>
      <p:pic>
        <p:nvPicPr>
          <p:cNvPr id="3074" name="Picture 2" descr="Catalog distance">
            <a:extLst>
              <a:ext uri="{FF2B5EF4-FFF2-40B4-BE49-F238E27FC236}">
                <a16:creationId xmlns:a16="http://schemas.microsoft.com/office/drawing/2014/main" id="{CD07B486-C8D2-E3F7-78A8-07FB67F646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4304" y="2013624"/>
            <a:ext cx="5938364" cy="4161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631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01B8-DBA0-AF48-FABC-3D90545F380E}"/>
              </a:ext>
            </a:extLst>
          </p:cNvPr>
          <p:cNvSpPr>
            <a:spLocks noGrp="1"/>
          </p:cNvSpPr>
          <p:nvPr>
            <p:ph type="title"/>
          </p:nvPr>
        </p:nvSpPr>
        <p:spPr/>
        <p:txBody>
          <a:bodyPr>
            <a:normAutofit/>
          </a:bodyPr>
          <a:lstStyle/>
          <a:p>
            <a:r>
              <a:rPr lang="en-US" sz="6000" dirty="0" err="1">
                <a:latin typeface="Arial" panose="020B0604020202020204" pitchFamily="34" charset="0"/>
                <a:cs typeface="Arial" panose="020B0604020202020204" pitchFamily="34" charset="0"/>
              </a:rPr>
              <a:t>DeNovo</a:t>
            </a:r>
            <a:r>
              <a:rPr lang="en-US" sz="6000" dirty="0">
                <a:latin typeface="Arial" panose="020B0604020202020204" pitchFamily="34" charset="0"/>
                <a:cs typeface="Arial" panose="020B0604020202020204" pitchFamily="34" charset="0"/>
              </a:rPr>
              <a:t> choices</a:t>
            </a:r>
          </a:p>
        </p:txBody>
      </p:sp>
      <p:sp>
        <p:nvSpPr>
          <p:cNvPr id="3" name="Content Placeholder 2">
            <a:extLst>
              <a:ext uri="{FF2B5EF4-FFF2-40B4-BE49-F238E27FC236}">
                <a16:creationId xmlns:a16="http://schemas.microsoft.com/office/drawing/2014/main" id="{46797AB0-9DDA-90B3-A01B-65FDBD33B6CC}"/>
              </a:ext>
            </a:extLst>
          </p:cNvPr>
          <p:cNvSpPr>
            <a:spLocks noGrp="1"/>
          </p:cNvSpPr>
          <p:nvPr>
            <p:ph idx="1"/>
          </p:nvPr>
        </p:nvSpPr>
        <p:spPr>
          <a:xfrm>
            <a:off x="1097279" y="1845734"/>
            <a:ext cx="5965002" cy="4023360"/>
          </a:xfrm>
        </p:spPr>
        <p:txBody>
          <a:bodyPr>
            <a:normAutofit/>
          </a:bodyPr>
          <a:lstStyle/>
          <a:p>
            <a:pPr>
              <a:buFont typeface="Wingdings" panose="05000000000000000000" pitchFamily="2" charset="2"/>
              <a:buChar char="§"/>
            </a:pPr>
            <a:r>
              <a:rPr lang="en-US" sz="2600" dirty="0">
                <a:latin typeface="Arial" panose="020B0604020202020204" pitchFamily="34" charset="0"/>
                <a:cs typeface="Arial" panose="020B0604020202020204" pitchFamily="34" charset="0"/>
              </a:rPr>
              <a:t>Paper goes over ways of selecting values for these parameters here: https://besjournals.onlinelibrary.wiley.com/doi/10.1111/2041-210X.12775 </a:t>
            </a:r>
          </a:p>
          <a:p>
            <a:pPr>
              <a:buFont typeface="Wingdings" panose="05000000000000000000" pitchFamily="2" charset="2"/>
              <a:buChar char="§"/>
            </a:pPr>
            <a:endParaRPr lang="en-US" sz="24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8DB83414-8A99-B731-5CCE-BD7D42B348C2}"/>
              </a:ext>
            </a:extLst>
          </p:cNvPr>
          <p:cNvPicPr>
            <a:picLocks noChangeAspect="1"/>
          </p:cNvPicPr>
          <p:nvPr/>
        </p:nvPicPr>
        <p:blipFill>
          <a:blip r:embed="rId2"/>
          <a:stretch>
            <a:fillRect/>
          </a:stretch>
        </p:blipFill>
        <p:spPr>
          <a:xfrm>
            <a:off x="857284" y="3901933"/>
            <a:ext cx="6204997" cy="2284860"/>
          </a:xfrm>
          <a:prstGeom prst="rect">
            <a:avLst/>
          </a:prstGeom>
        </p:spPr>
      </p:pic>
      <p:pic>
        <p:nvPicPr>
          <p:cNvPr id="13" name="Picture 12">
            <a:extLst>
              <a:ext uri="{FF2B5EF4-FFF2-40B4-BE49-F238E27FC236}">
                <a16:creationId xmlns:a16="http://schemas.microsoft.com/office/drawing/2014/main" id="{2BA4B856-C01E-F999-1992-3761781BD18E}"/>
              </a:ext>
            </a:extLst>
          </p:cNvPr>
          <p:cNvPicPr>
            <a:picLocks noChangeAspect="1"/>
          </p:cNvPicPr>
          <p:nvPr/>
        </p:nvPicPr>
        <p:blipFill>
          <a:blip r:embed="rId3"/>
          <a:stretch>
            <a:fillRect/>
          </a:stretch>
        </p:blipFill>
        <p:spPr>
          <a:xfrm>
            <a:off x="7352779" y="1767711"/>
            <a:ext cx="4568230" cy="4548016"/>
          </a:xfrm>
          <a:prstGeom prst="rect">
            <a:avLst/>
          </a:prstGeom>
        </p:spPr>
      </p:pic>
    </p:spTree>
    <p:extLst>
      <p:ext uri="{BB962C8B-B14F-4D97-AF65-F5344CB8AC3E}">
        <p14:creationId xmlns:p14="http://schemas.microsoft.com/office/powerpoint/2010/main" val="2697560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2AFE-6ADA-BA96-D02D-09D129841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B687F-91A9-ADFB-2B44-8B403BBDFE8E}"/>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The last big step: </a:t>
            </a:r>
            <a:r>
              <a:rPr lang="en-US" dirty="0" err="1">
                <a:latin typeface="Aharoni" panose="02010803020104030203" pitchFamily="2" charset="-79"/>
                <a:cs typeface="Aharoni" panose="02010803020104030203" pitchFamily="2" charset="-79"/>
              </a:rPr>
              <a:t>gstacks</a:t>
            </a:r>
            <a:endParaRPr lang="en-US" dirty="0">
              <a:latin typeface="Aharoni" panose="02010803020104030203" pitchFamily="2" charset="-79"/>
              <a:cs typeface="Aharoni" panose="02010803020104030203" pitchFamily="2" charset="-79"/>
            </a:endParaRPr>
          </a:p>
        </p:txBody>
      </p:sp>
      <p:pic>
        <p:nvPicPr>
          <p:cNvPr id="5" name="Picture 4" descr="Stacks Pipeline">
            <a:extLst>
              <a:ext uri="{FF2B5EF4-FFF2-40B4-BE49-F238E27FC236}">
                <a16:creationId xmlns:a16="http://schemas.microsoft.com/office/drawing/2014/main" id="{2A601FAA-2B17-7693-8972-CF575CE4E69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756" r="11661" b="45852"/>
          <a:stretch>
            <a:fillRect/>
          </a:stretch>
        </p:blipFill>
        <p:spPr bwMode="auto">
          <a:xfrm>
            <a:off x="984156" y="3592330"/>
            <a:ext cx="9576049" cy="326567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DFE4DF09-D36F-D119-1AD4-E5BC41F23088}"/>
              </a:ext>
            </a:extLst>
          </p:cNvPr>
          <p:cNvSpPr>
            <a:spLocks noGrp="1"/>
          </p:cNvSpPr>
          <p:nvPr>
            <p:ph idx="1"/>
          </p:nvPr>
        </p:nvSpPr>
        <p:spPr>
          <a:xfrm>
            <a:off x="838200" y="1825625"/>
            <a:ext cx="11216268" cy="4898560"/>
          </a:xfrm>
        </p:spPr>
        <p:txBody>
          <a:bodyPr>
            <a:normAutofit/>
          </a:bodyPr>
          <a:lstStyle/>
          <a:p>
            <a:r>
              <a:rPr lang="en-US" dirty="0">
                <a:latin typeface="Abadi" panose="020B0604020104020204" pitchFamily="34" charset="0"/>
              </a:rPr>
              <a:t>With reference-based data, just acts as a fast, easy-to-use SNP caller</a:t>
            </a:r>
          </a:p>
          <a:p>
            <a:pPr marL="0" indent="0">
              <a:buNone/>
            </a:pPr>
            <a:r>
              <a:rPr lang="en-US" b="1" dirty="0" err="1">
                <a:solidFill>
                  <a:schemeClr val="accent6"/>
                </a:solidFill>
                <a:latin typeface="Abadi" panose="020B0604020104020204" pitchFamily="34" charset="0"/>
              </a:rPr>
              <a:t>gstacks</a:t>
            </a:r>
            <a:r>
              <a:rPr lang="en-US" b="1" dirty="0">
                <a:solidFill>
                  <a:schemeClr val="accent6"/>
                </a:solidFill>
                <a:latin typeface="Abadi" panose="020B0604020104020204" pitchFamily="34" charset="0"/>
              </a:rPr>
              <a:t> -I </a:t>
            </a:r>
            <a:r>
              <a:rPr lang="en-US" b="1" dirty="0" err="1">
                <a:solidFill>
                  <a:schemeClr val="accent6"/>
                </a:solidFill>
                <a:latin typeface="Abadi" panose="020B0604020104020204" pitchFamily="34" charset="0"/>
              </a:rPr>
              <a:t>bams</a:t>
            </a:r>
            <a:r>
              <a:rPr lang="en-US" b="1" dirty="0">
                <a:solidFill>
                  <a:schemeClr val="accent6"/>
                </a:solidFill>
                <a:latin typeface="Abadi" panose="020B0604020104020204" pitchFamily="34" charset="0"/>
              </a:rPr>
              <a:t> -M </a:t>
            </a:r>
            <a:r>
              <a:rPr lang="en-US" b="1" dirty="0" err="1">
                <a:solidFill>
                  <a:schemeClr val="accent6"/>
                </a:solidFill>
                <a:latin typeface="Abadi" panose="020B0604020104020204" pitchFamily="34" charset="0"/>
              </a:rPr>
              <a:t>popmap_full</a:t>
            </a:r>
            <a:r>
              <a:rPr lang="en-US" b="1" dirty="0">
                <a:solidFill>
                  <a:schemeClr val="accent6"/>
                </a:solidFill>
                <a:latin typeface="Abadi" panose="020B0604020104020204" pitchFamily="34" charset="0"/>
              </a:rPr>
              <a:t> -O </a:t>
            </a:r>
            <a:r>
              <a:rPr lang="en-US" b="1" dirty="0" err="1">
                <a:solidFill>
                  <a:schemeClr val="accent6"/>
                </a:solidFill>
                <a:latin typeface="Abadi" panose="020B0604020104020204" pitchFamily="34" charset="0"/>
              </a:rPr>
              <a:t>stacks_out</a:t>
            </a:r>
            <a:r>
              <a:rPr lang="en-US" b="1" dirty="0">
                <a:solidFill>
                  <a:schemeClr val="accent6"/>
                </a:solidFill>
                <a:latin typeface="Abadi" panose="020B0604020104020204" pitchFamily="34" charset="0"/>
              </a:rPr>
              <a:t>/full/</a:t>
            </a:r>
          </a:p>
          <a:p>
            <a:pPr marL="0" indent="0">
              <a:buNone/>
            </a:pPr>
            <a:r>
              <a:rPr lang="en-US" b="1" dirty="0" err="1">
                <a:solidFill>
                  <a:schemeClr val="accent6"/>
                </a:solidFill>
                <a:latin typeface="Abadi" panose="020B0604020104020204" pitchFamily="34" charset="0"/>
              </a:rPr>
              <a:t>gstacks</a:t>
            </a:r>
            <a:r>
              <a:rPr lang="en-US" b="1" dirty="0">
                <a:solidFill>
                  <a:schemeClr val="accent6"/>
                </a:solidFill>
                <a:latin typeface="Abadi" panose="020B0604020104020204" pitchFamily="34" charset="0"/>
              </a:rPr>
              <a:t> -I </a:t>
            </a:r>
            <a:r>
              <a:rPr lang="en-US" b="1" dirty="0" err="1">
                <a:solidFill>
                  <a:schemeClr val="accent6"/>
                </a:solidFill>
                <a:latin typeface="Abadi" panose="020B0604020104020204" pitchFamily="34" charset="0"/>
              </a:rPr>
              <a:t>bams</a:t>
            </a:r>
            <a:r>
              <a:rPr lang="en-US" b="1" dirty="0">
                <a:solidFill>
                  <a:schemeClr val="accent6"/>
                </a:solidFill>
                <a:latin typeface="Abadi" panose="020B0604020104020204" pitchFamily="34" charset="0"/>
              </a:rPr>
              <a:t> -M </a:t>
            </a:r>
            <a:r>
              <a:rPr lang="en-US" b="1" dirty="0" err="1">
                <a:solidFill>
                  <a:schemeClr val="accent6"/>
                </a:solidFill>
                <a:latin typeface="Abadi" panose="020B0604020104020204" pitchFamily="34" charset="0"/>
              </a:rPr>
              <a:t>popmap_ingroup</a:t>
            </a:r>
            <a:r>
              <a:rPr lang="en-US" b="1" dirty="0">
                <a:solidFill>
                  <a:schemeClr val="accent6"/>
                </a:solidFill>
                <a:latin typeface="Abadi" panose="020B0604020104020204" pitchFamily="34" charset="0"/>
              </a:rPr>
              <a:t> -O </a:t>
            </a:r>
            <a:r>
              <a:rPr lang="en-US" b="1" dirty="0" err="1">
                <a:solidFill>
                  <a:schemeClr val="accent6"/>
                </a:solidFill>
                <a:latin typeface="Abadi" panose="020B0604020104020204" pitchFamily="34" charset="0"/>
              </a:rPr>
              <a:t>stacks_out</a:t>
            </a:r>
            <a:r>
              <a:rPr lang="en-US" b="1" dirty="0">
                <a:solidFill>
                  <a:schemeClr val="accent6"/>
                </a:solidFill>
                <a:latin typeface="Abadi" panose="020B0604020104020204" pitchFamily="34" charset="0"/>
              </a:rPr>
              <a:t>/ingroup/</a:t>
            </a:r>
          </a:p>
          <a:p>
            <a:pPr marL="0" indent="0">
              <a:buNone/>
            </a:pPr>
            <a:endParaRPr lang="en-US" b="1" dirty="0">
              <a:solidFill>
                <a:schemeClr val="accent6"/>
              </a:solidFill>
              <a:latin typeface="Abadi" panose="020B0604020104020204" pitchFamily="34" charset="0"/>
            </a:endParaRPr>
          </a:p>
        </p:txBody>
      </p:sp>
    </p:spTree>
    <p:extLst>
      <p:ext uri="{BB962C8B-B14F-4D97-AF65-F5344CB8AC3E}">
        <p14:creationId xmlns:p14="http://schemas.microsoft.com/office/powerpoint/2010/main" val="27400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2851</TotalTime>
  <Words>932</Words>
  <Application>Microsoft Office PowerPoint</Application>
  <PresentationFormat>Widescreen</PresentationFormat>
  <Paragraphs>95</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Abadi</vt:lpstr>
      <vt:lpstr>Aharoni</vt:lpstr>
      <vt:lpstr>Aptos</vt:lpstr>
      <vt:lpstr>Aptos Display</vt:lpstr>
      <vt:lpstr>Arial</vt:lpstr>
      <vt:lpstr>Wingdings</vt:lpstr>
      <vt:lpstr>Office Theme</vt:lpstr>
      <vt:lpstr>Examining and aligning reads</vt:lpstr>
      <vt:lpstr>What is a read?</vt:lpstr>
      <vt:lpstr>Counting reads</vt:lpstr>
      <vt:lpstr>Loops</vt:lpstr>
      <vt:lpstr>Loops</vt:lpstr>
      <vt:lpstr>Reference genome</vt:lpstr>
      <vt:lpstr>Aligning to our reference</vt:lpstr>
      <vt:lpstr>Aligning to our reference</vt:lpstr>
      <vt:lpstr>While we wait: de novo RADseq</vt:lpstr>
      <vt:lpstr>While we wait: de novo RADseq</vt:lpstr>
      <vt:lpstr>DeNovo choices</vt:lpstr>
      <vt:lpstr>DeNovo choices</vt:lpstr>
      <vt:lpstr>DeNovo choices</vt:lpstr>
      <vt:lpstr>DeNovo choices</vt:lpstr>
      <vt:lpstr>DeNovo choices</vt:lpstr>
      <vt:lpstr>The last big step: gstacks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Gyllenhaal</dc:creator>
  <cp:lastModifiedBy>Ethan Gyllenhaal</cp:lastModifiedBy>
  <cp:revision>555</cp:revision>
  <dcterms:created xsi:type="dcterms:W3CDTF">2026-07-08T01:44:49Z</dcterms:created>
  <dcterms:modified xsi:type="dcterms:W3CDTF">2026-07-20T11:37:46Z</dcterms:modified>
</cp:coreProperties>
</file>