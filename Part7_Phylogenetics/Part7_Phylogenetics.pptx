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DAD82-4A91-4FCD-8377-229631DED7F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BE17A-011E-42C8-B886-9AAF1509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6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7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79BA-B743-06A8-47E9-66A51174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EA823-90F2-32DF-E88B-698FF15C3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DCBF3-979F-86EB-C917-9BBD29741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A8E05-F3A7-D7AE-EB28-A88C09A93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F0187-8B69-A98A-A3E0-BE9AB2F3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9C974-6AAD-D35F-1DF4-55C7F042E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D5048-9C7C-8685-9F2B-0C31A379F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E972F-BD81-10AD-1FE1-B1B94CE31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22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D992-3134-125B-4A4A-816B388D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E6B69-6E24-19D2-8D0D-4D1D552A3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1116D-FCB7-67A6-CDF8-96592DDE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A8959-1705-8391-D562-F288B8BB6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0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685FD-5E90-B295-467A-35304EC6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99250-2D32-B3CA-5DCA-A6A12B09B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719DA-A0AE-BC84-B6FF-041B390C1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59B4-42DF-886B-643E-D24C14D2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53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D9FA-7067-05DC-BFF6-F23CEE9A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BD3D0-0ADC-B866-E929-E1AC34666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9C753-376E-BE00-DE20-E6B0BF499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61330-B1D9-A8F9-2DA9-12138EAC6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01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C88A-1746-3EC8-DDE4-D2634609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D6AFC-BF91-7B25-7FEA-74B382E69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3CBDC-B282-377F-3008-DE4CF5EA1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9CCD9-F089-5702-31A1-7E153200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C9C-2ED6-07E2-5187-63CCB8E9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277A-038B-673F-4627-ADF83DE4C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2BEB-104C-39ED-7273-6BDF7355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42A1-DB42-5F71-7EDA-C82442E0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A78-E333-71CD-2D41-FCA8444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7225-767F-C323-5C43-E544A73C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BBC-A2A3-E886-0002-300022D4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D229-AF2F-0677-327E-8DAF0AE5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9CE4-29FC-FC2B-3B3C-9F22D1AB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0D58C-9177-8E3B-7CD7-CC6F2EB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00DE-C7AC-CEE1-5C67-BAF1E4B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9492-F707-0AF1-90A2-0D010D1B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8528-6399-C1CC-1E0F-750B84AB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72-0B87-711C-2F2B-F736FE0D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E287-9188-0985-0DD5-FCBE6726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8880-F7AB-A1AF-BA71-32BC25F0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ECC1-A04F-BE53-BAE3-287D478D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F2504-8519-1D66-087A-D6410690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E88D8-4C57-2D0B-FBE1-0C4D3A16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E72A-5DC1-BE0E-DD96-81577DFF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A0AF2-98A4-2E7D-BC56-365F78FB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8984-04BA-5449-9B81-A909A0FB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51707-BFD4-6B46-E020-7F1BE906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8FA0-FBD2-C0DC-57EF-56268657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8736-2EAD-0683-5FFF-93AD48D0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52C8A-01FC-253F-1170-AC3F51B8C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A93B8-9E72-3054-6CCD-85CCB413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9AFD3-5A50-72DC-3B44-B15257D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6A861-2F50-63FB-41E4-20BCF707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EE4F-DDD0-3508-D3FD-23721D71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CA520-90D2-5900-2CE8-8297A56E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0712D-2C92-E280-8039-56B32AAF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1E025-E056-74C6-D982-FADD49F6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00ADF-7189-4746-5A27-5534D9B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677B9-E138-21A2-28C3-23E6625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513E7-BD02-0CC6-2312-A81C6CD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4B5-B629-E352-2A5C-A65764C3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23BE-33E6-0EEF-B15C-D85FFEA1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B9F4E-9B72-2DFB-F832-4CCCE235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D08E-23DC-D49B-6243-34BE241C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84A2-5407-A704-920F-6B8B9419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E16-2690-3C6D-FCA4-C3E7AA7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66A-737B-CBDE-519F-387170E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FBC2-B41F-501A-708B-F32B24FA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5A01-1E6C-775F-E6D0-D65B75A4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7599-0952-FB31-3856-C45A3780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2A0D-C317-E1A4-EABA-1FDF1F38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A2969-6900-ADA2-9316-D9A2945E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6A61-148E-387F-5384-06C3FAA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8F97-629D-244A-1A23-1DBABEDAB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99E9-2437-4F8D-6202-FD0DBCD9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D28-26E7-CF93-4879-24F3238A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F103-F0C1-095C-A68F-81CD223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02C-7B52-4611-B2BF-C1BF37DF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7E27-91D1-BD36-1CE2-232F9A1D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D49C-FBFA-8F27-ADE4-2B725E15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545-C681-2F33-6F91-FF65A9C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22C-1851-4647-7DB2-1675CAB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A00-E370-A361-4157-93A5BEA9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6534-883C-7F46-5FE7-D1017D4C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D54F-879E-01CE-4AA2-15688F79A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D886E-E654-4DF1-A3A6-2277A53517B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E8BD-15BC-B84B-9F33-6B985724E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012D-9AEF-ECEB-9F79-C10A55537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eartree.liv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artree.liv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artree.liv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eartree.liv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03F-C091-E144-388E-E639BA357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Phylogenetics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0D4C-299D-E73D-F102-E7B2B50F1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USP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Workshop</a:t>
            </a:r>
          </a:p>
          <a:p>
            <a:r>
              <a:rPr lang="en-US" dirty="0">
                <a:latin typeface="Abadi" panose="020B0604020104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2861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8C45-9FE0-D060-07DA-680C7A1B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Phylogenetics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6EFC-6FD6-EEC0-89DC-56DD7A7E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Can be a very important aspect of your analysis, but only with sufficient divergence</a:t>
            </a:r>
          </a:p>
          <a:p>
            <a:r>
              <a:rPr lang="en-US" dirty="0">
                <a:latin typeface="Abadi" panose="020B0604020104020204" pitchFamily="34" charset="0"/>
              </a:rPr>
              <a:t>Also worth noting that they may not tell the true history of divergence, particularly in the Solomon Islands!</a:t>
            </a:r>
          </a:p>
          <a:p>
            <a:pPr lvl="1"/>
            <a:r>
              <a:rPr lang="en-US" dirty="0">
                <a:latin typeface="Abadi" panose="020B0604020104020204" pitchFamily="34" charset="0"/>
              </a:rPr>
              <a:t>Isolated populations can “pull out” and seem to be the first branch in a chain of colonization, could just be the signal of ancient gene flow</a:t>
            </a:r>
          </a:p>
          <a:p>
            <a:pPr lvl="1"/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4" name="Picture 3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BA6CA3D2-0A1D-BDBF-C266-69FA013404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" t="4464" b="59595"/>
          <a:stretch>
            <a:fillRect/>
          </a:stretch>
        </p:blipFill>
        <p:spPr>
          <a:xfrm>
            <a:off x="1155830" y="4627756"/>
            <a:ext cx="9880340" cy="22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4280-A754-3C47-96FD-9E7B5138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D827-2230-7978-FA04-7B5A0381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the input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85E963-13BA-801D-25A1-8F94DD52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32" y="1825624"/>
            <a:ext cx="6934551" cy="368307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badi" panose="020B0604020104020204" pitchFamily="34" charset="0"/>
              </a:rPr>
              <a:t>One aspect of phylogenetic data is that it favors sequences from individuals, something Stacks is obnoxious about</a:t>
            </a:r>
          </a:p>
          <a:p>
            <a:r>
              <a:rPr lang="en-US" dirty="0">
                <a:latin typeface="Abadi" panose="020B0604020104020204" pitchFamily="34" charset="0"/>
              </a:rPr>
              <a:t>We need to go back to </a:t>
            </a:r>
            <a:r>
              <a:rPr lang="en-US" dirty="0" err="1">
                <a:latin typeface="Abadi" panose="020B0604020104020204" pitchFamily="34" charset="0"/>
              </a:rPr>
              <a:t>gstacks</a:t>
            </a:r>
            <a:r>
              <a:rPr lang="en-US" dirty="0">
                <a:latin typeface="Abadi" panose="020B0604020104020204" pitchFamily="34" charset="0"/>
              </a:rPr>
              <a:t> and populations to “trick it” into outputting sequences for individuals with a new “individual” column in our population table with a max of 6 and min of 10 characters</a:t>
            </a:r>
          </a:p>
          <a:p>
            <a:r>
              <a:rPr lang="en-US" dirty="0">
                <a:latin typeface="Abadi" panose="020B0604020104020204" pitchFamily="34" charset="0"/>
              </a:rPr>
              <a:t>Then make a </a:t>
            </a:r>
            <a:r>
              <a:rPr lang="en-US" dirty="0" err="1">
                <a:latin typeface="Abadi" panose="020B0604020104020204" pitchFamily="34" charset="0"/>
              </a:rPr>
              <a:t>popmap</a:t>
            </a:r>
            <a:r>
              <a:rPr lang="en-US" dirty="0">
                <a:latin typeface="Abadi" panose="020B0604020104020204" pitchFamily="34" charset="0"/>
              </a:rPr>
              <a:t> like 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31822-89BB-24C1-1981-C4818D9AD384}"/>
              </a:ext>
            </a:extLst>
          </p:cNvPr>
          <p:cNvSpPr txBox="1"/>
          <p:nvPr/>
        </p:nvSpPr>
        <p:spPr>
          <a:xfrm>
            <a:off x="447506" y="5508702"/>
            <a:ext cx="6776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cut -f 1,7 -d ',' sample_table_Pachycephala.csv | \</a:t>
            </a:r>
          </a:p>
          <a:p>
            <a:r>
              <a:rPr lang="en-US" sz="2400" dirty="0"/>
              <a:t>	tail -n+2 | \</a:t>
            </a:r>
          </a:p>
          <a:p>
            <a:r>
              <a:rPr lang="en-US" sz="2400" dirty="0"/>
              <a:t>	tr , \\t &gt; </a:t>
            </a:r>
            <a:r>
              <a:rPr lang="en-US" sz="2400" dirty="0" err="1"/>
              <a:t>popmap_individual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EC8DE6-D95A-2054-1DF1-11B7D8C97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785" y="-1"/>
            <a:ext cx="512721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6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AA21-BFB3-C4B4-F328-2C08CE00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92A6-7BEB-81DE-E078-1A2D5C81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Making the input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5AA610-6930-F9C2-986D-749734999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Now you will run </a:t>
            </a:r>
            <a:r>
              <a:rPr lang="en-US" sz="2400" dirty="0" err="1">
                <a:latin typeface="Abadi" panose="020B0604020104020204" pitchFamily="34" charset="0"/>
              </a:rPr>
              <a:t>gstacks</a:t>
            </a:r>
            <a:r>
              <a:rPr lang="en-US" sz="2400" dirty="0">
                <a:latin typeface="Abadi" panose="020B0604020104020204" pitchFamily="34" charset="0"/>
              </a:rPr>
              <a:t> and populations again, and once again move the output to your populations folder</a:t>
            </a:r>
          </a:p>
          <a:p>
            <a:r>
              <a:rPr lang="en-US" sz="2400" dirty="0">
                <a:latin typeface="Abadi" panose="020B0604020104020204" pitchFamily="34" charset="0"/>
              </a:rPr>
              <a:t>As with before, open a file in nano like: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>
                <a:solidFill>
                  <a:schemeClr val="accent6"/>
                </a:solidFill>
                <a:latin typeface="Abadi" panose="020B0604020104020204" pitchFamily="34" charset="0"/>
              </a:rPr>
              <a:t>nano stacks_phylo.sh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Then fill it with this to run the program:</a:t>
            </a:r>
          </a:p>
          <a:p>
            <a:pPr marL="0" indent="0">
              <a:buNone/>
            </a:pPr>
            <a:endParaRPr lang="en-US" sz="2400" dirty="0">
              <a:solidFill>
                <a:schemeClr val="accent6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654A3-433E-9BCB-C4D8-FAD9ED731661}"/>
              </a:ext>
            </a:extLst>
          </p:cNvPr>
          <p:cNvSpPr txBox="1"/>
          <p:nvPr/>
        </p:nvSpPr>
        <p:spPr>
          <a:xfrm>
            <a:off x="2144486" y="3995678"/>
            <a:ext cx="82937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 err="1"/>
              <a:t>gstacks</a:t>
            </a:r>
            <a:r>
              <a:rPr lang="en-US" dirty="0"/>
              <a:t> -I </a:t>
            </a:r>
            <a:r>
              <a:rPr lang="en-US" dirty="0" err="1"/>
              <a:t>bams</a:t>
            </a:r>
            <a:r>
              <a:rPr lang="en-US" dirty="0"/>
              <a:t> -M </a:t>
            </a:r>
            <a:r>
              <a:rPr lang="en-US" dirty="0" err="1"/>
              <a:t>popmap_individual</a:t>
            </a:r>
            <a:r>
              <a:rPr lang="en-US" dirty="0"/>
              <a:t> -O </a:t>
            </a:r>
            <a:r>
              <a:rPr lang="en-US" dirty="0" err="1"/>
              <a:t>stacks_out</a:t>
            </a:r>
            <a:r>
              <a:rPr lang="en-US" dirty="0"/>
              <a:t>/individual/</a:t>
            </a:r>
          </a:p>
          <a:p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populations_out</a:t>
            </a:r>
            <a:r>
              <a:rPr lang="en-US" dirty="0"/>
              <a:t>/individual</a:t>
            </a:r>
          </a:p>
          <a:p>
            <a:endParaRPr lang="en-US" dirty="0"/>
          </a:p>
          <a:p>
            <a:r>
              <a:rPr lang="en-US" dirty="0"/>
              <a:t>populations --in-path </a:t>
            </a:r>
            <a:r>
              <a:rPr lang="en-US" dirty="0" err="1"/>
              <a:t>stacks_out</a:t>
            </a:r>
            <a:r>
              <a:rPr lang="en-US" dirty="0"/>
              <a:t>/individual/ --</a:t>
            </a:r>
            <a:r>
              <a:rPr lang="en-US" dirty="0" err="1"/>
              <a:t>popmap</a:t>
            </a:r>
            <a:r>
              <a:rPr lang="en-US" dirty="0"/>
              <a:t> </a:t>
            </a:r>
            <a:r>
              <a:rPr lang="en-US" dirty="0" err="1"/>
              <a:t>popmap_individual</a:t>
            </a:r>
            <a:r>
              <a:rPr lang="en-US" dirty="0"/>
              <a:t> \</a:t>
            </a:r>
          </a:p>
          <a:p>
            <a:r>
              <a:rPr lang="en-US" dirty="0"/>
              <a:t>            --out-path </a:t>
            </a:r>
            <a:r>
              <a:rPr lang="en-US" dirty="0" err="1"/>
              <a:t>populations_out</a:t>
            </a:r>
            <a:r>
              <a:rPr lang="en-US" dirty="0"/>
              <a:t>/individual --</a:t>
            </a:r>
            <a:r>
              <a:rPr lang="en-US" dirty="0" err="1"/>
              <a:t>phylip</a:t>
            </a:r>
            <a:r>
              <a:rPr lang="en-US" dirty="0"/>
              <a:t>-var-all \</a:t>
            </a:r>
          </a:p>
          <a:p>
            <a:r>
              <a:rPr lang="en-US" dirty="0"/>
              <a:t>            --min-samples-overall 0.75</a:t>
            </a:r>
          </a:p>
          <a:p>
            <a:r>
              <a:rPr lang="en-US" dirty="0"/>
              <a:t>mv </a:t>
            </a:r>
            <a:r>
              <a:rPr lang="en-US" dirty="0" err="1"/>
              <a:t>populations_out</a:t>
            </a:r>
            <a:r>
              <a:rPr lang="en-US" dirty="0"/>
              <a:t>/individual/</a:t>
            </a:r>
            <a:r>
              <a:rPr lang="en-US" dirty="0" err="1"/>
              <a:t>populations.all.phylip</a:t>
            </a:r>
            <a:r>
              <a:rPr lang="en-US" dirty="0"/>
              <a:t> output/NAME_75.phylip</a:t>
            </a:r>
          </a:p>
        </p:txBody>
      </p:sp>
    </p:spTree>
    <p:extLst>
      <p:ext uri="{BB962C8B-B14F-4D97-AF65-F5344CB8AC3E}">
        <p14:creationId xmlns:p14="http://schemas.microsoft.com/office/powerpoint/2010/main" val="95725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D902-B361-BC43-AB4B-33931F5C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622F-4980-A39B-F54A-94097AB7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IQtree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B44A90-7ADB-38A3-E3EB-80BD6A63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badi" panose="020B0604020104020204" pitchFamily="34" charset="0"/>
              </a:rPr>
              <a:t>We now need to add a new program to our environment to run everything! With your </a:t>
            </a:r>
            <a:r>
              <a:rPr lang="en-US" dirty="0" err="1">
                <a:latin typeface="Abadi" panose="020B0604020104020204" pitchFamily="34" charset="0"/>
              </a:rPr>
              <a:t>conda</a:t>
            </a:r>
            <a:r>
              <a:rPr lang="en-US" dirty="0">
                <a:latin typeface="Abadi" panose="020B0604020104020204" pitchFamily="34" charset="0"/>
              </a:rPr>
              <a:t> environment loaded, type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conda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install -c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bioconda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-c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conda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-forge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iqtree</a:t>
            </a:r>
            <a:endParaRPr lang="en-US" dirty="0">
              <a:solidFill>
                <a:schemeClr val="accent6"/>
              </a:solidFill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Now we will simply run </a:t>
            </a:r>
            <a:r>
              <a:rPr lang="en-US" dirty="0" err="1">
                <a:latin typeface="Abadi" panose="020B0604020104020204" pitchFamily="34" charset="0"/>
              </a:rPr>
              <a:t>IQTree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iqtree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-s output/NAME_75.phylip -m MFP -B 1000 -T 2</a:t>
            </a:r>
          </a:p>
          <a:p>
            <a:r>
              <a:rPr lang="en-US" dirty="0">
                <a:latin typeface="Abadi" panose="020B0604020104020204" pitchFamily="34" charset="0"/>
              </a:rPr>
              <a:t>This will take a while because we use a full model finding protocol!</a:t>
            </a:r>
          </a:p>
          <a:p>
            <a:r>
              <a:rPr lang="en-US" dirty="0">
                <a:latin typeface="Abadi" panose="020B0604020104020204" pitchFamily="34" charset="0"/>
              </a:rPr>
              <a:t>We can also add a new and helpful additional bit of information using site concordance factors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iqtree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-t output/NAME_75.phylip.treefile \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      --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scf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5000 -s output/NAME_75.phylip \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      --prefix NAME_SCF_75 -T 2</a:t>
            </a:r>
          </a:p>
        </p:txBody>
      </p:sp>
    </p:spTree>
    <p:extLst>
      <p:ext uri="{BB962C8B-B14F-4D97-AF65-F5344CB8AC3E}">
        <p14:creationId xmlns:p14="http://schemas.microsoft.com/office/powerpoint/2010/main" val="269000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7E4F-2CB4-93AF-D412-F99A90B5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B129-742C-D632-A9CF-CF9479D5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Visualizing our trees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A5C5BC-9AC3-AD30-688E-E53D9DE39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will view our trees with </a:t>
            </a:r>
            <a:r>
              <a:rPr lang="en-US" dirty="0" err="1">
                <a:latin typeface="Abadi" panose="020B0604020104020204" pitchFamily="34" charset="0"/>
              </a:rPr>
              <a:t>PearTree</a:t>
            </a:r>
            <a:r>
              <a:rPr lang="en-US" dirty="0">
                <a:latin typeface="Abadi" panose="020B0604020104020204" pitchFamily="34" charset="0"/>
              </a:rPr>
              <a:t> (I used to use </a:t>
            </a:r>
            <a:r>
              <a:rPr lang="en-US" dirty="0" err="1">
                <a:latin typeface="Abadi" panose="020B0604020104020204" pitchFamily="34" charset="0"/>
              </a:rPr>
              <a:t>FigTee</a:t>
            </a:r>
            <a:r>
              <a:rPr lang="en-US" dirty="0">
                <a:latin typeface="Abadi" panose="020B0604020104020204" pitchFamily="34" charset="0"/>
              </a:rPr>
              <a:t>): </a:t>
            </a:r>
            <a:r>
              <a:rPr lang="en-US" dirty="0">
                <a:latin typeface="Abadi" panose="020B0604020104020204" pitchFamily="34" charset="0"/>
                <a:hlinkClick r:id="rId3"/>
              </a:rPr>
              <a:t>https://peartree.live/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28A6E-A74E-C71B-D3C1-EED642687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751" y="2755828"/>
            <a:ext cx="9043639" cy="41021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B079FA3-8E75-520C-9BB5-3835D27EF634}"/>
              </a:ext>
            </a:extLst>
          </p:cNvPr>
          <p:cNvSpPr/>
          <p:nvPr/>
        </p:nvSpPr>
        <p:spPr>
          <a:xfrm>
            <a:off x="5229922" y="5207620"/>
            <a:ext cx="680224" cy="34568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9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7A66E-8EDC-A122-4F57-6A921E32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018520-10E7-890C-3881-8128A4CE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34" y="2706049"/>
            <a:ext cx="10660566" cy="41519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D454A-BE06-6AD1-E98E-43973E36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Visualizing our trees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B3ABF-1ACC-5B3E-D733-279BD6E7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will view our trees with </a:t>
            </a:r>
            <a:r>
              <a:rPr lang="en-US" dirty="0" err="1">
                <a:latin typeface="Abadi" panose="020B0604020104020204" pitchFamily="34" charset="0"/>
              </a:rPr>
              <a:t>PearTree</a:t>
            </a:r>
            <a:r>
              <a:rPr lang="en-US" dirty="0">
                <a:latin typeface="Abadi" panose="020B0604020104020204" pitchFamily="34" charset="0"/>
              </a:rPr>
              <a:t> (I used to use </a:t>
            </a:r>
            <a:r>
              <a:rPr lang="en-US" dirty="0" err="1">
                <a:latin typeface="Abadi" panose="020B0604020104020204" pitchFamily="34" charset="0"/>
              </a:rPr>
              <a:t>FigTee</a:t>
            </a:r>
            <a:r>
              <a:rPr lang="en-US" dirty="0">
                <a:latin typeface="Abadi" panose="020B0604020104020204" pitchFamily="34" charset="0"/>
              </a:rPr>
              <a:t>): </a:t>
            </a:r>
            <a:r>
              <a:rPr lang="en-US" dirty="0">
                <a:latin typeface="Abadi" panose="020B0604020104020204" pitchFamily="34" charset="0"/>
                <a:hlinkClick r:id="rId4"/>
              </a:rPr>
              <a:t>https://peartree.live/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A7D6EE-F5A4-1A89-68BF-EBC315AE8A1B}"/>
              </a:ext>
            </a:extLst>
          </p:cNvPr>
          <p:cNvSpPr/>
          <p:nvPr/>
        </p:nvSpPr>
        <p:spPr>
          <a:xfrm>
            <a:off x="10058400" y="6491130"/>
            <a:ext cx="680224" cy="34568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ED8DD-0327-8ECF-C352-9A3BC5285A8B}"/>
              </a:ext>
            </a:extLst>
          </p:cNvPr>
          <p:cNvSpPr txBox="1"/>
          <p:nvPr/>
        </p:nvSpPr>
        <p:spPr>
          <a:xfrm>
            <a:off x="8731405" y="5869665"/>
            <a:ext cx="231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outgroup node</a:t>
            </a:r>
          </a:p>
        </p:txBody>
      </p:sp>
    </p:spTree>
    <p:extLst>
      <p:ext uri="{BB962C8B-B14F-4D97-AF65-F5344CB8AC3E}">
        <p14:creationId xmlns:p14="http://schemas.microsoft.com/office/powerpoint/2010/main" val="4029586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82BE-DBC9-086A-21C8-513CDAAC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4501AA-205C-5013-9D49-223070B2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75" y="2752642"/>
            <a:ext cx="9400478" cy="4084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9BBAE-096A-04D1-DB3F-6CAAA9E9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Visualizing our trees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CDA23B-1E73-7F91-9A76-47D1316D6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will view our trees with </a:t>
            </a:r>
            <a:r>
              <a:rPr lang="en-US" dirty="0" err="1">
                <a:latin typeface="Abadi" panose="020B0604020104020204" pitchFamily="34" charset="0"/>
              </a:rPr>
              <a:t>PearTree</a:t>
            </a:r>
            <a:r>
              <a:rPr lang="en-US" dirty="0">
                <a:latin typeface="Abadi" panose="020B0604020104020204" pitchFamily="34" charset="0"/>
              </a:rPr>
              <a:t> (I used to use </a:t>
            </a:r>
            <a:r>
              <a:rPr lang="en-US" dirty="0" err="1">
                <a:latin typeface="Abadi" panose="020B0604020104020204" pitchFamily="34" charset="0"/>
              </a:rPr>
              <a:t>FigTee</a:t>
            </a:r>
            <a:r>
              <a:rPr lang="en-US" dirty="0">
                <a:latin typeface="Abadi" panose="020B0604020104020204" pitchFamily="34" charset="0"/>
              </a:rPr>
              <a:t>): </a:t>
            </a:r>
            <a:r>
              <a:rPr lang="en-US" dirty="0">
                <a:latin typeface="Abadi" panose="020B0604020104020204" pitchFamily="34" charset="0"/>
                <a:hlinkClick r:id="rId4"/>
              </a:rPr>
              <a:t>https://peartree.live/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F5FABA5-A263-F935-E150-058BA5D52422}"/>
              </a:ext>
            </a:extLst>
          </p:cNvPr>
          <p:cNvSpPr/>
          <p:nvPr/>
        </p:nvSpPr>
        <p:spPr>
          <a:xfrm>
            <a:off x="9618329" y="6504002"/>
            <a:ext cx="680224" cy="34568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0BE05-4E0F-B04E-C9B5-EF8B6FBABB0E}"/>
              </a:ext>
            </a:extLst>
          </p:cNvPr>
          <p:cNvSpPr txBox="1"/>
          <p:nvPr/>
        </p:nvSpPr>
        <p:spPr>
          <a:xfrm>
            <a:off x="7658758" y="6029465"/>
            <a:ext cx="3028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Select outgroup 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4F9DFD-3117-432E-5BC3-C59DEB32B7CA}"/>
              </a:ext>
            </a:extLst>
          </p:cNvPr>
          <p:cNvSpPr/>
          <p:nvPr/>
        </p:nvSpPr>
        <p:spPr>
          <a:xfrm>
            <a:off x="6198220" y="2617707"/>
            <a:ext cx="421486" cy="51694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92D886-D43F-BFBA-02DA-D5B3C0D17F71}"/>
              </a:ext>
            </a:extLst>
          </p:cNvPr>
          <p:cNvSpPr txBox="1"/>
          <p:nvPr/>
        </p:nvSpPr>
        <p:spPr>
          <a:xfrm>
            <a:off x="5514007" y="3198167"/>
            <a:ext cx="2252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Re-root the tree</a:t>
            </a:r>
          </a:p>
        </p:txBody>
      </p:sp>
    </p:spTree>
    <p:extLst>
      <p:ext uri="{BB962C8B-B14F-4D97-AF65-F5344CB8AC3E}">
        <p14:creationId xmlns:p14="http://schemas.microsoft.com/office/powerpoint/2010/main" val="98398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1C8F-940A-16ED-DF71-C90E95B2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3703-FC70-3627-C087-D9192A23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Visualizing our trees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878E63-531F-BBE1-A17A-ACBD6F49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906293" cy="482050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will view our trees with </a:t>
            </a:r>
            <a:r>
              <a:rPr lang="en-US" dirty="0" err="1">
                <a:latin typeface="Abadi" panose="020B0604020104020204" pitchFamily="34" charset="0"/>
              </a:rPr>
              <a:t>PearTree</a:t>
            </a:r>
            <a:r>
              <a:rPr lang="en-US" dirty="0">
                <a:latin typeface="Abadi" panose="020B0604020104020204" pitchFamily="34" charset="0"/>
              </a:rPr>
              <a:t> (I used to use </a:t>
            </a:r>
            <a:r>
              <a:rPr lang="en-US" dirty="0" err="1">
                <a:latin typeface="Abadi" panose="020B0604020104020204" pitchFamily="34" charset="0"/>
              </a:rPr>
              <a:t>FigTee</a:t>
            </a:r>
            <a:r>
              <a:rPr lang="en-US" dirty="0">
                <a:latin typeface="Abadi" panose="020B0604020104020204" pitchFamily="34" charset="0"/>
              </a:rPr>
              <a:t>): </a:t>
            </a:r>
            <a:r>
              <a:rPr lang="en-US" dirty="0">
                <a:latin typeface="Abadi" panose="020B0604020104020204" pitchFamily="34" charset="0"/>
                <a:hlinkClick r:id="rId3"/>
              </a:rPr>
              <a:t>https://peartree.live/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9F854-6FC9-1B36-8F0F-809833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83" y="2708243"/>
            <a:ext cx="10515600" cy="411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CC06-2ECC-6F37-E9FE-42BFE69B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F61D-8D9B-E5B4-D0C0-8872F7B1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Visualizing our trees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62E4FB-E78F-FE86-0B0F-6F265FBC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4621"/>
            <a:ext cx="10906293" cy="4820503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For the SCF, view the nexus file and change the node labels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A1D392-653F-5F5E-73E3-4CDC8EDB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19" y="2211558"/>
            <a:ext cx="11835161" cy="46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6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4995</TotalTime>
  <Words>547</Words>
  <Application>Microsoft Office PowerPoint</Application>
  <PresentationFormat>Widescreen</PresentationFormat>
  <Paragraphs>59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Abadi</vt:lpstr>
      <vt:lpstr>Aharoni</vt:lpstr>
      <vt:lpstr>Aptos</vt:lpstr>
      <vt:lpstr>Aptos Display</vt:lpstr>
      <vt:lpstr>Arial</vt:lpstr>
      <vt:lpstr>Office Theme</vt:lpstr>
      <vt:lpstr>Phylogenetics</vt:lpstr>
      <vt:lpstr>Phylogenetics</vt:lpstr>
      <vt:lpstr>Making the input</vt:lpstr>
      <vt:lpstr>Making the input</vt:lpstr>
      <vt:lpstr>Running IQtree</vt:lpstr>
      <vt:lpstr>Visualizing our trees</vt:lpstr>
      <vt:lpstr>Visualizing our trees</vt:lpstr>
      <vt:lpstr>Visualizing our trees</vt:lpstr>
      <vt:lpstr>Visualizing our trees</vt:lpstr>
      <vt:lpstr>Visualizing our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Gyllenhaal</dc:creator>
  <cp:lastModifiedBy>Ethan Gyllenhaal</cp:lastModifiedBy>
  <cp:revision>886</cp:revision>
  <dcterms:created xsi:type="dcterms:W3CDTF">2026-07-08T01:44:49Z</dcterms:created>
  <dcterms:modified xsi:type="dcterms:W3CDTF">2026-07-21T09:23:48Z</dcterms:modified>
</cp:coreProperties>
</file>