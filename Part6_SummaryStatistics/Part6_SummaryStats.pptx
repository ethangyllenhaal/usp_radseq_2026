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468" r:id="rId8"/>
    <p:sldId id="262" r:id="rId9"/>
    <p:sldId id="263" r:id="rId10"/>
    <p:sldId id="264" r:id="rId11"/>
    <p:sldId id="265" r:id="rId12"/>
    <p:sldId id="266" r:id="rId13"/>
    <p:sldId id="267" r:id="rId14"/>
    <p:sldId id="463" r:id="rId15"/>
    <p:sldId id="280" r:id="rId16"/>
    <p:sldId id="291" r:id="rId17"/>
    <p:sldId id="464" r:id="rId18"/>
    <p:sldId id="465" r:id="rId19"/>
    <p:sldId id="466" r:id="rId20"/>
    <p:sldId id="4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83" autoAdjust="0"/>
  </p:normalViewPr>
  <p:slideViewPr>
    <p:cSldViewPr snapToGrid="0">
      <p:cViewPr varScale="1">
        <p:scale>
          <a:sx n="69" d="100"/>
          <a:sy n="69" d="100"/>
        </p:scale>
        <p:origin x="120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DAD82-4A91-4FCD-8377-229631DED7F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BE17A-011E-42C8-B886-9AAF1509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6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71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7A60B-6EEC-1BBD-692B-9A434598F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0671B-F75A-76C3-61BB-0E337C708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B9B29-B299-CBCA-43FC-357713E97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2F450-F961-C52C-B987-0CA643800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59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75605-98E1-35BA-5AA1-9D87367D8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B906E-FDA9-8ADC-D855-840FA6FF0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40B56-0931-9E02-9E81-4CDFE2A5C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4A987-2606-9D19-A988-34B1CB8D2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25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83B9E-BBEE-AA8F-0D5B-494B42BB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52AF3-A812-8843-0233-DAA1E33CD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DC6F4-2F04-8DB9-E813-BD6C38EDE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2BEA6-1C2A-6A7B-22CC-85A73B18E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68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43421-A75E-8480-92E5-75B18EC0F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CE61F-ED69-2697-9EB0-D62626849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C1594-1D3D-3BBE-7327-1A6E7AC81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2B632-0337-0FA5-4C60-D76D093C7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13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4E75A-90C5-8C64-5D85-2785796B9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73085-25FA-2CD8-7E0B-436CFA197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39791-8011-A8F5-A538-B9D9F1ECA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B98F3-EDF7-3524-B093-E678743AF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91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59B17-2242-D16C-FBCA-BAC4D057B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E3D19-4B51-04C8-028D-47AC1C036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66CC2-3208-145C-6147-A3005D393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C9477-6482-EC65-4012-02C2AABCC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62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22564-BF5B-03AA-5313-7C8AF9E4A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F3F09-8B58-41CC-E334-D08D1A3F5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4D8F64-FC9B-3B73-2E94-6AE03D128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6EC17-592C-71B0-EA69-995EFA056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26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F0CBA-47C0-AFA8-715F-B95654D1B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4B696-30D5-BD4E-C18D-E5055BBF2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C8E19-25B4-7579-06C6-18B971F44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AE127-FD65-3D2E-3EFA-1C2571531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42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B7D9F-874C-C279-1C94-F95AB9F3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36AA4-B4F6-4261-CC64-C67A0DEFC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D8D07-3C13-9014-32A6-D9CE09366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1BABC-9D62-F188-E1F5-A9B2225FA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42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4F663-2238-A012-E276-D29997F4C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443FE-F635-CDE6-E46F-C74618A3B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524DA-DF0F-858B-D060-53DA2381C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4D280-09C0-E202-0AAF-58304EACF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097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17C0D-5EEE-C822-BFAE-F8BF376B2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52636-23A5-5ACD-BD30-3CDDA1210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8F711-B8D8-F4B3-0D72-4BF1C0D20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A1B16-8564-1A6E-3A67-CEE698A35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35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3C9C-2ED6-07E2-5187-63CCB8E96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D277A-038B-673F-4627-ADF83DE4C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42BEB-104C-39ED-7273-6BDF7355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F42A1-DB42-5F71-7EDA-C82442E0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23A78-E333-71CD-2D41-FCA8444F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2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97225-767F-C323-5C43-E544A73C3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82BBC-A2A3-E886-0002-300022D49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BD229-AF2F-0677-327E-8DAF0AE5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9CE4-29FC-FC2B-3B3C-9F22D1AB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0D58C-9177-8E3B-7CD7-CC6F2EB4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6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00DE-C7AC-CEE1-5C67-BAF1E4B3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99492-F707-0AF1-90A2-0D010D1BF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98528-6399-C1CC-1E0F-750B84AB4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49D72-0B87-711C-2F2B-F736FE0D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FE287-9188-0985-0DD5-FCBE6726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78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78880-F7AB-A1AF-BA71-32BC25F00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BECC1-A04F-BE53-BAE3-287D478DD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F2504-8519-1D66-087A-D6410690B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E88D8-4C57-2D0B-FBE1-0C4D3A16F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8E72A-5DC1-BE0E-DD96-81577DFF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A0AF2-98A4-2E7D-BC56-365F78FB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8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8984-04BA-5449-9B81-A909A0FBC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51707-BFD4-6B46-E020-7F1BE906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B8FA0-FBD2-C0DC-57EF-56268657D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C8736-2EAD-0683-5FFF-93AD48D03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52C8A-01FC-253F-1170-AC3F51B8C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AA93B8-9E72-3054-6CCD-85CCB413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79AFD3-5A50-72DC-3B44-B15257DF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6A861-2F50-63FB-41E4-20BCF7071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9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EE4F-DDD0-3508-D3FD-23721D711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BCA520-90D2-5900-2CE8-8297A56E1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0712D-2C92-E280-8039-56B32AAF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1E025-E056-74C6-D982-FADD49F6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49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700ADF-7189-4746-5A27-5534D9BC4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677B9-E138-21A2-28C3-23E66257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513E7-BD02-0CC6-2312-A81C6CD1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56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324B5-B629-E352-2A5C-A65764C3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23BE-33E6-0EEF-B15C-D85FFEA18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B9F4E-9B72-2DFB-F832-4CCCE235C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FD08E-23DC-D49B-6243-34BE241C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684A2-5407-A704-920F-6B8B9419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ACE16-2690-3C6D-FCA4-C3E7AA72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9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B66A-737B-CBDE-519F-387170E2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7FBC2-B41F-501A-708B-F32B24FA7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E5A01-1E6C-775F-E6D0-D65B75A42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07599-0952-FB31-3856-C45A37800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12A0D-C317-E1A4-EABA-1FDF1F380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A2969-6900-ADA2-9316-D9A2945E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6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86A61-148E-387F-5384-06C3FAA6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D8F97-629D-244A-1A23-1DBABEDAB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599E9-2437-4F8D-6202-FD0DBCD9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D7D28-26E7-CF93-4879-24F3238A9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3F103-F0C1-095C-A68F-81CD223A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72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69002C-7B52-4611-B2BF-C1BF37DF3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D7E27-91D1-BD36-1CE2-232F9A1D0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7D49C-FBFA-8F27-ADE4-2B725E15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96545-C681-2F33-6F91-FF65A9C0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0622C-1851-4647-7DB2-1675CABF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8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45A00-E370-A361-4157-93A5BEA91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66534-883C-7F46-5FE7-D1017D4C5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CD54F-879E-01CE-4AA2-15688F79A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D886E-E654-4DF1-A3A6-2277A53517B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1E8BD-15BC-B84B-9F33-6B985724E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E012D-9AEF-ECEB-9F79-C10A55537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7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s://github.com/ethangyllenhaal/FijiPachyRad/tree/main/04_pairwise_Fst" TargetMode="External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hyperlink" Target="https://devonderaad.github.io/zosterops.rad/zosterops.pairwise.fst.htm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B03F-C091-E144-388E-E639BA3574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>
                <a:latin typeface="Aharoni" panose="02010803020104030203" pitchFamily="2" charset="-79"/>
                <a:cs typeface="Aharoni" panose="02010803020104030203" pitchFamily="2" charset="-79"/>
              </a:rPr>
              <a:t>Summary Statistics</a:t>
            </a:r>
            <a:endParaRPr lang="en-US" sz="7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A0D4C-299D-E73D-F102-E7B2B50F18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USP </a:t>
            </a:r>
            <a:r>
              <a:rPr lang="en-US" dirty="0" err="1">
                <a:latin typeface="Abadi" panose="020B0604020104020204" pitchFamily="34" charset="0"/>
              </a:rPr>
              <a:t>RADseq</a:t>
            </a:r>
            <a:r>
              <a:rPr lang="en-US" dirty="0">
                <a:latin typeface="Abadi" panose="020B0604020104020204" pitchFamily="34" charset="0"/>
              </a:rPr>
              <a:t> Workshop</a:t>
            </a:r>
          </a:p>
          <a:p>
            <a:r>
              <a:rPr lang="en-US" dirty="0">
                <a:latin typeface="Abadi" panose="020B0604020104020204" pitchFamily="34" charset="0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286170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8C45-9FE0-D060-07DA-680C7A1B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Summary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B6EFC-6FD6-EEC0-89DC-56DD7A7E3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00063" cy="4898560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Method of summarizing variants in a set of individuals</a:t>
            </a:r>
          </a:p>
          <a:p>
            <a:r>
              <a:rPr lang="en-US" dirty="0">
                <a:latin typeface="Abadi" panose="020B0604020104020204" pitchFamily="34" charset="0"/>
              </a:rPr>
              <a:t>Key ones are involved in diversity (pi, heterozygosity), divergence (</a:t>
            </a:r>
            <a:r>
              <a:rPr lang="en-US" dirty="0" err="1">
                <a:latin typeface="Abadi" panose="020B0604020104020204" pitchFamily="34" charset="0"/>
              </a:rPr>
              <a:t>d</a:t>
            </a:r>
            <a:r>
              <a:rPr lang="en-US" baseline="-25000" dirty="0" err="1">
                <a:latin typeface="Abadi" panose="020B0604020104020204" pitchFamily="34" charset="0"/>
              </a:rPr>
              <a:t>xy</a:t>
            </a:r>
            <a:r>
              <a:rPr lang="en-US" dirty="0">
                <a:latin typeface="Abadi" panose="020B0604020104020204" pitchFamily="34" charset="0"/>
              </a:rPr>
              <a:t>, F</a:t>
            </a:r>
            <a:r>
              <a:rPr lang="en-US" baseline="-25000" dirty="0">
                <a:latin typeface="Abadi" panose="020B0604020104020204" pitchFamily="34" charset="0"/>
              </a:rPr>
              <a:t>ST</a:t>
            </a:r>
            <a:r>
              <a:rPr lang="en-US" dirty="0">
                <a:latin typeface="Abadi" panose="020B0604020104020204" pitchFamily="34" charset="0"/>
              </a:rPr>
              <a:t>), and demography (Tajima’s D)</a:t>
            </a:r>
          </a:p>
          <a:p>
            <a:r>
              <a:rPr lang="en-US" dirty="0">
                <a:latin typeface="Abadi" panose="020B0604020104020204" pitchFamily="34" charset="0"/>
              </a:rPr>
              <a:t>Populations outputs many of these by default, and you may remember we moved some into our output directory</a:t>
            </a:r>
          </a:p>
          <a:p>
            <a:r>
              <a:rPr lang="en-US" dirty="0">
                <a:latin typeface="Abadi" panose="020B0604020104020204" pitchFamily="34" charset="0"/>
              </a:rPr>
              <a:t>Easiest to view in spreadsheet form (format they use is not R-friendly</a:t>
            </a:r>
          </a:p>
          <a:p>
            <a:r>
              <a:rPr lang="en-US" dirty="0">
                <a:latin typeface="Abadi" panose="020B0604020104020204" pitchFamily="34" charset="0"/>
              </a:rPr>
              <a:t>Focus on ones with invariant sites included! This is essential, emulates analyses done with the program pixy (which I highly recommend for genomic data)</a:t>
            </a:r>
          </a:p>
        </p:txBody>
      </p:sp>
    </p:spTree>
    <p:extLst>
      <p:ext uri="{BB962C8B-B14F-4D97-AF65-F5344CB8AC3E}">
        <p14:creationId xmlns:p14="http://schemas.microsoft.com/office/powerpoint/2010/main" val="273399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D4280-A754-3C47-96FD-9E7B51388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D827-2230-7978-FA04-7B5A03818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Diversity statistics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69E568-F491-91EC-C20B-25A86C9E4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4784"/>
            <a:ext cx="12192000" cy="368321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85E963-13BA-801D-25A1-8F94DD52D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00063" cy="1603375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Full table is massive, but I want to you make a new tab and first subset it to only the “all positions” section</a:t>
            </a:r>
          </a:p>
        </p:txBody>
      </p:sp>
    </p:spTree>
    <p:extLst>
      <p:ext uri="{BB962C8B-B14F-4D97-AF65-F5344CB8AC3E}">
        <p14:creationId xmlns:p14="http://schemas.microsoft.com/office/powerpoint/2010/main" val="2368368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5FAE2-A299-608B-8748-78AE0BC02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6D2F-B125-CEA8-FB40-03A6D3381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7427"/>
            <a:ext cx="10515600" cy="1325563"/>
          </a:xfrm>
        </p:spPr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Diversity statistics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6EF299-6872-41C5-CAAE-51A1D7F35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4784"/>
            <a:ext cx="12192000" cy="368321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E490C5-9053-42B4-4F7D-B56083DB3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422"/>
            <a:ext cx="9800063" cy="1603375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Full table is massive, but I want to you make a new tab and first subset it to only the “all positions” section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57F1DF-FC1C-C640-DA82-F16D88197707}"/>
              </a:ext>
            </a:extLst>
          </p:cNvPr>
          <p:cNvSpPr/>
          <p:nvPr/>
        </p:nvSpPr>
        <p:spPr>
          <a:xfrm>
            <a:off x="0" y="4984595"/>
            <a:ext cx="12192000" cy="1873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4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15EE4-076E-3036-F925-91A620FC5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DD932-8242-05D0-C17D-2809D0512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Diversity statistics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05301A-FD22-F7FB-CF60-ADC451066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00063" cy="1603375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Rename first column to relevant taxonomic/geographic level</a:t>
            </a:r>
          </a:p>
          <a:p>
            <a:r>
              <a:rPr lang="en-US" dirty="0">
                <a:latin typeface="Abadi" panose="020B0604020104020204" pitchFamily="34" charset="0"/>
              </a:rPr>
              <a:t>Delete columns other than “private”, “sites”, “</a:t>
            </a:r>
            <a:r>
              <a:rPr lang="en-US" dirty="0" err="1">
                <a:latin typeface="Abadi" panose="020B0604020104020204" pitchFamily="34" charset="0"/>
              </a:rPr>
              <a:t>polymorphic_sites</a:t>
            </a:r>
            <a:r>
              <a:rPr lang="en-US" dirty="0">
                <a:latin typeface="Abadi" panose="020B0604020104020204" pitchFamily="34" charset="0"/>
              </a:rPr>
              <a:t>”, “</a:t>
            </a:r>
            <a:r>
              <a:rPr lang="en-US" dirty="0" err="1">
                <a:latin typeface="Abadi" panose="020B0604020104020204" pitchFamily="34" charset="0"/>
              </a:rPr>
              <a:t>obs_het</a:t>
            </a:r>
            <a:r>
              <a:rPr lang="en-US" dirty="0">
                <a:latin typeface="Abadi" panose="020B0604020104020204" pitchFamily="34" charset="0"/>
              </a:rPr>
              <a:t>”, “pi”, and “</a:t>
            </a:r>
            <a:r>
              <a:rPr lang="en-US" dirty="0" err="1">
                <a:latin typeface="Abadi" panose="020B0604020104020204" pitchFamily="34" charset="0"/>
              </a:rPr>
              <a:t>fis</a:t>
            </a:r>
            <a:r>
              <a:rPr lang="en-US" dirty="0">
                <a:latin typeface="Abadi" panose="020B0604020104020204" pitchFamily="34" charset="0"/>
              </a:rPr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B2CCE6-24B2-3750-529D-F46C0FCB2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99" y="3563937"/>
            <a:ext cx="10356305" cy="305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99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216FC-6626-D04D-5C29-AC9A2ED22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599AB-9C10-9C9C-3365-67B28F6A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Diversity statistics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3454ED-4F10-2DE2-97F1-B4385EA8D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00063" cy="1603375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Look up sizes of islands you have on google (unless you have a better list handy), add it as a column</a:t>
            </a:r>
          </a:p>
          <a:p>
            <a:r>
              <a:rPr lang="en-US" dirty="0">
                <a:latin typeface="Abadi" panose="020B0604020104020204" pitchFamily="34" charset="0"/>
              </a:rPr>
              <a:t>Save as a csv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FE16A6-26B2-B34B-7C51-728C93614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283" y="3707780"/>
            <a:ext cx="9079986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26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B26B4-9624-18CB-4EEF-2495B13BE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C82ACC7-3339-3C71-9E5A-3AE37FCD6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70" y="602166"/>
            <a:ext cx="11040259" cy="597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9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1C9A4-8753-A0BD-7BE9-1FF42D60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54C01-B64D-BCDB-3A18-60A0CA4E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Correlation plot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4204FD-B47C-1C35-841B-A17DEC979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478" y="1825625"/>
            <a:ext cx="4492083" cy="4809351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Read csv into R</a:t>
            </a:r>
          </a:p>
          <a:p>
            <a:r>
              <a:rPr lang="en-US" dirty="0">
                <a:latin typeface="Abadi" panose="020B0604020104020204" pitchFamily="34" charset="0"/>
              </a:rPr>
              <a:t>Load </a:t>
            </a:r>
            <a:r>
              <a:rPr lang="en-US" dirty="0" err="1">
                <a:latin typeface="Abadi" panose="020B0604020104020204" pitchFamily="34" charset="0"/>
              </a:rPr>
              <a:t>tidyverse</a:t>
            </a:r>
            <a:r>
              <a:rPr lang="en-US" dirty="0">
                <a:latin typeface="Abadi" panose="020B0604020104020204" pitchFamily="34" charset="0"/>
              </a:rPr>
              <a:t> and </a:t>
            </a:r>
            <a:r>
              <a:rPr lang="en-US" dirty="0" err="1">
                <a:latin typeface="Abadi" panose="020B0604020104020204" pitchFamily="34" charset="0"/>
              </a:rPr>
              <a:t>corrplot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Make a correlation matrix</a:t>
            </a:r>
          </a:p>
          <a:p>
            <a:r>
              <a:rPr lang="en-US" dirty="0">
                <a:latin typeface="Abadi" panose="020B0604020104020204" pitchFamily="34" charset="0"/>
              </a:rPr>
              <a:t>Plot with </a:t>
            </a:r>
            <a:r>
              <a:rPr lang="en-US" dirty="0" err="1">
                <a:latin typeface="Abadi" panose="020B0604020104020204" pitchFamily="34" charset="0"/>
              </a:rPr>
              <a:t>corrplot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Plot a more complex 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83B501-1166-C8BE-731A-2B7F83183FA1}"/>
              </a:ext>
            </a:extLst>
          </p:cNvPr>
          <p:cNvSpPr txBox="1"/>
          <p:nvPr/>
        </p:nvSpPr>
        <p:spPr>
          <a:xfrm>
            <a:off x="4928839" y="1225689"/>
            <a:ext cx="75493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we will only need the </a:t>
            </a:r>
            <a:r>
              <a:rPr lang="en-US" dirty="0" err="1"/>
              <a:t>tidyverse</a:t>
            </a:r>
            <a:r>
              <a:rPr lang="en-US" dirty="0"/>
              <a:t>!</a:t>
            </a:r>
          </a:p>
          <a:p>
            <a:r>
              <a:rPr lang="en-US" dirty="0"/>
              <a:t>library(</a:t>
            </a:r>
            <a:r>
              <a:rPr lang="en-US" dirty="0" err="1"/>
              <a:t>tidyverse</a:t>
            </a:r>
            <a:r>
              <a:rPr lang="en-US" dirty="0"/>
              <a:t>)</a:t>
            </a:r>
          </a:p>
          <a:p>
            <a:r>
              <a:rPr lang="en-US" dirty="0"/>
              <a:t>library(</a:t>
            </a:r>
            <a:r>
              <a:rPr lang="en-US" dirty="0" err="1"/>
              <a:t>corrplot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change to working directory</a:t>
            </a:r>
          </a:p>
          <a:p>
            <a:r>
              <a:rPr lang="en-US" dirty="0" err="1"/>
              <a:t>setwd</a:t>
            </a:r>
            <a:r>
              <a:rPr lang="en-US" dirty="0"/>
              <a:t>('C:/Documents/</a:t>
            </a:r>
            <a:r>
              <a:rPr lang="en-US" dirty="0" err="1"/>
              <a:t>PostDoc</a:t>
            </a:r>
            <a:r>
              <a:rPr lang="en-US" dirty="0"/>
              <a:t>/</a:t>
            </a:r>
            <a:r>
              <a:rPr lang="en-US" dirty="0" err="1"/>
              <a:t>Workshop_working_directory</a:t>
            </a:r>
            <a:r>
              <a:rPr lang="en-US" dirty="0"/>
              <a:t>')</a:t>
            </a:r>
          </a:p>
          <a:p>
            <a:endParaRPr lang="en-US" dirty="0"/>
          </a:p>
          <a:p>
            <a:r>
              <a:rPr lang="en-US" dirty="0"/>
              <a:t># read in the file</a:t>
            </a:r>
          </a:p>
          <a:p>
            <a:r>
              <a:rPr lang="en-US" dirty="0" err="1"/>
              <a:t>sumstats</a:t>
            </a:r>
            <a:r>
              <a:rPr lang="en-US" dirty="0"/>
              <a:t> &lt;- read.csv("summary_stats.csv")</a:t>
            </a:r>
          </a:p>
          <a:p>
            <a:endParaRPr lang="en-US" dirty="0"/>
          </a:p>
          <a:p>
            <a:r>
              <a:rPr lang="en-US" dirty="0"/>
              <a:t># make a correlation matrix, removing the Population column</a:t>
            </a:r>
          </a:p>
          <a:p>
            <a:r>
              <a:rPr lang="en-US" dirty="0" err="1"/>
              <a:t>corr_matrix</a:t>
            </a:r>
            <a:r>
              <a:rPr lang="en-US" dirty="0"/>
              <a:t> &lt;- </a:t>
            </a:r>
            <a:r>
              <a:rPr lang="en-US" dirty="0" err="1"/>
              <a:t>cor</a:t>
            </a:r>
            <a:r>
              <a:rPr lang="en-US" dirty="0"/>
              <a:t>(select(</a:t>
            </a:r>
            <a:r>
              <a:rPr lang="en-US" dirty="0" err="1"/>
              <a:t>sumstats</a:t>
            </a:r>
            <a:r>
              <a:rPr lang="en-US" dirty="0"/>
              <a:t>, !Population))</a:t>
            </a:r>
          </a:p>
          <a:p>
            <a:endParaRPr lang="en-US" dirty="0"/>
          </a:p>
          <a:p>
            <a:r>
              <a:rPr lang="en-US" dirty="0"/>
              <a:t># look at a correlation plot of all values</a:t>
            </a:r>
          </a:p>
          <a:p>
            <a:r>
              <a:rPr lang="en-US" dirty="0" err="1"/>
              <a:t>corrplot</a:t>
            </a:r>
            <a:r>
              <a:rPr lang="en-US" dirty="0"/>
              <a:t>(</a:t>
            </a:r>
            <a:r>
              <a:rPr lang="en-US" dirty="0" err="1"/>
              <a:t>corr_matrix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more complex</a:t>
            </a:r>
          </a:p>
          <a:p>
            <a:r>
              <a:rPr lang="en-US" dirty="0" err="1"/>
              <a:t>corrplot.mixed</a:t>
            </a:r>
            <a:r>
              <a:rPr lang="en-US" dirty="0"/>
              <a:t>(</a:t>
            </a:r>
            <a:r>
              <a:rPr lang="en-US" dirty="0" err="1"/>
              <a:t>corr_matrix</a:t>
            </a:r>
            <a:r>
              <a:rPr lang="en-US" dirty="0"/>
              <a:t>, order = 'AOE', </a:t>
            </a:r>
            <a:r>
              <a:rPr lang="en-US" dirty="0" err="1"/>
              <a:t>tl.cex</a:t>
            </a:r>
            <a:r>
              <a:rPr lang="en-US" dirty="0"/>
              <a:t>=0.8, </a:t>
            </a:r>
            <a:r>
              <a:rPr lang="en-US" dirty="0" err="1"/>
              <a:t>tl.pos</a:t>
            </a:r>
            <a:r>
              <a:rPr lang="en-US" dirty="0"/>
              <a:t>="</a:t>
            </a:r>
            <a:r>
              <a:rPr lang="en-US" dirty="0" err="1"/>
              <a:t>lt</a:t>
            </a:r>
            <a:r>
              <a:rPr lang="en-US" dirty="0"/>
              <a:t>“,</a:t>
            </a:r>
          </a:p>
          <a:p>
            <a:r>
              <a:rPr lang="en-US" dirty="0"/>
              <a:t>         lower="ellipse", # lower corner is a visual depiction</a:t>
            </a:r>
          </a:p>
          <a:p>
            <a:r>
              <a:rPr lang="en-US" dirty="0"/>
              <a:t>         upper="number“) # upper is the correlation coefficient</a:t>
            </a:r>
          </a:p>
        </p:txBody>
      </p:sp>
    </p:spTree>
    <p:extLst>
      <p:ext uri="{BB962C8B-B14F-4D97-AF65-F5344CB8AC3E}">
        <p14:creationId xmlns:p14="http://schemas.microsoft.com/office/powerpoint/2010/main" val="341628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494DC-632A-6050-2DE3-9B4DD886D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2EED-E920-A979-52BB-B99D37B81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Correlation plot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36AA28-FB43-823E-932E-3B966B919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478" y="1825625"/>
            <a:ext cx="4492083" cy="4809351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Read csv into R</a:t>
            </a:r>
          </a:p>
          <a:p>
            <a:r>
              <a:rPr lang="en-US" dirty="0">
                <a:latin typeface="Abadi" panose="020B0604020104020204" pitchFamily="34" charset="0"/>
              </a:rPr>
              <a:t>Load </a:t>
            </a:r>
            <a:r>
              <a:rPr lang="en-US" dirty="0" err="1">
                <a:latin typeface="Abadi" panose="020B0604020104020204" pitchFamily="34" charset="0"/>
              </a:rPr>
              <a:t>tidyverse</a:t>
            </a:r>
            <a:r>
              <a:rPr lang="en-US" dirty="0">
                <a:latin typeface="Abadi" panose="020B0604020104020204" pitchFamily="34" charset="0"/>
              </a:rPr>
              <a:t> and </a:t>
            </a:r>
            <a:r>
              <a:rPr lang="en-US" dirty="0" err="1">
                <a:latin typeface="Abadi" panose="020B0604020104020204" pitchFamily="34" charset="0"/>
              </a:rPr>
              <a:t>corrplot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Make a correlation matrix</a:t>
            </a:r>
          </a:p>
          <a:p>
            <a:r>
              <a:rPr lang="en-US" dirty="0">
                <a:latin typeface="Abadi" panose="020B0604020104020204" pitchFamily="34" charset="0"/>
              </a:rPr>
              <a:t>Plot with </a:t>
            </a:r>
            <a:r>
              <a:rPr lang="en-US" dirty="0" err="1">
                <a:latin typeface="Abadi" panose="020B0604020104020204" pitchFamily="34" charset="0"/>
              </a:rPr>
              <a:t>corrplot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Plot a more complex version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3A110-539C-6076-9EF3-10B33CAEA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561" y="575566"/>
            <a:ext cx="6932342" cy="624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90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75A8F-A494-F55F-88CD-5AC660F53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E06F87-964B-3BAA-027D-849EF41C1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362" y="0"/>
            <a:ext cx="75316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9F883F-517D-295B-67EE-5C1465D43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Correlation plot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A3ED50B-3B9A-BC16-ACA4-CF9DBD856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478" y="1825625"/>
            <a:ext cx="4492083" cy="4809351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Read csv into R</a:t>
            </a:r>
          </a:p>
          <a:p>
            <a:r>
              <a:rPr lang="en-US" dirty="0">
                <a:latin typeface="Abadi" panose="020B0604020104020204" pitchFamily="34" charset="0"/>
              </a:rPr>
              <a:t>Load </a:t>
            </a:r>
            <a:r>
              <a:rPr lang="en-US" dirty="0" err="1">
                <a:latin typeface="Abadi" panose="020B0604020104020204" pitchFamily="34" charset="0"/>
              </a:rPr>
              <a:t>tidyverse</a:t>
            </a:r>
            <a:r>
              <a:rPr lang="en-US" dirty="0">
                <a:latin typeface="Abadi" panose="020B0604020104020204" pitchFamily="34" charset="0"/>
              </a:rPr>
              <a:t> and </a:t>
            </a:r>
            <a:r>
              <a:rPr lang="en-US" dirty="0" err="1">
                <a:latin typeface="Abadi" panose="020B0604020104020204" pitchFamily="34" charset="0"/>
              </a:rPr>
              <a:t>corrplot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Make a correlation matrix</a:t>
            </a:r>
          </a:p>
          <a:p>
            <a:r>
              <a:rPr lang="en-US" dirty="0">
                <a:latin typeface="Abadi" panose="020B0604020104020204" pitchFamily="34" charset="0"/>
              </a:rPr>
              <a:t>Plot with </a:t>
            </a:r>
            <a:r>
              <a:rPr lang="en-US" dirty="0" err="1">
                <a:latin typeface="Abadi" panose="020B0604020104020204" pitchFamily="34" charset="0"/>
              </a:rPr>
              <a:t>corrplot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Plot a more complex version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A5A1DDB-128F-9927-8397-C9B69B8890C8}"/>
              </a:ext>
            </a:extLst>
          </p:cNvPr>
          <p:cNvSpPr/>
          <p:nvPr/>
        </p:nvSpPr>
        <p:spPr>
          <a:xfrm>
            <a:off x="8697951" y="1825625"/>
            <a:ext cx="724829" cy="79491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CA6624-9061-3A8E-D066-156948F623CC}"/>
              </a:ext>
            </a:extLst>
          </p:cNvPr>
          <p:cNvSpPr/>
          <p:nvPr/>
        </p:nvSpPr>
        <p:spPr>
          <a:xfrm>
            <a:off x="6607096" y="3928927"/>
            <a:ext cx="724829" cy="79491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28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F9963-D70E-782E-970C-40A5493CA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9AA9F-7569-02B4-55D2-18D0C6C7F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Island size vs diversity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92F4C0-8A57-5482-9250-7D21A4F6F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5400" cy="4296395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Choose a diversity stat and plot vs log island size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Abadi" panose="020B0604020104020204" pitchFamily="34" charset="0"/>
              </a:rPr>
              <a:t>ggplot</a:t>
            </a:r>
            <a:r>
              <a:rPr lang="en-US" sz="1800" dirty="0">
                <a:latin typeface="Abadi" panose="020B0604020104020204" pitchFamily="34" charset="0"/>
              </a:rPr>
              <a:t>(data=</a:t>
            </a:r>
            <a:r>
              <a:rPr lang="en-US" sz="1800" dirty="0" err="1">
                <a:latin typeface="Abadi" panose="020B0604020104020204" pitchFamily="34" charset="0"/>
              </a:rPr>
              <a:t>sumstats</a:t>
            </a:r>
            <a:r>
              <a:rPr lang="en-US" sz="1800" dirty="0">
                <a:latin typeface="Abadi" panose="020B0604020104020204" pitchFamily="34" charset="0"/>
              </a:rPr>
              <a:t>, </a:t>
            </a:r>
            <a:r>
              <a:rPr lang="en-US" sz="1800" dirty="0" err="1">
                <a:latin typeface="Abadi" panose="020B0604020104020204" pitchFamily="34" charset="0"/>
              </a:rPr>
              <a:t>aes</a:t>
            </a:r>
            <a:r>
              <a:rPr lang="en-US" sz="1800" dirty="0">
                <a:latin typeface="Abadi" panose="020B0604020104020204" pitchFamily="34" charset="0"/>
              </a:rPr>
              <a:t>(x=log(Size), y=Pi)) +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Abadi" panose="020B0604020104020204" pitchFamily="34" charset="0"/>
              </a:rPr>
              <a:t>  </a:t>
            </a:r>
            <a:r>
              <a:rPr lang="en-US" sz="1800" dirty="0" err="1">
                <a:latin typeface="Abadi" panose="020B0604020104020204" pitchFamily="34" charset="0"/>
              </a:rPr>
              <a:t>geom_point</a:t>
            </a:r>
            <a:r>
              <a:rPr lang="en-US" sz="1800" dirty="0">
                <a:latin typeface="Abadi" panose="020B0604020104020204" pitchFamily="34" charset="0"/>
              </a:rPr>
              <a:t>() +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Abadi" panose="020B0604020104020204" pitchFamily="34" charset="0"/>
              </a:rPr>
              <a:t>  </a:t>
            </a:r>
            <a:r>
              <a:rPr lang="en-US" sz="1800" dirty="0" err="1">
                <a:latin typeface="Abadi" panose="020B0604020104020204" pitchFamily="34" charset="0"/>
              </a:rPr>
              <a:t>geom_smooth</a:t>
            </a:r>
            <a:r>
              <a:rPr lang="en-US" sz="1800" dirty="0">
                <a:latin typeface="Abadi" panose="020B0604020104020204" pitchFamily="34" charset="0"/>
              </a:rPr>
              <a:t>(method="</a:t>
            </a:r>
            <a:r>
              <a:rPr lang="en-US" sz="1800" dirty="0" err="1">
                <a:latin typeface="Abadi" panose="020B0604020104020204" pitchFamily="34" charset="0"/>
              </a:rPr>
              <a:t>lm</a:t>
            </a:r>
            <a:r>
              <a:rPr lang="en-US" sz="1800" dirty="0">
                <a:latin typeface="Abadi" panose="020B0604020104020204" pitchFamily="34" charset="0"/>
              </a:rPr>
              <a:t>") +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Abadi" panose="020B0604020104020204" pitchFamily="34" charset="0"/>
              </a:rPr>
              <a:t>  </a:t>
            </a:r>
            <a:r>
              <a:rPr lang="en-US" sz="1800" dirty="0" err="1">
                <a:latin typeface="Abadi" panose="020B0604020104020204" pitchFamily="34" charset="0"/>
              </a:rPr>
              <a:t>theme_bw</a:t>
            </a:r>
            <a:r>
              <a:rPr lang="en-US" sz="1800" dirty="0">
                <a:latin typeface="Abadi" panose="020B0604020104020204" pitchFamily="34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latin typeface="Abadi" panose="020B0604020104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latin typeface="Abadi" panose="020B0604020104020204" pitchFamily="34" charset="0"/>
              </a:rPr>
              <a:t>How strong is your correlation? Let’s look at a linear model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Abadi" panose="020B0604020104020204" pitchFamily="34" charset="0"/>
              </a:rPr>
              <a:t>model = </a:t>
            </a:r>
            <a:r>
              <a:rPr lang="en-US" sz="1800" dirty="0" err="1">
                <a:latin typeface="Abadi" panose="020B0604020104020204" pitchFamily="34" charset="0"/>
              </a:rPr>
              <a:t>lm</a:t>
            </a:r>
            <a:r>
              <a:rPr lang="en-US" sz="1800" dirty="0">
                <a:latin typeface="Abadi" panose="020B0604020104020204" pitchFamily="34" charset="0"/>
              </a:rPr>
              <a:t>(data=</a:t>
            </a:r>
            <a:r>
              <a:rPr lang="en-US" sz="1800" dirty="0" err="1">
                <a:latin typeface="Abadi" panose="020B0604020104020204" pitchFamily="34" charset="0"/>
              </a:rPr>
              <a:t>sumstats</a:t>
            </a:r>
            <a:r>
              <a:rPr lang="en-US" sz="1800" dirty="0">
                <a:latin typeface="Abadi" panose="020B0604020104020204" pitchFamily="34" charset="0"/>
              </a:rPr>
              <a:t>, </a:t>
            </a:r>
            <a:r>
              <a:rPr lang="en-US" sz="1800" dirty="0" err="1">
                <a:latin typeface="Abadi" panose="020B0604020104020204" pitchFamily="34" charset="0"/>
              </a:rPr>
              <a:t>Pi~log</a:t>
            </a:r>
            <a:r>
              <a:rPr lang="en-US" sz="1800" dirty="0">
                <a:latin typeface="Abadi" panose="020B0604020104020204" pitchFamily="34" charset="0"/>
              </a:rPr>
              <a:t>(Size))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Abadi" panose="020B0604020104020204" pitchFamily="34" charset="0"/>
              </a:rPr>
              <a:t>summary(model)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68B788-4E36-6243-90D5-45F06B887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780" y="1338246"/>
            <a:ext cx="6097618" cy="36463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8B6E1A-8658-6CB9-5B00-10C0AAD70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368" y="4984595"/>
            <a:ext cx="5336038" cy="175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24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98FEA-6BC6-709B-8A35-FB6E8B79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B453B-55B2-1C0A-F4CB-73CCE3B21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Looking closer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C9954B-1DCC-6A9C-89AB-2D21200E6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341" y="1453929"/>
            <a:ext cx="8701318" cy="520335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15462E-C119-CA31-CE6E-BD404F9C73E7}"/>
              </a:ext>
            </a:extLst>
          </p:cNvPr>
          <p:cNvCxnSpPr/>
          <p:nvPr/>
        </p:nvCxnSpPr>
        <p:spPr>
          <a:xfrm flipH="1" flipV="1">
            <a:off x="10169912" y="3691054"/>
            <a:ext cx="579864" cy="89209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B2D5DAA-79A3-77E8-162C-73580469F317}"/>
              </a:ext>
            </a:extLst>
          </p:cNvPr>
          <p:cNvSpPr txBox="1"/>
          <p:nvPr/>
        </p:nvSpPr>
        <p:spPr>
          <a:xfrm>
            <a:off x="10303727" y="4583151"/>
            <a:ext cx="1707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Viti </a:t>
            </a:r>
            <a:r>
              <a:rPr lang="en-US" dirty="0" err="1"/>
              <a:t>Levu</a:t>
            </a:r>
            <a:r>
              <a:rPr lang="en-US" dirty="0"/>
              <a:t> recent</a:t>
            </a:r>
          </a:p>
          <a:p>
            <a:r>
              <a:rPr lang="en-US" dirty="0"/>
              <a:t>colonization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EAFEB6E-EB96-C21F-3225-413C740EF651}"/>
              </a:ext>
            </a:extLst>
          </p:cNvPr>
          <p:cNvCxnSpPr>
            <a:cxnSpLocks/>
          </p:cNvCxnSpPr>
          <p:nvPr/>
        </p:nvCxnSpPr>
        <p:spPr>
          <a:xfrm flipH="1">
            <a:off x="3207833" y="2051824"/>
            <a:ext cx="1118840" cy="6390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04D6B8C-8C5D-929C-A0C7-DE6CCDECE683}"/>
              </a:ext>
            </a:extLst>
          </p:cNvPr>
          <p:cNvSpPr txBox="1"/>
          <p:nvPr/>
        </p:nvSpPr>
        <p:spPr>
          <a:xfrm>
            <a:off x="4388097" y="1721374"/>
            <a:ext cx="4066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Kioa admixed, very close to Vanua </a:t>
            </a:r>
            <a:r>
              <a:rPr lang="en-US" dirty="0" err="1"/>
              <a:t>Levu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ADD5AB-CA11-62C9-6126-A0343A660DCF}"/>
              </a:ext>
            </a:extLst>
          </p:cNvPr>
          <p:cNvCxnSpPr>
            <a:cxnSpLocks/>
          </p:cNvCxnSpPr>
          <p:nvPr/>
        </p:nvCxnSpPr>
        <p:spPr>
          <a:xfrm flipH="1" flipV="1">
            <a:off x="6694448" y="4891302"/>
            <a:ext cx="1100254" cy="62855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E7C1451-8A62-C4C9-3E9E-8DD4ECDE2EA5}"/>
              </a:ext>
            </a:extLst>
          </p:cNvPr>
          <p:cNvSpPr txBox="1"/>
          <p:nvPr/>
        </p:nvSpPr>
        <p:spPr>
          <a:xfrm>
            <a:off x="7947103" y="5404071"/>
            <a:ext cx="268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Kadavu large but isolated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1363A0-BE13-15F1-3969-71432939CB48}"/>
              </a:ext>
            </a:extLst>
          </p:cNvPr>
          <p:cNvCxnSpPr>
            <a:cxnSpLocks/>
          </p:cNvCxnSpPr>
          <p:nvPr/>
        </p:nvCxnSpPr>
        <p:spPr>
          <a:xfrm flipH="1">
            <a:off x="5140710" y="2779492"/>
            <a:ext cx="245329" cy="5590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15FED81-A2A2-C239-F0AA-DC8C4BE6D4AD}"/>
              </a:ext>
            </a:extLst>
          </p:cNvPr>
          <p:cNvSpPr txBox="1"/>
          <p:nvPr/>
        </p:nvSpPr>
        <p:spPr>
          <a:xfrm>
            <a:off x="4526212" y="2347978"/>
            <a:ext cx="3790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Ovalau</a:t>
            </a:r>
            <a:r>
              <a:rPr lang="en-US" dirty="0"/>
              <a:t> admixed, higher div than Viti!</a:t>
            </a:r>
          </a:p>
        </p:txBody>
      </p:sp>
    </p:spTree>
    <p:extLst>
      <p:ext uri="{BB962C8B-B14F-4D97-AF65-F5344CB8AC3E}">
        <p14:creationId xmlns:p14="http://schemas.microsoft.com/office/powerpoint/2010/main" val="1110822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1C34C-E4DA-0762-07CA-78092498F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A9D3-015B-D25B-B42D-838D17FCA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Intermission: simulations</a:t>
            </a:r>
          </a:p>
        </p:txBody>
      </p:sp>
    </p:spTree>
    <p:extLst>
      <p:ext uri="{BB962C8B-B14F-4D97-AF65-F5344CB8AC3E}">
        <p14:creationId xmlns:p14="http://schemas.microsoft.com/office/powerpoint/2010/main" val="3820496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3F89B-7E78-47F7-0A02-8F5409683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C6CF0-4E26-C406-3E21-819F1F19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6"/>
                </a:solidFill>
                <a:latin typeface="Avenir Next LT Pro Demi" panose="020F0502020204030204" pitchFamily="34" charset="0"/>
                <a:cs typeface="Aharoni" panose="02010803020104030203" pitchFamily="2" charset="-79"/>
              </a:rPr>
              <a:t>Simulation study: What makes an island size-diversity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DD09-FA40-9FFE-3C1B-3C216EC621E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7789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+mn-cs"/>
              </a:rPr>
              <a:t>Simulated island colonization and divergence with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+mn-cs"/>
              </a:rPr>
              <a:t>SLiM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ndview" panose="020B0502040204020203" pitchFamily="34" charset="0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+mn-cs"/>
              </a:rPr>
              <a:t>One synthetic glacial cycle (122 ka, reduced to 24,400 ticks)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+mn-cs"/>
              </a:rPr>
              <a:t>150,000 to 300,000 individuals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+mn-cs"/>
              </a:rPr>
              <a:t>50 starting individuals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+mn-cs"/>
              </a:rPr>
              <a:t>Starting diversity based on empirical AFS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+mn-cs"/>
              </a:rPr>
              <a:t>Variables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+mn-cs"/>
              </a:rPr>
              <a:t>Overwater dispersal frequency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+mn-cs"/>
              </a:rPr>
              <a:t>Dropoff in dispersal frequency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+mn-cs"/>
              </a:rPr>
              <a:t>Output diversity at given islands periodically for linear models in R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ndview" panose="020B0502040204020203" pitchFamily="34" charset="0"/>
              <a:ea typeface="+mn-ea"/>
              <a:cs typeface="+mn-cs"/>
            </a:endParaRPr>
          </a:p>
        </p:txBody>
      </p:sp>
      <p:pic>
        <p:nvPicPr>
          <p:cNvPr id="4" name="Picture 3" descr="A white clouds on a black background&#10;&#10;AI-generated content may be incorrect.">
            <a:extLst>
              <a:ext uri="{FF2B5EF4-FFF2-40B4-BE49-F238E27FC236}">
                <a16:creationId xmlns:a16="http://schemas.microsoft.com/office/drawing/2014/main" id="{18833B97-41BF-962B-2E41-018B9BB45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060" y="1619970"/>
            <a:ext cx="1979990" cy="1496856"/>
          </a:xfrm>
          <a:prstGeom prst="rect">
            <a:avLst/>
          </a:prstGeom>
        </p:spPr>
      </p:pic>
      <p:pic>
        <p:nvPicPr>
          <p:cNvPr id="5" name="Picture 4" descr="A hexagon image of a map&#10;&#10;Description automatically generated">
            <a:extLst>
              <a:ext uri="{FF2B5EF4-FFF2-40B4-BE49-F238E27FC236}">
                <a16:creationId xmlns:a16="http://schemas.microsoft.com/office/drawing/2014/main" id="{4D9B14CD-EDE6-3FC4-5F00-48D1D97A1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307" y="1532811"/>
            <a:ext cx="1297118" cy="1496856"/>
          </a:xfrm>
          <a:prstGeom prst="rect">
            <a:avLst/>
          </a:prstGeom>
        </p:spPr>
      </p:pic>
      <p:pic>
        <p:nvPicPr>
          <p:cNvPr id="7" name="Picture 6" descr="SLiM">
            <a:extLst>
              <a:ext uri="{FF2B5EF4-FFF2-40B4-BE49-F238E27FC236}">
                <a16:creationId xmlns:a16="http://schemas.microsoft.com/office/drawing/2014/main" id="{0192EDE7-795B-4318-488E-A3CECAD4F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601" y="1736010"/>
            <a:ext cx="1335494" cy="1335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AC42947-9C97-CD58-361D-B8E4CC993EFC}"/>
              </a:ext>
            </a:extLst>
          </p:cNvPr>
          <p:cNvGrpSpPr/>
          <p:nvPr/>
        </p:nvGrpSpPr>
        <p:grpSpPr>
          <a:xfrm>
            <a:off x="6466982" y="3601804"/>
            <a:ext cx="2144850" cy="1193260"/>
            <a:chOff x="2981567" y="1589108"/>
            <a:chExt cx="3086583" cy="171718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A311F15-DA41-6D7C-7942-C21B42341522}"/>
                </a:ext>
              </a:extLst>
            </p:cNvPr>
            <p:cNvSpPr/>
            <p:nvPr/>
          </p:nvSpPr>
          <p:spPr>
            <a:xfrm>
              <a:off x="2981567" y="1589108"/>
              <a:ext cx="1477988" cy="634480"/>
            </a:xfrm>
            <a:custGeom>
              <a:avLst/>
              <a:gdLst>
                <a:gd name="connsiteX0" fmla="*/ 365488 w 1477988"/>
                <a:gd name="connsiteY0" fmla="*/ 417707 h 634480"/>
                <a:gd name="connsiteX1" fmla="*/ 866933 w 1477988"/>
                <a:gd name="connsiteY1" fmla="*/ 634017 h 634480"/>
                <a:gd name="connsiteX2" fmla="*/ 1476533 w 1477988"/>
                <a:gd name="connsiteY2" fmla="*/ 358714 h 634480"/>
                <a:gd name="connsiteX3" fmla="*/ 1004585 w 1477988"/>
                <a:gd name="connsiteY3" fmla="*/ 4752 h 634480"/>
                <a:gd name="connsiteX4" fmla="*/ 21359 w 1477988"/>
                <a:gd name="connsiteY4" fmla="*/ 171901 h 634480"/>
                <a:gd name="connsiteX5" fmla="*/ 365488 w 1477988"/>
                <a:gd name="connsiteY5" fmla="*/ 417707 h 63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988" h="634480">
                  <a:moveTo>
                    <a:pt x="365488" y="417707"/>
                  </a:moveTo>
                  <a:cubicBezTo>
                    <a:pt x="506417" y="494726"/>
                    <a:pt x="681759" y="643849"/>
                    <a:pt x="866933" y="634017"/>
                  </a:cubicBezTo>
                  <a:cubicBezTo>
                    <a:pt x="1052107" y="624185"/>
                    <a:pt x="1453591" y="463591"/>
                    <a:pt x="1476533" y="358714"/>
                  </a:cubicBezTo>
                  <a:cubicBezTo>
                    <a:pt x="1499475" y="253837"/>
                    <a:pt x="1247114" y="35887"/>
                    <a:pt x="1004585" y="4752"/>
                  </a:cubicBezTo>
                  <a:cubicBezTo>
                    <a:pt x="762056" y="-26383"/>
                    <a:pt x="126236" y="103075"/>
                    <a:pt x="21359" y="171901"/>
                  </a:cubicBezTo>
                  <a:cubicBezTo>
                    <a:pt x="-83518" y="240727"/>
                    <a:pt x="224559" y="340688"/>
                    <a:pt x="365488" y="417707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B9E01D8-A2E1-1D92-1F18-6A6A093249CB}"/>
                </a:ext>
              </a:extLst>
            </p:cNvPr>
            <p:cNvSpPr/>
            <p:nvPr/>
          </p:nvSpPr>
          <p:spPr>
            <a:xfrm>
              <a:off x="5127549" y="1906348"/>
              <a:ext cx="940601" cy="575130"/>
            </a:xfrm>
            <a:custGeom>
              <a:avLst/>
              <a:gdLst>
                <a:gd name="connsiteX0" fmla="*/ 36033 w 1659598"/>
                <a:gd name="connsiteY0" fmla="*/ 250110 h 575130"/>
                <a:gd name="connsiteX1" fmla="*/ 832446 w 1659598"/>
                <a:gd name="connsiteY1" fmla="*/ 4304 h 575130"/>
                <a:gd name="connsiteX2" fmla="*/ 1658356 w 1659598"/>
                <a:gd name="connsiteY2" fmla="*/ 466420 h 575130"/>
                <a:gd name="connsiteX3" fmla="*/ 999595 w 1659598"/>
                <a:gd name="connsiteY3" fmla="*/ 574575 h 575130"/>
                <a:gd name="connsiteX4" fmla="*/ 222846 w 1659598"/>
                <a:gd name="connsiteY4" fmla="*/ 495916 h 575130"/>
                <a:gd name="connsiteX5" fmla="*/ 36033 w 1659598"/>
                <a:gd name="connsiteY5" fmla="*/ 250110 h 57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59598" h="575130">
                  <a:moveTo>
                    <a:pt x="36033" y="250110"/>
                  </a:moveTo>
                  <a:cubicBezTo>
                    <a:pt x="137633" y="168175"/>
                    <a:pt x="562059" y="-31748"/>
                    <a:pt x="832446" y="4304"/>
                  </a:cubicBezTo>
                  <a:cubicBezTo>
                    <a:pt x="1102833" y="40356"/>
                    <a:pt x="1630498" y="371375"/>
                    <a:pt x="1658356" y="466420"/>
                  </a:cubicBezTo>
                  <a:cubicBezTo>
                    <a:pt x="1686214" y="561465"/>
                    <a:pt x="1238847" y="569659"/>
                    <a:pt x="999595" y="574575"/>
                  </a:cubicBezTo>
                  <a:cubicBezTo>
                    <a:pt x="760343" y="579491"/>
                    <a:pt x="381801" y="551632"/>
                    <a:pt x="222846" y="495916"/>
                  </a:cubicBezTo>
                  <a:cubicBezTo>
                    <a:pt x="63891" y="440200"/>
                    <a:pt x="-65567" y="332045"/>
                    <a:pt x="36033" y="250110"/>
                  </a:cubicBez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E65FFD-26D2-13DF-D91C-78EB42BCE0D3}"/>
                </a:ext>
              </a:extLst>
            </p:cNvPr>
            <p:cNvSpPr/>
            <p:nvPr/>
          </p:nvSpPr>
          <p:spPr>
            <a:xfrm>
              <a:off x="4459555" y="2523557"/>
              <a:ext cx="433993" cy="351412"/>
            </a:xfrm>
            <a:custGeom>
              <a:avLst/>
              <a:gdLst>
                <a:gd name="connsiteX0" fmla="*/ 9081 w 433993"/>
                <a:gd name="connsiteY0" fmla="*/ 74096 h 351412"/>
                <a:gd name="connsiteX1" fmla="*/ 215558 w 433993"/>
                <a:gd name="connsiteY1" fmla="*/ 5270 h 351412"/>
                <a:gd name="connsiteX2" fmla="*/ 431868 w 433993"/>
                <a:gd name="connsiteY2" fmla="*/ 182251 h 351412"/>
                <a:gd name="connsiteX3" fmla="*/ 77907 w 433993"/>
                <a:gd name="connsiteY3" fmla="*/ 349399 h 351412"/>
                <a:gd name="connsiteX4" fmla="*/ 9081 w 433993"/>
                <a:gd name="connsiteY4" fmla="*/ 74096 h 35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993" h="351412">
                  <a:moveTo>
                    <a:pt x="9081" y="74096"/>
                  </a:moveTo>
                  <a:cubicBezTo>
                    <a:pt x="32023" y="16741"/>
                    <a:pt x="145094" y="-12756"/>
                    <a:pt x="215558" y="5270"/>
                  </a:cubicBezTo>
                  <a:cubicBezTo>
                    <a:pt x="286022" y="23296"/>
                    <a:pt x="454810" y="124896"/>
                    <a:pt x="431868" y="182251"/>
                  </a:cubicBezTo>
                  <a:cubicBezTo>
                    <a:pt x="408926" y="239606"/>
                    <a:pt x="150010" y="369063"/>
                    <a:pt x="77907" y="349399"/>
                  </a:cubicBezTo>
                  <a:cubicBezTo>
                    <a:pt x="5804" y="329735"/>
                    <a:pt x="-13861" y="131451"/>
                    <a:pt x="9081" y="74096"/>
                  </a:cubicBez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A8DE1E7-F359-C309-5AED-3A3371C3A6D3}"/>
                </a:ext>
              </a:extLst>
            </p:cNvPr>
            <p:cNvSpPr/>
            <p:nvPr/>
          </p:nvSpPr>
          <p:spPr>
            <a:xfrm>
              <a:off x="5022182" y="2825146"/>
              <a:ext cx="369191" cy="309869"/>
            </a:xfrm>
            <a:custGeom>
              <a:avLst/>
              <a:gdLst>
                <a:gd name="connsiteX0" fmla="*/ 134712 w 369191"/>
                <a:gd name="connsiteY0" fmla="*/ 47810 h 309869"/>
                <a:gd name="connsiteX1" fmla="*/ 301860 w 369191"/>
                <a:gd name="connsiteY1" fmla="*/ 18313 h 309869"/>
                <a:gd name="connsiteX2" fmla="*/ 351022 w 369191"/>
                <a:gd name="connsiteY2" fmla="*/ 303449 h 309869"/>
                <a:gd name="connsiteX3" fmla="*/ 6893 w 369191"/>
                <a:gd name="connsiteY3" fmla="*/ 205126 h 309869"/>
                <a:gd name="connsiteX4" fmla="*/ 134712 w 369191"/>
                <a:gd name="connsiteY4" fmla="*/ 47810 h 309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191" h="309869">
                  <a:moveTo>
                    <a:pt x="134712" y="47810"/>
                  </a:moveTo>
                  <a:cubicBezTo>
                    <a:pt x="183873" y="16675"/>
                    <a:pt x="265808" y="-24294"/>
                    <a:pt x="301860" y="18313"/>
                  </a:cubicBezTo>
                  <a:cubicBezTo>
                    <a:pt x="337912" y="60920"/>
                    <a:pt x="400183" y="272314"/>
                    <a:pt x="351022" y="303449"/>
                  </a:cubicBezTo>
                  <a:cubicBezTo>
                    <a:pt x="301861" y="334584"/>
                    <a:pt x="42945" y="244455"/>
                    <a:pt x="6893" y="205126"/>
                  </a:cubicBezTo>
                  <a:cubicBezTo>
                    <a:pt x="-29159" y="165797"/>
                    <a:pt x="85551" y="78945"/>
                    <a:pt x="134712" y="47810"/>
                  </a:cubicBez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9BA2D8F-9062-A041-CEEE-6104AAACB286}"/>
                </a:ext>
              </a:extLst>
            </p:cNvPr>
            <p:cNvSpPr/>
            <p:nvPr/>
          </p:nvSpPr>
          <p:spPr>
            <a:xfrm>
              <a:off x="3963933" y="2782785"/>
              <a:ext cx="639490" cy="523503"/>
            </a:xfrm>
            <a:custGeom>
              <a:avLst/>
              <a:gdLst>
                <a:gd name="connsiteX0" fmla="*/ 632523 w 639490"/>
                <a:gd name="connsiteY0" fmla="*/ 257319 h 523503"/>
                <a:gd name="connsiteX1" fmla="*/ 514536 w 639490"/>
                <a:gd name="connsiteY1" fmla="*/ 522790 h 523503"/>
                <a:gd name="connsiteX2" fmla="*/ 111413 w 639490"/>
                <a:gd name="connsiteY2" fmla="*/ 326145 h 523503"/>
                <a:gd name="connsiteX3" fmla="*/ 13091 w 639490"/>
                <a:gd name="connsiteY3" fmla="*/ 50842 h 523503"/>
                <a:gd name="connsiteX4" fmla="*/ 347387 w 639490"/>
                <a:gd name="connsiteY4" fmla="*/ 21345 h 523503"/>
                <a:gd name="connsiteX5" fmla="*/ 632523 w 639490"/>
                <a:gd name="connsiteY5" fmla="*/ 257319 h 52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9490" h="523503">
                  <a:moveTo>
                    <a:pt x="632523" y="257319"/>
                  </a:moveTo>
                  <a:cubicBezTo>
                    <a:pt x="660381" y="340893"/>
                    <a:pt x="601388" y="511319"/>
                    <a:pt x="514536" y="522790"/>
                  </a:cubicBezTo>
                  <a:cubicBezTo>
                    <a:pt x="427684" y="534261"/>
                    <a:pt x="194987" y="404803"/>
                    <a:pt x="111413" y="326145"/>
                  </a:cubicBezTo>
                  <a:cubicBezTo>
                    <a:pt x="27839" y="247487"/>
                    <a:pt x="-26238" y="101642"/>
                    <a:pt x="13091" y="50842"/>
                  </a:cubicBezTo>
                  <a:cubicBezTo>
                    <a:pt x="52420" y="42"/>
                    <a:pt x="247426" y="-17984"/>
                    <a:pt x="347387" y="21345"/>
                  </a:cubicBezTo>
                  <a:cubicBezTo>
                    <a:pt x="447348" y="60674"/>
                    <a:pt x="604665" y="173745"/>
                    <a:pt x="632523" y="257319"/>
                  </a:cubicBez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7AB3AB0-48D6-5DD6-D744-926CF4279649}"/>
                </a:ext>
              </a:extLst>
            </p:cNvPr>
            <p:cNvSpPr/>
            <p:nvPr/>
          </p:nvSpPr>
          <p:spPr>
            <a:xfrm>
              <a:off x="4861780" y="3049305"/>
              <a:ext cx="177269" cy="177736"/>
            </a:xfrm>
            <a:custGeom>
              <a:avLst/>
              <a:gdLst>
                <a:gd name="connsiteX0" fmla="*/ 146 w 177269"/>
                <a:gd name="connsiteY0" fmla="*/ 69458 h 177736"/>
                <a:gd name="connsiteX1" fmla="*/ 78804 w 177269"/>
                <a:gd name="connsiteY1" fmla="*/ 177612 h 177736"/>
                <a:gd name="connsiteX2" fmla="*/ 177127 w 177269"/>
                <a:gd name="connsiteY2" fmla="*/ 89122 h 177736"/>
                <a:gd name="connsiteX3" fmla="*/ 98469 w 177269"/>
                <a:gd name="connsiteY3" fmla="*/ 632 h 177736"/>
                <a:gd name="connsiteX4" fmla="*/ 146 w 177269"/>
                <a:gd name="connsiteY4" fmla="*/ 69458 h 17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269" h="177736">
                  <a:moveTo>
                    <a:pt x="146" y="69458"/>
                  </a:moveTo>
                  <a:cubicBezTo>
                    <a:pt x="-3132" y="98955"/>
                    <a:pt x="49307" y="174335"/>
                    <a:pt x="78804" y="177612"/>
                  </a:cubicBezTo>
                  <a:cubicBezTo>
                    <a:pt x="108301" y="180889"/>
                    <a:pt x="173849" y="118619"/>
                    <a:pt x="177127" y="89122"/>
                  </a:cubicBezTo>
                  <a:cubicBezTo>
                    <a:pt x="180405" y="59625"/>
                    <a:pt x="126327" y="7187"/>
                    <a:pt x="98469" y="632"/>
                  </a:cubicBezTo>
                  <a:cubicBezTo>
                    <a:pt x="70611" y="-5923"/>
                    <a:pt x="3424" y="39961"/>
                    <a:pt x="146" y="69458"/>
                  </a:cubicBez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ED68E8-2608-7305-0282-31E677BB85AE}"/>
              </a:ext>
            </a:extLst>
          </p:cNvPr>
          <p:cNvGrpSpPr/>
          <p:nvPr/>
        </p:nvGrpSpPr>
        <p:grpSpPr>
          <a:xfrm>
            <a:off x="6099235" y="5626732"/>
            <a:ext cx="1810853" cy="1083019"/>
            <a:chOff x="5944221" y="2691010"/>
            <a:chExt cx="1777757" cy="106322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1E4128B-6BD1-4B99-160F-31DE820ADDA5}"/>
                </a:ext>
              </a:extLst>
            </p:cNvPr>
            <p:cNvGrpSpPr/>
            <p:nvPr/>
          </p:nvGrpSpPr>
          <p:grpSpPr>
            <a:xfrm>
              <a:off x="5944221" y="2691010"/>
              <a:ext cx="1777757" cy="989032"/>
              <a:chOff x="2981567" y="1589108"/>
              <a:chExt cx="3086583" cy="1717180"/>
            </a:xfrm>
            <a:solidFill>
              <a:schemeClr val="accent1"/>
            </a:solidFill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7E81495-2071-6787-031E-B41AABFB84A7}"/>
                  </a:ext>
                </a:extLst>
              </p:cNvPr>
              <p:cNvSpPr/>
              <p:nvPr/>
            </p:nvSpPr>
            <p:spPr>
              <a:xfrm>
                <a:off x="2981567" y="1589108"/>
                <a:ext cx="1477988" cy="634480"/>
              </a:xfrm>
              <a:custGeom>
                <a:avLst/>
                <a:gdLst>
                  <a:gd name="connsiteX0" fmla="*/ 365488 w 1477988"/>
                  <a:gd name="connsiteY0" fmla="*/ 417707 h 634480"/>
                  <a:gd name="connsiteX1" fmla="*/ 866933 w 1477988"/>
                  <a:gd name="connsiteY1" fmla="*/ 634017 h 634480"/>
                  <a:gd name="connsiteX2" fmla="*/ 1476533 w 1477988"/>
                  <a:gd name="connsiteY2" fmla="*/ 358714 h 634480"/>
                  <a:gd name="connsiteX3" fmla="*/ 1004585 w 1477988"/>
                  <a:gd name="connsiteY3" fmla="*/ 4752 h 634480"/>
                  <a:gd name="connsiteX4" fmla="*/ 21359 w 1477988"/>
                  <a:gd name="connsiteY4" fmla="*/ 171901 h 634480"/>
                  <a:gd name="connsiteX5" fmla="*/ 365488 w 1477988"/>
                  <a:gd name="connsiteY5" fmla="*/ 417707 h 634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77988" h="634480">
                    <a:moveTo>
                      <a:pt x="365488" y="417707"/>
                    </a:moveTo>
                    <a:cubicBezTo>
                      <a:pt x="506417" y="494726"/>
                      <a:pt x="681759" y="643849"/>
                      <a:pt x="866933" y="634017"/>
                    </a:cubicBezTo>
                    <a:cubicBezTo>
                      <a:pt x="1052107" y="624185"/>
                      <a:pt x="1453591" y="463591"/>
                      <a:pt x="1476533" y="358714"/>
                    </a:cubicBezTo>
                    <a:cubicBezTo>
                      <a:pt x="1499475" y="253837"/>
                      <a:pt x="1247114" y="35887"/>
                      <a:pt x="1004585" y="4752"/>
                    </a:cubicBezTo>
                    <a:cubicBezTo>
                      <a:pt x="762056" y="-26383"/>
                      <a:pt x="126236" y="103075"/>
                      <a:pt x="21359" y="171901"/>
                    </a:cubicBezTo>
                    <a:cubicBezTo>
                      <a:pt x="-83518" y="240727"/>
                      <a:pt x="224559" y="340688"/>
                      <a:pt x="365488" y="417707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2DB7ED1B-25C9-E2E6-F0AA-E23D4267AC0B}"/>
                  </a:ext>
                </a:extLst>
              </p:cNvPr>
              <p:cNvSpPr/>
              <p:nvPr/>
            </p:nvSpPr>
            <p:spPr>
              <a:xfrm>
                <a:off x="5127549" y="1906348"/>
                <a:ext cx="940601" cy="575130"/>
              </a:xfrm>
              <a:custGeom>
                <a:avLst/>
                <a:gdLst>
                  <a:gd name="connsiteX0" fmla="*/ 36033 w 1659598"/>
                  <a:gd name="connsiteY0" fmla="*/ 250110 h 575130"/>
                  <a:gd name="connsiteX1" fmla="*/ 832446 w 1659598"/>
                  <a:gd name="connsiteY1" fmla="*/ 4304 h 575130"/>
                  <a:gd name="connsiteX2" fmla="*/ 1658356 w 1659598"/>
                  <a:gd name="connsiteY2" fmla="*/ 466420 h 575130"/>
                  <a:gd name="connsiteX3" fmla="*/ 999595 w 1659598"/>
                  <a:gd name="connsiteY3" fmla="*/ 574575 h 575130"/>
                  <a:gd name="connsiteX4" fmla="*/ 222846 w 1659598"/>
                  <a:gd name="connsiteY4" fmla="*/ 495916 h 575130"/>
                  <a:gd name="connsiteX5" fmla="*/ 36033 w 1659598"/>
                  <a:gd name="connsiteY5" fmla="*/ 250110 h 575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59598" h="575130">
                    <a:moveTo>
                      <a:pt x="36033" y="250110"/>
                    </a:moveTo>
                    <a:cubicBezTo>
                      <a:pt x="137633" y="168175"/>
                      <a:pt x="562059" y="-31748"/>
                      <a:pt x="832446" y="4304"/>
                    </a:cubicBezTo>
                    <a:cubicBezTo>
                      <a:pt x="1102833" y="40356"/>
                      <a:pt x="1630498" y="371375"/>
                      <a:pt x="1658356" y="466420"/>
                    </a:cubicBezTo>
                    <a:cubicBezTo>
                      <a:pt x="1686214" y="561465"/>
                      <a:pt x="1238847" y="569659"/>
                      <a:pt x="999595" y="574575"/>
                    </a:cubicBezTo>
                    <a:cubicBezTo>
                      <a:pt x="760343" y="579491"/>
                      <a:pt x="381801" y="551632"/>
                      <a:pt x="222846" y="495916"/>
                    </a:cubicBezTo>
                    <a:cubicBezTo>
                      <a:pt x="63891" y="440200"/>
                      <a:pt x="-65567" y="332045"/>
                      <a:pt x="36033" y="25011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2B203EF-4893-98A8-5932-774D95E1307F}"/>
                  </a:ext>
                </a:extLst>
              </p:cNvPr>
              <p:cNvSpPr/>
              <p:nvPr/>
            </p:nvSpPr>
            <p:spPr>
              <a:xfrm>
                <a:off x="4459555" y="2523557"/>
                <a:ext cx="433993" cy="351412"/>
              </a:xfrm>
              <a:custGeom>
                <a:avLst/>
                <a:gdLst>
                  <a:gd name="connsiteX0" fmla="*/ 9081 w 433993"/>
                  <a:gd name="connsiteY0" fmla="*/ 74096 h 351412"/>
                  <a:gd name="connsiteX1" fmla="*/ 215558 w 433993"/>
                  <a:gd name="connsiteY1" fmla="*/ 5270 h 351412"/>
                  <a:gd name="connsiteX2" fmla="*/ 431868 w 433993"/>
                  <a:gd name="connsiteY2" fmla="*/ 182251 h 351412"/>
                  <a:gd name="connsiteX3" fmla="*/ 77907 w 433993"/>
                  <a:gd name="connsiteY3" fmla="*/ 349399 h 351412"/>
                  <a:gd name="connsiteX4" fmla="*/ 9081 w 433993"/>
                  <a:gd name="connsiteY4" fmla="*/ 74096 h 351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3993" h="351412">
                    <a:moveTo>
                      <a:pt x="9081" y="74096"/>
                    </a:moveTo>
                    <a:cubicBezTo>
                      <a:pt x="32023" y="16741"/>
                      <a:pt x="145094" y="-12756"/>
                      <a:pt x="215558" y="5270"/>
                    </a:cubicBezTo>
                    <a:cubicBezTo>
                      <a:pt x="286022" y="23296"/>
                      <a:pt x="454810" y="124896"/>
                      <a:pt x="431868" y="182251"/>
                    </a:cubicBezTo>
                    <a:cubicBezTo>
                      <a:pt x="408926" y="239606"/>
                      <a:pt x="150010" y="369063"/>
                      <a:pt x="77907" y="349399"/>
                    </a:cubicBezTo>
                    <a:cubicBezTo>
                      <a:pt x="5804" y="329735"/>
                      <a:pt x="-13861" y="131451"/>
                      <a:pt x="9081" y="74096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E382BB2-54D2-5CF4-DBC1-3CA7359F001B}"/>
                  </a:ext>
                </a:extLst>
              </p:cNvPr>
              <p:cNvSpPr/>
              <p:nvPr/>
            </p:nvSpPr>
            <p:spPr>
              <a:xfrm>
                <a:off x="5022182" y="2825146"/>
                <a:ext cx="369191" cy="309869"/>
              </a:xfrm>
              <a:custGeom>
                <a:avLst/>
                <a:gdLst>
                  <a:gd name="connsiteX0" fmla="*/ 134712 w 369191"/>
                  <a:gd name="connsiteY0" fmla="*/ 47810 h 309869"/>
                  <a:gd name="connsiteX1" fmla="*/ 301860 w 369191"/>
                  <a:gd name="connsiteY1" fmla="*/ 18313 h 309869"/>
                  <a:gd name="connsiteX2" fmla="*/ 351022 w 369191"/>
                  <a:gd name="connsiteY2" fmla="*/ 303449 h 309869"/>
                  <a:gd name="connsiteX3" fmla="*/ 6893 w 369191"/>
                  <a:gd name="connsiteY3" fmla="*/ 205126 h 309869"/>
                  <a:gd name="connsiteX4" fmla="*/ 134712 w 369191"/>
                  <a:gd name="connsiteY4" fmla="*/ 47810 h 309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9191" h="309869">
                    <a:moveTo>
                      <a:pt x="134712" y="47810"/>
                    </a:moveTo>
                    <a:cubicBezTo>
                      <a:pt x="183873" y="16675"/>
                      <a:pt x="265808" y="-24294"/>
                      <a:pt x="301860" y="18313"/>
                    </a:cubicBezTo>
                    <a:cubicBezTo>
                      <a:pt x="337912" y="60920"/>
                      <a:pt x="400183" y="272314"/>
                      <a:pt x="351022" y="303449"/>
                    </a:cubicBezTo>
                    <a:cubicBezTo>
                      <a:pt x="301861" y="334584"/>
                      <a:pt x="42945" y="244455"/>
                      <a:pt x="6893" y="205126"/>
                    </a:cubicBezTo>
                    <a:cubicBezTo>
                      <a:pt x="-29159" y="165797"/>
                      <a:pt x="85551" y="78945"/>
                      <a:pt x="134712" y="4781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299EFA9-2112-C8F4-26C2-B66E92756131}"/>
                  </a:ext>
                </a:extLst>
              </p:cNvPr>
              <p:cNvSpPr/>
              <p:nvPr/>
            </p:nvSpPr>
            <p:spPr>
              <a:xfrm>
                <a:off x="3963933" y="2782785"/>
                <a:ext cx="639490" cy="523503"/>
              </a:xfrm>
              <a:custGeom>
                <a:avLst/>
                <a:gdLst>
                  <a:gd name="connsiteX0" fmla="*/ 632523 w 639490"/>
                  <a:gd name="connsiteY0" fmla="*/ 257319 h 523503"/>
                  <a:gd name="connsiteX1" fmla="*/ 514536 w 639490"/>
                  <a:gd name="connsiteY1" fmla="*/ 522790 h 523503"/>
                  <a:gd name="connsiteX2" fmla="*/ 111413 w 639490"/>
                  <a:gd name="connsiteY2" fmla="*/ 326145 h 523503"/>
                  <a:gd name="connsiteX3" fmla="*/ 13091 w 639490"/>
                  <a:gd name="connsiteY3" fmla="*/ 50842 h 523503"/>
                  <a:gd name="connsiteX4" fmla="*/ 347387 w 639490"/>
                  <a:gd name="connsiteY4" fmla="*/ 21345 h 523503"/>
                  <a:gd name="connsiteX5" fmla="*/ 632523 w 639490"/>
                  <a:gd name="connsiteY5" fmla="*/ 257319 h 523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9490" h="523503">
                    <a:moveTo>
                      <a:pt x="632523" y="257319"/>
                    </a:moveTo>
                    <a:cubicBezTo>
                      <a:pt x="660381" y="340893"/>
                      <a:pt x="601388" y="511319"/>
                      <a:pt x="514536" y="522790"/>
                    </a:cubicBezTo>
                    <a:cubicBezTo>
                      <a:pt x="427684" y="534261"/>
                      <a:pt x="194987" y="404803"/>
                      <a:pt x="111413" y="326145"/>
                    </a:cubicBezTo>
                    <a:cubicBezTo>
                      <a:pt x="27839" y="247487"/>
                      <a:pt x="-26238" y="101642"/>
                      <a:pt x="13091" y="50842"/>
                    </a:cubicBezTo>
                    <a:cubicBezTo>
                      <a:pt x="52420" y="42"/>
                      <a:pt x="247426" y="-17984"/>
                      <a:pt x="347387" y="21345"/>
                    </a:cubicBezTo>
                    <a:cubicBezTo>
                      <a:pt x="447348" y="60674"/>
                      <a:pt x="604665" y="173745"/>
                      <a:pt x="632523" y="257319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37450B5E-5289-9341-D0AF-EB27BC7F9DFF}"/>
                  </a:ext>
                </a:extLst>
              </p:cNvPr>
              <p:cNvSpPr/>
              <p:nvPr/>
            </p:nvSpPr>
            <p:spPr>
              <a:xfrm>
                <a:off x="4861780" y="3049305"/>
                <a:ext cx="177269" cy="177736"/>
              </a:xfrm>
              <a:custGeom>
                <a:avLst/>
                <a:gdLst>
                  <a:gd name="connsiteX0" fmla="*/ 146 w 177269"/>
                  <a:gd name="connsiteY0" fmla="*/ 69458 h 177736"/>
                  <a:gd name="connsiteX1" fmla="*/ 78804 w 177269"/>
                  <a:gd name="connsiteY1" fmla="*/ 177612 h 177736"/>
                  <a:gd name="connsiteX2" fmla="*/ 177127 w 177269"/>
                  <a:gd name="connsiteY2" fmla="*/ 89122 h 177736"/>
                  <a:gd name="connsiteX3" fmla="*/ 98469 w 177269"/>
                  <a:gd name="connsiteY3" fmla="*/ 632 h 177736"/>
                  <a:gd name="connsiteX4" fmla="*/ 146 w 177269"/>
                  <a:gd name="connsiteY4" fmla="*/ 69458 h 177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269" h="177736">
                    <a:moveTo>
                      <a:pt x="146" y="69458"/>
                    </a:moveTo>
                    <a:cubicBezTo>
                      <a:pt x="-3132" y="98955"/>
                      <a:pt x="49307" y="174335"/>
                      <a:pt x="78804" y="177612"/>
                    </a:cubicBezTo>
                    <a:cubicBezTo>
                      <a:pt x="108301" y="180889"/>
                      <a:pt x="173849" y="118619"/>
                      <a:pt x="177127" y="89122"/>
                    </a:cubicBezTo>
                    <a:cubicBezTo>
                      <a:pt x="180405" y="59625"/>
                      <a:pt x="126327" y="7187"/>
                      <a:pt x="98469" y="632"/>
                    </a:cubicBezTo>
                    <a:cubicBezTo>
                      <a:pt x="70611" y="-5923"/>
                      <a:pt x="3424" y="39961"/>
                      <a:pt x="146" y="69458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612EBDC9-E49E-FCD9-19D2-8C5A19BE99B4}"/>
                </a:ext>
              </a:extLst>
            </p:cNvPr>
            <p:cNvSpPr/>
            <p:nvPr/>
          </p:nvSpPr>
          <p:spPr>
            <a:xfrm rot="12089306">
              <a:off x="6163157" y="2802548"/>
              <a:ext cx="813710" cy="681161"/>
            </a:xfrm>
            <a:prstGeom prst="arc">
              <a:avLst/>
            </a:prstGeom>
            <a:ln w="381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1A0938F9-2ED8-F2B7-7477-4F9E244F40F1}"/>
                </a:ext>
              </a:extLst>
            </p:cNvPr>
            <p:cNvSpPr/>
            <p:nvPr/>
          </p:nvSpPr>
          <p:spPr>
            <a:xfrm rot="20076451">
              <a:off x="6495513" y="2720101"/>
              <a:ext cx="813710" cy="681161"/>
            </a:xfrm>
            <a:prstGeom prst="arc">
              <a:avLst/>
            </a:prstGeom>
            <a:ln w="381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2933737D-62AC-DAA9-669C-9AB661BA7621}"/>
                </a:ext>
              </a:extLst>
            </p:cNvPr>
            <p:cNvSpPr/>
            <p:nvPr/>
          </p:nvSpPr>
          <p:spPr>
            <a:xfrm rot="5557040">
              <a:off x="6854317" y="2862720"/>
              <a:ext cx="813710" cy="681161"/>
            </a:xfrm>
            <a:prstGeom prst="arc">
              <a:avLst>
                <a:gd name="adj1" fmla="val 16200000"/>
                <a:gd name="adj2" fmla="val 20306460"/>
              </a:avLst>
            </a:prstGeom>
            <a:ln w="381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26D3F45-D8AF-8EC8-24E1-B59627250C8D}"/>
                </a:ext>
              </a:extLst>
            </p:cNvPr>
            <p:cNvSpPr/>
            <p:nvPr/>
          </p:nvSpPr>
          <p:spPr>
            <a:xfrm rot="19931264">
              <a:off x="6494318" y="3167741"/>
              <a:ext cx="339868" cy="157488"/>
            </a:xfrm>
            <a:custGeom>
              <a:avLst/>
              <a:gdLst>
                <a:gd name="connsiteX0" fmla="*/ 0 w 497184"/>
                <a:gd name="connsiteY0" fmla="*/ 462400 h 462400"/>
                <a:gd name="connsiteX1" fmla="*/ 245806 w 497184"/>
                <a:gd name="connsiteY1" fmla="*/ 284 h 462400"/>
                <a:gd name="connsiteX2" fmla="*/ 471948 w 497184"/>
                <a:gd name="connsiteY2" fmla="*/ 393574 h 462400"/>
                <a:gd name="connsiteX3" fmla="*/ 481781 w 497184"/>
                <a:gd name="connsiteY3" fmla="*/ 393574 h 46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184" h="462400">
                  <a:moveTo>
                    <a:pt x="0" y="462400"/>
                  </a:moveTo>
                  <a:cubicBezTo>
                    <a:pt x="83574" y="237077"/>
                    <a:pt x="167148" y="11755"/>
                    <a:pt x="245806" y="284"/>
                  </a:cubicBezTo>
                  <a:cubicBezTo>
                    <a:pt x="324464" y="-11187"/>
                    <a:pt x="432619" y="328026"/>
                    <a:pt x="471948" y="393574"/>
                  </a:cubicBezTo>
                  <a:cubicBezTo>
                    <a:pt x="511277" y="459122"/>
                    <a:pt x="496529" y="426348"/>
                    <a:pt x="481781" y="393574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16E7710-B5B4-4013-9F29-35E3E0FD3CFB}"/>
                </a:ext>
              </a:extLst>
            </p:cNvPr>
            <p:cNvSpPr/>
            <p:nvPr/>
          </p:nvSpPr>
          <p:spPr>
            <a:xfrm rot="9900000">
              <a:off x="6892939" y="3596747"/>
              <a:ext cx="339868" cy="157488"/>
            </a:xfrm>
            <a:custGeom>
              <a:avLst/>
              <a:gdLst>
                <a:gd name="connsiteX0" fmla="*/ 0 w 497184"/>
                <a:gd name="connsiteY0" fmla="*/ 462400 h 462400"/>
                <a:gd name="connsiteX1" fmla="*/ 245806 w 497184"/>
                <a:gd name="connsiteY1" fmla="*/ 284 h 462400"/>
                <a:gd name="connsiteX2" fmla="*/ 471948 w 497184"/>
                <a:gd name="connsiteY2" fmla="*/ 393574 h 462400"/>
                <a:gd name="connsiteX3" fmla="*/ 481781 w 497184"/>
                <a:gd name="connsiteY3" fmla="*/ 393574 h 46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184" h="462400">
                  <a:moveTo>
                    <a:pt x="0" y="462400"/>
                  </a:moveTo>
                  <a:cubicBezTo>
                    <a:pt x="83574" y="237077"/>
                    <a:pt x="167148" y="11755"/>
                    <a:pt x="245806" y="284"/>
                  </a:cubicBezTo>
                  <a:cubicBezTo>
                    <a:pt x="324464" y="-11187"/>
                    <a:pt x="432619" y="328026"/>
                    <a:pt x="471948" y="393574"/>
                  </a:cubicBezTo>
                  <a:cubicBezTo>
                    <a:pt x="511277" y="459122"/>
                    <a:pt x="496529" y="426348"/>
                    <a:pt x="481781" y="393574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106189-907C-A8A4-FB2F-456A43AF8A99}"/>
                </a:ext>
              </a:extLst>
            </p:cNvPr>
            <p:cNvSpPr/>
            <p:nvPr/>
          </p:nvSpPr>
          <p:spPr>
            <a:xfrm rot="1980520">
              <a:off x="6987935" y="3179403"/>
              <a:ext cx="339868" cy="157488"/>
            </a:xfrm>
            <a:custGeom>
              <a:avLst/>
              <a:gdLst>
                <a:gd name="connsiteX0" fmla="*/ 0 w 497184"/>
                <a:gd name="connsiteY0" fmla="*/ 462400 h 462400"/>
                <a:gd name="connsiteX1" fmla="*/ 245806 w 497184"/>
                <a:gd name="connsiteY1" fmla="*/ 284 h 462400"/>
                <a:gd name="connsiteX2" fmla="*/ 471948 w 497184"/>
                <a:gd name="connsiteY2" fmla="*/ 393574 h 462400"/>
                <a:gd name="connsiteX3" fmla="*/ 481781 w 497184"/>
                <a:gd name="connsiteY3" fmla="*/ 393574 h 46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184" h="462400">
                  <a:moveTo>
                    <a:pt x="0" y="462400"/>
                  </a:moveTo>
                  <a:cubicBezTo>
                    <a:pt x="83574" y="237077"/>
                    <a:pt x="167148" y="11755"/>
                    <a:pt x="245806" y="284"/>
                  </a:cubicBezTo>
                  <a:cubicBezTo>
                    <a:pt x="324464" y="-11187"/>
                    <a:pt x="432619" y="328026"/>
                    <a:pt x="471948" y="393574"/>
                  </a:cubicBezTo>
                  <a:cubicBezTo>
                    <a:pt x="511277" y="459122"/>
                    <a:pt x="496529" y="426348"/>
                    <a:pt x="481781" y="393574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6CC27DE-8657-C439-0583-817759A4F9FE}"/>
              </a:ext>
            </a:extLst>
          </p:cNvPr>
          <p:cNvGrpSpPr/>
          <p:nvPr/>
        </p:nvGrpSpPr>
        <p:grpSpPr>
          <a:xfrm>
            <a:off x="10131450" y="5626732"/>
            <a:ext cx="1946696" cy="1083019"/>
            <a:chOff x="2981567" y="1589108"/>
            <a:chExt cx="3086583" cy="1717180"/>
          </a:xfrm>
          <a:solidFill>
            <a:schemeClr val="accent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93BDF2D-DBE3-3AE0-CB8D-4DC236D28724}"/>
                </a:ext>
              </a:extLst>
            </p:cNvPr>
            <p:cNvSpPr/>
            <p:nvPr/>
          </p:nvSpPr>
          <p:spPr>
            <a:xfrm>
              <a:off x="2981567" y="1589108"/>
              <a:ext cx="1477988" cy="634480"/>
            </a:xfrm>
            <a:custGeom>
              <a:avLst/>
              <a:gdLst>
                <a:gd name="connsiteX0" fmla="*/ 365488 w 1477988"/>
                <a:gd name="connsiteY0" fmla="*/ 417707 h 634480"/>
                <a:gd name="connsiteX1" fmla="*/ 866933 w 1477988"/>
                <a:gd name="connsiteY1" fmla="*/ 634017 h 634480"/>
                <a:gd name="connsiteX2" fmla="*/ 1476533 w 1477988"/>
                <a:gd name="connsiteY2" fmla="*/ 358714 h 634480"/>
                <a:gd name="connsiteX3" fmla="*/ 1004585 w 1477988"/>
                <a:gd name="connsiteY3" fmla="*/ 4752 h 634480"/>
                <a:gd name="connsiteX4" fmla="*/ 21359 w 1477988"/>
                <a:gd name="connsiteY4" fmla="*/ 171901 h 634480"/>
                <a:gd name="connsiteX5" fmla="*/ 365488 w 1477988"/>
                <a:gd name="connsiteY5" fmla="*/ 417707 h 63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988" h="634480">
                  <a:moveTo>
                    <a:pt x="365488" y="417707"/>
                  </a:moveTo>
                  <a:cubicBezTo>
                    <a:pt x="506417" y="494726"/>
                    <a:pt x="681759" y="643849"/>
                    <a:pt x="866933" y="634017"/>
                  </a:cubicBezTo>
                  <a:cubicBezTo>
                    <a:pt x="1052107" y="624185"/>
                    <a:pt x="1453591" y="463591"/>
                    <a:pt x="1476533" y="358714"/>
                  </a:cubicBezTo>
                  <a:cubicBezTo>
                    <a:pt x="1499475" y="253837"/>
                    <a:pt x="1247114" y="35887"/>
                    <a:pt x="1004585" y="4752"/>
                  </a:cubicBezTo>
                  <a:cubicBezTo>
                    <a:pt x="762056" y="-26383"/>
                    <a:pt x="126236" y="103075"/>
                    <a:pt x="21359" y="171901"/>
                  </a:cubicBezTo>
                  <a:cubicBezTo>
                    <a:pt x="-83518" y="240727"/>
                    <a:pt x="224559" y="340688"/>
                    <a:pt x="365488" y="417707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4E9E75F-6E47-4985-E4A4-251276265E4E}"/>
                </a:ext>
              </a:extLst>
            </p:cNvPr>
            <p:cNvSpPr/>
            <p:nvPr/>
          </p:nvSpPr>
          <p:spPr>
            <a:xfrm>
              <a:off x="5127549" y="1906348"/>
              <a:ext cx="940601" cy="575130"/>
            </a:xfrm>
            <a:custGeom>
              <a:avLst/>
              <a:gdLst>
                <a:gd name="connsiteX0" fmla="*/ 36033 w 1659598"/>
                <a:gd name="connsiteY0" fmla="*/ 250110 h 575130"/>
                <a:gd name="connsiteX1" fmla="*/ 832446 w 1659598"/>
                <a:gd name="connsiteY1" fmla="*/ 4304 h 575130"/>
                <a:gd name="connsiteX2" fmla="*/ 1658356 w 1659598"/>
                <a:gd name="connsiteY2" fmla="*/ 466420 h 575130"/>
                <a:gd name="connsiteX3" fmla="*/ 999595 w 1659598"/>
                <a:gd name="connsiteY3" fmla="*/ 574575 h 575130"/>
                <a:gd name="connsiteX4" fmla="*/ 222846 w 1659598"/>
                <a:gd name="connsiteY4" fmla="*/ 495916 h 575130"/>
                <a:gd name="connsiteX5" fmla="*/ 36033 w 1659598"/>
                <a:gd name="connsiteY5" fmla="*/ 250110 h 57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59598" h="575130">
                  <a:moveTo>
                    <a:pt x="36033" y="250110"/>
                  </a:moveTo>
                  <a:cubicBezTo>
                    <a:pt x="137633" y="168175"/>
                    <a:pt x="562059" y="-31748"/>
                    <a:pt x="832446" y="4304"/>
                  </a:cubicBezTo>
                  <a:cubicBezTo>
                    <a:pt x="1102833" y="40356"/>
                    <a:pt x="1630498" y="371375"/>
                    <a:pt x="1658356" y="466420"/>
                  </a:cubicBezTo>
                  <a:cubicBezTo>
                    <a:pt x="1686214" y="561465"/>
                    <a:pt x="1238847" y="569659"/>
                    <a:pt x="999595" y="574575"/>
                  </a:cubicBezTo>
                  <a:cubicBezTo>
                    <a:pt x="760343" y="579491"/>
                    <a:pt x="381801" y="551632"/>
                    <a:pt x="222846" y="495916"/>
                  </a:cubicBezTo>
                  <a:cubicBezTo>
                    <a:pt x="63891" y="440200"/>
                    <a:pt x="-65567" y="332045"/>
                    <a:pt x="36033" y="2501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98D6347-8A10-AD01-35F3-18EA7E90BADC}"/>
                </a:ext>
              </a:extLst>
            </p:cNvPr>
            <p:cNvSpPr/>
            <p:nvPr/>
          </p:nvSpPr>
          <p:spPr>
            <a:xfrm>
              <a:off x="4459555" y="2523557"/>
              <a:ext cx="433993" cy="351412"/>
            </a:xfrm>
            <a:custGeom>
              <a:avLst/>
              <a:gdLst>
                <a:gd name="connsiteX0" fmla="*/ 9081 w 433993"/>
                <a:gd name="connsiteY0" fmla="*/ 74096 h 351412"/>
                <a:gd name="connsiteX1" fmla="*/ 215558 w 433993"/>
                <a:gd name="connsiteY1" fmla="*/ 5270 h 351412"/>
                <a:gd name="connsiteX2" fmla="*/ 431868 w 433993"/>
                <a:gd name="connsiteY2" fmla="*/ 182251 h 351412"/>
                <a:gd name="connsiteX3" fmla="*/ 77907 w 433993"/>
                <a:gd name="connsiteY3" fmla="*/ 349399 h 351412"/>
                <a:gd name="connsiteX4" fmla="*/ 9081 w 433993"/>
                <a:gd name="connsiteY4" fmla="*/ 74096 h 35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993" h="351412">
                  <a:moveTo>
                    <a:pt x="9081" y="74096"/>
                  </a:moveTo>
                  <a:cubicBezTo>
                    <a:pt x="32023" y="16741"/>
                    <a:pt x="145094" y="-12756"/>
                    <a:pt x="215558" y="5270"/>
                  </a:cubicBezTo>
                  <a:cubicBezTo>
                    <a:pt x="286022" y="23296"/>
                    <a:pt x="454810" y="124896"/>
                    <a:pt x="431868" y="182251"/>
                  </a:cubicBezTo>
                  <a:cubicBezTo>
                    <a:pt x="408926" y="239606"/>
                    <a:pt x="150010" y="369063"/>
                    <a:pt x="77907" y="349399"/>
                  </a:cubicBezTo>
                  <a:cubicBezTo>
                    <a:pt x="5804" y="329735"/>
                    <a:pt x="-13861" y="131451"/>
                    <a:pt x="9081" y="74096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65B6BED-0740-C220-879C-0708820B7B88}"/>
                </a:ext>
              </a:extLst>
            </p:cNvPr>
            <p:cNvSpPr/>
            <p:nvPr/>
          </p:nvSpPr>
          <p:spPr>
            <a:xfrm>
              <a:off x="5022182" y="2825146"/>
              <a:ext cx="369191" cy="309869"/>
            </a:xfrm>
            <a:custGeom>
              <a:avLst/>
              <a:gdLst>
                <a:gd name="connsiteX0" fmla="*/ 134712 w 369191"/>
                <a:gd name="connsiteY0" fmla="*/ 47810 h 309869"/>
                <a:gd name="connsiteX1" fmla="*/ 301860 w 369191"/>
                <a:gd name="connsiteY1" fmla="*/ 18313 h 309869"/>
                <a:gd name="connsiteX2" fmla="*/ 351022 w 369191"/>
                <a:gd name="connsiteY2" fmla="*/ 303449 h 309869"/>
                <a:gd name="connsiteX3" fmla="*/ 6893 w 369191"/>
                <a:gd name="connsiteY3" fmla="*/ 205126 h 309869"/>
                <a:gd name="connsiteX4" fmla="*/ 134712 w 369191"/>
                <a:gd name="connsiteY4" fmla="*/ 47810 h 309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191" h="309869">
                  <a:moveTo>
                    <a:pt x="134712" y="47810"/>
                  </a:moveTo>
                  <a:cubicBezTo>
                    <a:pt x="183873" y="16675"/>
                    <a:pt x="265808" y="-24294"/>
                    <a:pt x="301860" y="18313"/>
                  </a:cubicBezTo>
                  <a:cubicBezTo>
                    <a:pt x="337912" y="60920"/>
                    <a:pt x="400183" y="272314"/>
                    <a:pt x="351022" y="303449"/>
                  </a:cubicBezTo>
                  <a:cubicBezTo>
                    <a:pt x="301861" y="334584"/>
                    <a:pt x="42945" y="244455"/>
                    <a:pt x="6893" y="205126"/>
                  </a:cubicBezTo>
                  <a:cubicBezTo>
                    <a:pt x="-29159" y="165797"/>
                    <a:pt x="85551" y="78945"/>
                    <a:pt x="134712" y="4781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B4E88E6-2834-8AD4-6DC0-F80184B3F5AD}"/>
                </a:ext>
              </a:extLst>
            </p:cNvPr>
            <p:cNvSpPr/>
            <p:nvPr/>
          </p:nvSpPr>
          <p:spPr>
            <a:xfrm>
              <a:off x="3963933" y="2782785"/>
              <a:ext cx="639490" cy="523503"/>
            </a:xfrm>
            <a:custGeom>
              <a:avLst/>
              <a:gdLst>
                <a:gd name="connsiteX0" fmla="*/ 632523 w 639490"/>
                <a:gd name="connsiteY0" fmla="*/ 257319 h 523503"/>
                <a:gd name="connsiteX1" fmla="*/ 514536 w 639490"/>
                <a:gd name="connsiteY1" fmla="*/ 522790 h 523503"/>
                <a:gd name="connsiteX2" fmla="*/ 111413 w 639490"/>
                <a:gd name="connsiteY2" fmla="*/ 326145 h 523503"/>
                <a:gd name="connsiteX3" fmla="*/ 13091 w 639490"/>
                <a:gd name="connsiteY3" fmla="*/ 50842 h 523503"/>
                <a:gd name="connsiteX4" fmla="*/ 347387 w 639490"/>
                <a:gd name="connsiteY4" fmla="*/ 21345 h 523503"/>
                <a:gd name="connsiteX5" fmla="*/ 632523 w 639490"/>
                <a:gd name="connsiteY5" fmla="*/ 257319 h 52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9490" h="523503">
                  <a:moveTo>
                    <a:pt x="632523" y="257319"/>
                  </a:moveTo>
                  <a:cubicBezTo>
                    <a:pt x="660381" y="340893"/>
                    <a:pt x="601388" y="511319"/>
                    <a:pt x="514536" y="522790"/>
                  </a:cubicBezTo>
                  <a:cubicBezTo>
                    <a:pt x="427684" y="534261"/>
                    <a:pt x="194987" y="404803"/>
                    <a:pt x="111413" y="326145"/>
                  </a:cubicBezTo>
                  <a:cubicBezTo>
                    <a:pt x="27839" y="247487"/>
                    <a:pt x="-26238" y="101642"/>
                    <a:pt x="13091" y="50842"/>
                  </a:cubicBezTo>
                  <a:cubicBezTo>
                    <a:pt x="52420" y="42"/>
                    <a:pt x="247426" y="-17984"/>
                    <a:pt x="347387" y="21345"/>
                  </a:cubicBezTo>
                  <a:cubicBezTo>
                    <a:pt x="447348" y="60674"/>
                    <a:pt x="604665" y="173745"/>
                    <a:pt x="632523" y="2573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D36B74D-838D-D803-7A43-53D6C4BEE5D9}"/>
                </a:ext>
              </a:extLst>
            </p:cNvPr>
            <p:cNvSpPr/>
            <p:nvPr/>
          </p:nvSpPr>
          <p:spPr>
            <a:xfrm>
              <a:off x="4861780" y="3049305"/>
              <a:ext cx="177269" cy="177736"/>
            </a:xfrm>
            <a:custGeom>
              <a:avLst/>
              <a:gdLst>
                <a:gd name="connsiteX0" fmla="*/ 146 w 177269"/>
                <a:gd name="connsiteY0" fmla="*/ 69458 h 177736"/>
                <a:gd name="connsiteX1" fmla="*/ 78804 w 177269"/>
                <a:gd name="connsiteY1" fmla="*/ 177612 h 177736"/>
                <a:gd name="connsiteX2" fmla="*/ 177127 w 177269"/>
                <a:gd name="connsiteY2" fmla="*/ 89122 h 177736"/>
                <a:gd name="connsiteX3" fmla="*/ 98469 w 177269"/>
                <a:gd name="connsiteY3" fmla="*/ 632 h 177736"/>
                <a:gd name="connsiteX4" fmla="*/ 146 w 177269"/>
                <a:gd name="connsiteY4" fmla="*/ 69458 h 17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269" h="177736">
                  <a:moveTo>
                    <a:pt x="146" y="69458"/>
                  </a:moveTo>
                  <a:cubicBezTo>
                    <a:pt x="-3132" y="98955"/>
                    <a:pt x="49307" y="174335"/>
                    <a:pt x="78804" y="177612"/>
                  </a:cubicBezTo>
                  <a:cubicBezTo>
                    <a:pt x="108301" y="180889"/>
                    <a:pt x="173849" y="118619"/>
                    <a:pt x="177127" y="89122"/>
                  </a:cubicBezTo>
                  <a:cubicBezTo>
                    <a:pt x="180405" y="59625"/>
                    <a:pt x="126327" y="7187"/>
                    <a:pt x="98469" y="632"/>
                  </a:cubicBezTo>
                  <a:cubicBezTo>
                    <a:pt x="70611" y="-5923"/>
                    <a:pt x="3424" y="39961"/>
                    <a:pt x="146" y="69458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923895E-AAD5-530E-7950-C5D512932C17}"/>
              </a:ext>
            </a:extLst>
          </p:cNvPr>
          <p:cNvGrpSpPr/>
          <p:nvPr/>
        </p:nvGrpSpPr>
        <p:grpSpPr>
          <a:xfrm>
            <a:off x="8152044" y="5591369"/>
            <a:ext cx="1869984" cy="1118383"/>
            <a:chOff x="5944221" y="2691010"/>
            <a:chExt cx="1777757" cy="1063225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AE07F32-5059-BE0A-9248-B492E781D04E}"/>
                </a:ext>
              </a:extLst>
            </p:cNvPr>
            <p:cNvGrpSpPr/>
            <p:nvPr/>
          </p:nvGrpSpPr>
          <p:grpSpPr>
            <a:xfrm>
              <a:off x="5944221" y="2691010"/>
              <a:ext cx="1777757" cy="989032"/>
              <a:chOff x="2981567" y="1589108"/>
              <a:chExt cx="3086583" cy="1717180"/>
            </a:xfrm>
            <a:solidFill>
              <a:schemeClr val="accent1"/>
            </a:solidFill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FAEDF6C9-1045-F9B4-1912-80538685B986}"/>
                  </a:ext>
                </a:extLst>
              </p:cNvPr>
              <p:cNvSpPr/>
              <p:nvPr/>
            </p:nvSpPr>
            <p:spPr>
              <a:xfrm>
                <a:off x="2981567" y="1589108"/>
                <a:ext cx="1477988" cy="634480"/>
              </a:xfrm>
              <a:custGeom>
                <a:avLst/>
                <a:gdLst>
                  <a:gd name="connsiteX0" fmla="*/ 365488 w 1477988"/>
                  <a:gd name="connsiteY0" fmla="*/ 417707 h 634480"/>
                  <a:gd name="connsiteX1" fmla="*/ 866933 w 1477988"/>
                  <a:gd name="connsiteY1" fmla="*/ 634017 h 634480"/>
                  <a:gd name="connsiteX2" fmla="*/ 1476533 w 1477988"/>
                  <a:gd name="connsiteY2" fmla="*/ 358714 h 634480"/>
                  <a:gd name="connsiteX3" fmla="*/ 1004585 w 1477988"/>
                  <a:gd name="connsiteY3" fmla="*/ 4752 h 634480"/>
                  <a:gd name="connsiteX4" fmla="*/ 21359 w 1477988"/>
                  <a:gd name="connsiteY4" fmla="*/ 171901 h 634480"/>
                  <a:gd name="connsiteX5" fmla="*/ 365488 w 1477988"/>
                  <a:gd name="connsiteY5" fmla="*/ 417707 h 634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77988" h="634480">
                    <a:moveTo>
                      <a:pt x="365488" y="417707"/>
                    </a:moveTo>
                    <a:cubicBezTo>
                      <a:pt x="506417" y="494726"/>
                      <a:pt x="681759" y="643849"/>
                      <a:pt x="866933" y="634017"/>
                    </a:cubicBezTo>
                    <a:cubicBezTo>
                      <a:pt x="1052107" y="624185"/>
                      <a:pt x="1453591" y="463591"/>
                      <a:pt x="1476533" y="358714"/>
                    </a:cubicBezTo>
                    <a:cubicBezTo>
                      <a:pt x="1499475" y="253837"/>
                      <a:pt x="1247114" y="35887"/>
                      <a:pt x="1004585" y="4752"/>
                    </a:cubicBezTo>
                    <a:cubicBezTo>
                      <a:pt x="762056" y="-26383"/>
                      <a:pt x="126236" y="103075"/>
                      <a:pt x="21359" y="171901"/>
                    </a:cubicBezTo>
                    <a:cubicBezTo>
                      <a:pt x="-83518" y="240727"/>
                      <a:pt x="224559" y="340688"/>
                      <a:pt x="365488" y="417707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1DD87844-261B-B47A-2B4B-8E35C9BBDE31}"/>
                  </a:ext>
                </a:extLst>
              </p:cNvPr>
              <p:cNvSpPr/>
              <p:nvPr/>
            </p:nvSpPr>
            <p:spPr>
              <a:xfrm>
                <a:off x="5127549" y="1906348"/>
                <a:ext cx="940601" cy="575130"/>
              </a:xfrm>
              <a:custGeom>
                <a:avLst/>
                <a:gdLst>
                  <a:gd name="connsiteX0" fmla="*/ 36033 w 1659598"/>
                  <a:gd name="connsiteY0" fmla="*/ 250110 h 575130"/>
                  <a:gd name="connsiteX1" fmla="*/ 832446 w 1659598"/>
                  <a:gd name="connsiteY1" fmla="*/ 4304 h 575130"/>
                  <a:gd name="connsiteX2" fmla="*/ 1658356 w 1659598"/>
                  <a:gd name="connsiteY2" fmla="*/ 466420 h 575130"/>
                  <a:gd name="connsiteX3" fmla="*/ 999595 w 1659598"/>
                  <a:gd name="connsiteY3" fmla="*/ 574575 h 575130"/>
                  <a:gd name="connsiteX4" fmla="*/ 222846 w 1659598"/>
                  <a:gd name="connsiteY4" fmla="*/ 495916 h 575130"/>
                  <a:gd name="connsiteX5" fmla="*/ 36033 w 1659598"/>
                  <a:gd name="connsiteY5" fmla="*/ 250110 h 575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59598" h="575130">
                    <a:moveTo>
                      <a:pt x="36033" y="250110"/>
                    </a:moveTo>
                    <a:cubicBezTo>
                      <a:pt x="137633" y="168175"/>
                      <a:pt x="562059" y="-31748"/>
                      <a:pt x="832446" y="4304"/>
                    </a:cubicBezTo>
                    <a:cubicBezTo>
                      <a:pt x="1102833" y="40356"/>
                      <a:pt x="1630498" y="371375"/>
                      <a:pt x="1658356" y="466420"/>
                    </a:cubicBezTo>
                    <a:cubicBezTo>
                      <a:pt x="1686214" y="561465"/>
                      <a:pt x="1238847" y="569659"/>
                      <a:pt x="999595" y="574575"/>
                    </a:cubicBezTo>
                    <a:cubicBezTo>
                      <a:pt x="760343" y="579491"/>
                      <a:pt x="381801" y="551632"/>
                      <a:pt x="222846" y="495916"/>
                    </a:cubicBezTo>
                    <a:cubicBezTo>
                      <a:pt x="63891" y="440200"/>
                      <a:pt x="-65567" y="332045"/>
                      <a:pt x="36033" y="25011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BD70416-54FB-38F6-14F4-09FB54996C90}"/>
                  </a:ext>
                </a:extLst>
              </p:cNvPr>
              <p:cNvSpPr/>
              <p:nvPr/>
            </p:nvSpPr>
            <p:spPr>
              <a:xfrm>
                <a:off x="4459555" y="2523557"/>
                <a:ext cx="433993" cy="351412"/>
              </a:xfrm>
              <a:custGeom>
                <a:avLst/>
                <a:gdLst>
                  <a:gd name="connsiteX0" fmla="*/ 9081 w 433993"/>
                  <a:gd name="connsiteY0" fmla="*/ 74096 h 351412"/>
                  <a:gd name="connsiteX1" fmla="*/ 215558 w 433993"/>
                  <a:gd name="connsiteY1" fmla="*/ 5270 h 351412"/>
                  <a:gd name="connsiteX2" fmla="*/ 431868 w 433993"/>
                  <a:gd name="connsiteY2" fmla="*/ 182251 h 351412"/>
                  <a:gd name="connsiteX3" fmla="*/ 77907 w 433993"/>
                  <a:gd name="connsiteY3" fmla="*/ 349399 h 351412"/>
                  <a:gd name="connsiteX4" fmla="*/ 9081 w 433993"/>
                  <a:gd name="connsiteY4" fmla="*/ 74096 h 351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3993" h="351412">
                    <a:moveTo>
                      <a:pt x="9081" y="74096"/>
                    </a:moveTo>
                    <a:cubicBezTo>
                      <a:pt x="32023" y="16741"/>
                      <a:pt x="145094" y="-12756"/>
                      <a:pt x="215558" y="5270"/>
                    </a:cubicBezTo>
                    <a:cubicBezTo>
                      <a:pt x="286022" y="23296"/>
                      <a:pt x="454810" y="124896"/>
                      <a:pt x="431868" y="182251"/>
                    </a:cubicBezTo>
                    <a:cubicBezTo>
                      <a:pt x="408926" y="239606"/>
                      <a:pt x="150010" y="369063"/>
                      <a:pt x="77907" y="349399"/>
                    </a:cubicBezTo>
                    <a:cubicBezTo>
                      <a:pt x="5804" y="329735"/>
                      <a:pt x="-13861" y="131451"/>
                      <a:pt x="9081" y="7409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5E179F5E-A581-B068-111C-ADD34C2C1E0A}"/>
                  </a:ext>
                </a:extLst>
              </p:cNvPr>
              <p:cNvSpPr/>
              <p:nvPr/>
            </p:nvSpPr>
            <p:spPr>
              <a:xfrm>
                <a:off x="5022182" y="2825146"/>
                <a:ext cx="369191" cy="309869"/>
              </a:xfrm>
              <a:custGeom>
                <a:avLst/>
                <a:gdLst>
                  <a:gd name="connsiteX0" fmla="*/ 134712 w 369191"/>
                  <a:gd name="connsiteY0" fmla="*/ 47810 h 309869"/>
                  <a:gd name="connsiteX1" fmla="*/ 301860 w 369191"/>
                  <a:gd name="connsiteY1" fmla="*/ 18313 h 309869"/>
                  <a:gd name="connsiteX2" fmla="*/ 351022 w 369191"/>
                  <a:gd name="connsiteY2" fmla="*/ 303449 h 309869"/>
                  <a:gd name="connsiteX3" fmla="*/ 6893 w 369191"/>
                  <a:gd name="connsiteY3" fmla="*/ 205126 h 309869"/>
                  <a:gd name="connsiteX4" fmla="*/ 134712 w 369191"/>
                  <a:gd name="connsiteY4" fmla="*/ 47810 h 309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9191" h="309869">
                    <a:moveTo>
                      <a:pt x="134712" y="47810"/>
                    </a:moveTo>
                    <a:cubicBezTo>
                      <a:pt x="183873" y="16675"/>
                      <a:pt x="265808" y="-24294"/>
                      <a:pt x="301860" y="18313"/>
                    </a:cubicBezTo>
                    <a:cubicBezTo>
                      <a:pt x="337912" y="60920"/>
                      <a:pt x="400183" y="272314"/>
                      <a:pt x="351022" y="303449"/>
                    </a:cubicBezTo>
                    <a:cubicBezTo>
                      <a:pt x="301861" y="334584"/>
                      <a:pt x="42945" y="244455"/>
                      <a:pt x="6893" y="205126"/>
                    </a:cubicBezTo>
                    <a:cubicBezTo>
                      <a:pt x="-29159" y="165797"/>
                      <a:pt x="85551" y="78945"/>
                      <a:pt x="134712" y="4781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EFB5785-6EC1-5DB5-9BB7-82C15B2E57BB}"/>
                  </a:ext>
                </a:extLst>
              </p:cNvPr>
              <p:cNvSpPr/>
              <p:nvPr/>
            </p:nvSpPr>
            <p:spPr>
              <a:xfrm>
                <a:off x="3963933" y="2782785"/>
                <a:ext cx="639490" cy="523503"/>
              </a:xfrm>
              <a:custGeom>
                <a:avLst/>
                <a:gdLst>
                  <a:gd name="connsiteX0" fmla="*/ 632523 w 639490"/>
                  <a:gd name="connsiteY0" fmla="*/ 257319 h 523503"/>
                  <a:gd name="connsiteX1" fmla="*/ 514536 w 639490"/>
                  <a:gd name="connsiteY1" fmla="*/ 522790 h 523503"/>
                  <a:gd name="connsiteX2" fmla="*/ 111413 w 639490"/>
                  <a:gd name="connsiteY2" fmla="*/ 326145 h 523503"/>
                  <a:gd name="connsiteX3" fmla="*/ 13091 w 639490"/>
                  <a:gd name="connsiteY3" fmla="*/ 50842 h 523503"/>
                  <a:gd name="connsiteX4" fmla="*/ 347387 w 639490"/>
                  <a:gd name="connsiteY4" fmla="*/ 21345 h 523503"/>
                  <a:gd name="connsiteX5" fmla="*/ 632523 w 639490"/>
                  <a:gd name="connsiteY5" fmla="*/ 257319 h 523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9490" h="523503">
                    <a:moveTo>
                      <a:pt x="632523" y="257319"/>
                    </a:moveTo>
                    <a:cubicBezTo>
                      <a:pt x="660381" y="340893"/>
                      <a:pt x="601388" y="511319"/>
                      <a:pt x="514536" y="522790"/>
                    </a:cubicBezTo>
                    <a:cubicBezTo>
                      <a:pt x="427684" y="534261"/>
                      <a:pt x="194987" y="404803"/>
                      <a:pt x="111413" y="326145"/>
                    </a:cubicBezTo>
                    <a:cubicBezTo>
                      <a:pt x="27839" y="247487"/>
                      <a:pt x="-26238" y="101642"/>
                      <a:pt x="13091" y="50842"/>
                    </a:cubicBezTo>
                    <a:cubicBezTo>
                      <a:pt x="52420" y="42"/>
                      <a:pt x="247426" y="-17984"/>
                      <a:pt x="347387" y="21345"/>
                    </a:cubicBezTo>
                    <a:cubicBezTo>
                      <a:pt x="447348" y="60674"/>
                      <a:pt x="604665" y="173745"/>
                      <a:pt x="632523" y="25731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F6F15109-34C1-BC5A-CF00-40D4A55FA9C6}"/>
                  </a:ext>
                </a:extLst>
              </p:cNvPr>
              <p:cNvSpPr/>
              <p:nvPr/>
            </p:nvSpPr>
            <p:spPr>
              <a:xfrm>
                <a:off x="4861780" y="3049305"/>
                <a:ext cx="177269" cy="177736"/>
              </a:xfrm>
              <a:custGeom>
                <a:avLst/>
                <a:gdLst>
                  <a:gd name="connsiteX0" fmla="*/ 146 w 177269"/>
                  <a:gd name="connsiteY0" fmla="*/ 69458 h 177736"/>
                  <a:gd name="connsiteX1" fmla="*/ 78804 w 177269"/>
                  <a:gd name="connsiteY1" fmla="*/ 177612 h 177736"/>
                  <a:gd name="connsiteX2" fmla="*/ 177127 w 177269"/>
                  <a:gd name="connsiteY2" fmla="*/ 89122 h 177736"/>
                  <a:gd name="connsiteX3" fmla="*/ 98469 w 177269"/>
                  <a:gd name="connsiteY3" fmla="*/ 632 h 177736"/>
                  <a:gd name="connsiteX4" fmla="*/ 146 w 177269"/>
                  <a:gd name="connsiteY4" fmla="*/ 69458 h 177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269" h="177736">
                    <a:moveTo>
                      <a:pt x="146" y="69458"/>
                    </a:moveTo>
                    <a:cubicBezTo>
                      <a:pt x="-3132" y="98955"/>
                      <a:pt x="49307" y="174335"/>
                      <a:pt x="78804" y="177612"/>
                    </a:cubicBezTo>
                    <a:cubicBezTo>
                      <a:pt x="108301" y="180889"/>
                      <a:pt x="173849" y="118619"/>
                      <a:pt x="177127" y="89122"/>
                    </a:cubicBezTo>
                    <a:cubicBezTo>
                      <a:pt x="180405" y="59625"/>
                      <a:pt x="126327" y="7187"/>
                      <a:pt x="98469" y="632"/>
                    </a:cubicBezTo>
                    <a:cubicBezTo>
                      <a:pt x="70611" y="-5923"/>
                      <a:pt x="3424" y="39961"/>
                      <a:pt x="146" y="6945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5637288-8FE7-D8DC-BE3B-7F0B92DD1651}"/>
                </a:ext>
              </a:extLst>
            </p:cNvPr>
            <p:cNvSpPr/>
            <p:nvPr/>
          </p:nvSpPr>
          <p:spPr>
            <a:xfrm rot="19931264">
              <a:off x="6494318" y="3167741"/>
              <a:ext cx="339868" cy="157488"/>
            </a:xfrm>
            <a:custGeom>
              <a:avLst/>
              <a:gdLst>
                <a:gd name="connsiteX0" fmla="*/ 0 w 497184"/>
                <a:gd name="connsiteY0" fmla="*/ 462400 h 462400"/>
                <a:gd name="connsiteX1" fmla="*/ 245806 w 497184"/>
                <a:gd name="connsiteY1" fmla="*/ 284 h 462400"/>
                <a:gd name="connsiteX2" fmla="*/ 471948 w 497184"/>
                <a:gd name="connsiteY2" fmla="*/ 393574 h 462400"/>
                <a:gd name="connsiteX3" fmla="*/ 481781 w 497184"/>
                <a:gd name="connsiteY3" fmla="*/ 393574 h 46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184" h="462400">
                  <a:moveTo>
                    <a:pt x="0" y="462400"/>
                  </a:moveTo>
                  <a:cubicBezTo>
                    <a:pt x="83574" y="237077"/>
                    <a:pt x="167148" y="11755"/>
                    <a:pt x="245806" y="284"/>
                  </a:cubicBezTo>
                  <a:cubicBezTo>
                    <a:pt x="324464" y="-11187"/>
                    <a:pt x="432619" y="328026"/>
                    <a:pt x="471948" y="393574"/>
                  </a:cubicBezTo>
                  <a:cubicBezTo>
                    <a:pt x="511277" y="459122"/>
                    <a:pt x="496529" y="426348"/>
                    <a:pt x="481781" y="393574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FB80BFE-F63E-8666-D381-E5F31DFBA97B}"/>
                </a:ext>
              </a:extLst>
            </p:cNvPr>
            <p:cNvSpPr/>
            <p:nvPr/>
          </p:nvSpPr>
          <p:spPr>
            <a:xfrm rot="9900000">
              <a:off x="6892939" y="3596747"/>
              <a:ext cx="339868" cy="157488"/>
            </a:xfrm>
            <a:custGeom>
              <a:avLst/>
              <a:gdLst>
                <a:gd name="connsiteX0" fmla="*/ 0 w 497184"/>
                <a:gd name="connsiteY0" fmla="*/ 462400 h 462400"/>
                <a:gd name="connsiteX1" fmla="*/ 245806 w 497184"/>
                <a:gd name="connsiteY1" fmla="*/ 284 h 462400"/>
                <a:gd name="connsiteX2" fmla="*/ 471948 w 497184"/>
                <a:gd name="connsiteY2" fmla="*/ 393574 h 462400"/>
                <a:gd name="connsiteX3" fmla="*/ 481781 w 497184"/>
                <a:gd name="connsiteY3" fmla="*/ 393574 h 46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184" h="462400">
                  <a:moveTo>
                    <a:pt x="0" y="462400"/>
                  </a:moveTo>
                  <a:cubicBezTo>
                    <a:pt x="83574" y="237077"/>
                    <a:pt x="167148" y="11755"/>
                    <a:pt x="245806" y="284"/>
                  </a:cubicBezTo>
                  <a:cubicBezTo>
                    <a:pt x="324464" y="-11187"/>
                    <a:pt x="432619" y="328026"/>
                    <a:pt x="471948" y="393574"/>
                  </a:cubicBezTo>
                  <a:cubicBezTo>
                    <a:pt x="511277" y="459122"/>
                    <a:pt x="496529" y="426348"/>
                    <a:pt x="481781" y="393574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3148D5F-63FA-83FB-BC31-35B48913F459}"/>
                </a:ext>
              </a:extLst>
            </p:cNvPr>
            <p:cNvSpPr/>
            <p:nvPr/>
          </p:nvSpPr>
          <p:spPr>
            <a:xfrm rot="1980520">
              <a:off x="6987935" y="3179403"/>
              <a:ext cx="339868" cy="157488"/>
            </a:xfrm>
            <a:custGeom>
              <a:avLst/>
              <a:gdLst>
                <a:gd name="connsiteX0" fmla="*/ 0 w 497184"/>
                <a:gd name="connsiteY0" fmla="*/ 462400 h 462400"/>
                <a:gd name="connsiteX1" fmla="*/ 245806 w 497184"/>
                <a:gd name="connsiteY1" fmla="*/ 284 h 462400"/>
                <a:gd name="connsiteX2" fmla="*/ 471948 w 497184"/>
                <a:gd name="connsiteY2" fmla="*/ 393574 h 462400"/>
                <a:gd name="connsiteX3" fmla="*/ 481781 w 497184"/>
                <a:gd name="connsiteY3" fmla="*/ 393574 h 46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184" h="462400">
                  <a:moveTo>
                    <a:pt x="0" y="462400"/>
                  </a:moveTo>
                  <a:cubicBezTo>
                    <a:pt x="83574" y="237077"/>
                    <a:pt x="167148" y="11755"/>
                    <a:pt x="245806" y="284"/>
                  </a:cubicBezTo>
                  <a:cubicBezTo>
                    <a:pt x="324464" y="-11187"/>
                    <a:pt x="432619" y="328026"/>
                    <a:pt x="471948" y="393574"/>
                  </a:cubicBezTo>
                  <a:cubicBezTo>
                    <a:pt x="511277" y="459122"/>
                    <a:pt x="496529" y="426348"/>
                    <a:pt x="481781" y="393574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B4EF3B4-7FA7-0F5B-9CA6-4944DB33FCFC}"/>
              </a:ext>
            </a:extLst>
          </p:cNvPr>
          <p:cNvGrpSpPr/>
          <p:nvPr/>
        </p:nvGrpSpPr>
        <p:grpSpPr>
          <a:xfrm>
            <a:off x="9651153" y="3745648"/>
            <a:ext cx="1979990" cy="1184174"/>
            <a:chOff x="5944221" y="2691010"/>
            <a:chExt cx="1777757" cy="1063225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433AFC6-8CFA-D6C7-C3EA-F38538D1E6BF}"/>
                </a:ext>
              </a:extLst>
            </p:cNvPr>
            <p:cNvGrpSpPr/>
            <p:nvPr/>
          </p:nvGrpSpPr>
          <p:grpSpPr>
            <a:xfrm>
              <a:off x="5944221" y="2691010"/>
              <a:ext cx="1777757" cy="989032"/>
              <a:chOff x="2981567" y="1589108"/>
              <a:chExt cx="3086583" cy="1717180"/>
            </a:xfrm>
            <a:solidFill>
              <a:schemeClr val="accent1"/>
            </a:solidFill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F080FDC0-8136-EC8F-BA53-EBAEB374ADA0}"/>
                  </a:ext>
                </a:extLst>
              </p:cNvPr>
              <p:cNvSpPr/>
              <p:nvPr/>
            </p:nvSpPr>
            <p:spPr>
              <a:xfrm>
                <a:off x="2981567" y="1589108"/>
                <a:ext cx="1477988" cy="634480"/>
              </a:xfrm>
              <a:custGeom>
                <a:avLst/>
                <a:gdLst>
                  <a:gd name="connsiteX0" fmla="*/ 365488 w 1477988"/>
                  <a:gd name="connsiteY0" fmla="*/ 417707 h 634480"/>
                  <a:gd name="connsiteX1" fmla="*/ 866933 w 1477988"/>
                  <a:gd name="connsiteY1" fmla="*/ 634017 h 634480"/>
                  <a:gd name="connsiteX2" fmla="*/ 1476533 w 1477988"/>
                  <a:gd name="connsiteY2" fmla="*/ 358714 h 634480"/>
                  <a:gd name="connsiteX3" fmla="*/ 1004585 w 1477988"/>
                  <a:gd name="connsiteY3" fmla="*/ 4752 h 634480"/>
                  <a:gd name="connsiteX4" fmla="*/ 21359 w 1477988"/>
                  <a:gd name="connsiteY4" fmla="*/ 171901 h 634480"/>
                  <a:gd name="connsiteX5" fmla="*/ 365488 w 1477988"/>
                  <a:gd name="connsiteY5" fmla="*/ 417707 h 634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77988" h="634480">
                    <a:moveTo>
                      <a:pt x="365488" y="417707"/>
                    </a:moveTo>
                    <a:cubicBezTo>
                      <a:pt x="506417" y="494726"/>
                      <a:pt x="681759" y="643849"/>
                      <a:pt x="866933" y="634017"/>
                    </a:cubicBezTo>
                    <a:cubicBezTo>
                      <a:pt x="1052107" y="624185"/>
                      <a:pt x="1453591" y="463591"/>
                      <a:pt x="1476533" y="358714"/>
                    </a:cubicBezTo>
                    <a:cubicBezTo>
                      <a:pt x="1499475" y="253837"/>
                      <a:pt x="1247114" y="35887"/>
                      <a:pt x="1004585" y="4752"/>
                    </a:cubicBezTo>
                    <a:cubicBezTo>
                      <a:pt x="762056" y="-26383"/>
                      <a:pt x="126236" y="103075"/>
                      <a:pt x="21359" y="171901"/>
                    </a:cubicBezTo>
                    <a:cubicBezTo>
                      <a:pt x="-83518" y="240727"/>
                      <a:pt x="224559" y="340688"/>
                      <a:pt x="365488" y="417707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03470A44-5876-A60A-81E8-B04F89D5EEE7}"/>
                  </a:ext>
                </a:extLst>
              </p:cNvPr>
              <p:cNvSpPr/>
              <p:nvPr/>
            </p:nvSpPr>
            <p:spPr>
              <a:xfrm>
                <a:off x="5127549" y="1906348"/>
                <a:ext cx="940601" cy="575130"/>
              </a:xfrm>
              <a:custGeom>
                <a:avLst/>
                <a:gdLst>
                  <a:gd name="connsiteX0" fmla="*/ 36033 w 1659598"/>
                  <a:gd name="connsiteY0" fmla="*/ 250110 h 575130"/>
                  <a:gd name="connsiteX1" fmla="*/ 832446 w 1659598"/>
                  <a:gd name="connsiteY1" fmla="*/ 4304 h 575130"/>
                  <a:gd name="connsiteX2" fmla="*/ 1658356 w 1659598"/>
                  <a:gd name="connsiteY2" fmla="*/ 466420 h 575130"/>
                  <a:gd name="connsiteX3" fmla="*/ 999595 w 1659598"/>
                  <a:gd name="connsiteY3" fmla="*/ 574575 h 575130"/>
                  <a:gd name="connsiteX4" fmla="*/ 222846 w 1659598"/>
                  <a:gd name="connsiteY4" fmla="*/ 495916 h 575130"/>
                  <a:gd name="connsiteX5" fmla="*/ 36033 w 1659598"/>
                  <a:gd name="connsiteY5" fmla="*/ 250110 h 575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59598" h="575130">
                    <a:moveTo>
                      <a:pt x="36033" y="250110"/>
                    </a:moveTo>
                    <a:cubicBezTo>
                      <a:pt x="137633" y="168175"/>
                      <a:pt x="562059" y="-31748"/>
                      <a:pt x="832446" y="4304"/>
                    </a:cubicBezTo>
                    <a:cubicBezTo>
                      <a:pt x="1102833" y="40356"/>
                      <a:pt x="1630498" y="371375"/>
                      <a:pt x="1658356" y="466420"/>
                    </a:cubicBezTo>
                    <a:cubicBezTo>
                      <a:pt x="1686214" y="561465"/>
                      <a:pt x="1238847" y="569659"/>
                      <a:pt x="999595" y="574575"/>
                    </a:cubicBezTo>
                    <a:cubicBezTo>
                      <a:pt x="760343" y="579491"/>
                      <a:pt x="381801" y="551632"/>
                      <a:pt x="222846" y="495916"/>
                    </a:cubicBezTo>
                    <a:cubicBezTo>
                      <a:pt x="63891" y="440200"/>
                      <a:pt x="-65567" y="332045"/>
                      <a:pt x="36033" y="25011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5E70148A-761A-028B-590D-B9CC6BCDA3BC}"/>
                  </a:ext>
                </a:extLst>
              </p:cNvPr>
              <p:cNvSpPr/>
              <p:nvPr/>
            </p:nvSpPr>
            <p:spPr>
              <a:xfrm>
                <a:off x="4459555" y="2523557"/>
                <a:ext cx="433993" cy="351412"/>
              </a:xfrm>
              <a:custGeom>
                <a:avLst/>
                <a:gdLst>
                  <a:gd name="connsiteX0" fmla="*/ 9081 w 433993"/>
                  <a:gd name="connsiteY0" fmla="*/ 74096 h 351412"/>
                  <a:gd name="connsiteX1" fmla="*/ 215558 w 433993"/>
                  <a:gd name="connsiteY1" fmla="*/ 5270 h 351412"/>
                  <a:gd name="connsiteX2" fmla="*/ 431868 w 433993"/>
                  <a:gd name="connsiteY2" fmla="*/ 182251 h 351412"/>
                  <a:gd name="connsiteX3" fmla="*/ 77907 w 433993"/>
                  <a:gd name="connsiteY3" fmla="*/ 349399 h 351412"/>
                  <a:gd name="connsiteX4" fmla="*/ 9081 w 433993"/>
                  <a:gd name="connsiteY4" fmla="*/ 74096 h 351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3993" h="351412">
                    <a:moveTo>
                      <a:pt x="9081" y="74096"/>
                    </a:moveTo>
                    <a:cubicBezTo>
                      <a:pt x="32023" y="16741"/>
                      <a:pt x="145094" y="-12756"/>
                      <a:pt x="215558" y="5270"/>
                    </a:cubicBezTo>
                    <a:cubicBezTo>
                      <a:pt x="286022" y="23296"/>
                      <a:pt x="454810" y="124896"/>
                      <a:pt x="431868" y="182251"/>
                    </a:cubicBezTo>
                    <a:cubicBezTo>
                      <a:pt x="408926" y="239606"/>
                      <a:pt x="150010" y="369063"/>
                      <a:pt x="77907" y="349399"/>
                    </a:cubicBezTo>
                    <a:cubicBezTo>
                      <a:pt x="5804" y="329735"/>
                      <a:pt x="-13861" y="131451"/>
                      <a:pt x="9081" y="74096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6C7DAB7-11BE-CA7A-DC59-6896ED5B70BB}"/>
                  </a:ext>
                </a:extLst>
              </p:cNvPr>
              <p:cNvSpPr/>
              <p:nvPr/>
            </p:nvSpPr>
            <p:spPr>
              <a:xfrm>
                <a:off x="5022182" y="2825146"/>
                <a:ext cx="369191" cy="309869"/>
              </a:xfrm>
              <a:custGeom>
                <a:avLst/>
                <a:gdLst>
                  <a:gd name="connsiteX0" fmla="*/ 134712 w 369191"/>
                  <a:gd name="connsiteY0" fmla="*/ 47810 h 309869"/>
                  <a:gd name="connsiteX1" fmla="*/ 301860 w 369191"/>
                  <a:gd name="connsiteY1" fmla="*/ 18313 h 309869"/>
                  <a:gd name="connsiteX2" fmla="*/ 351022 w 369191"/>
                  <a:gd name="connsiteY2" fmla="*/ 303449 h 309869"/>
                  <a:gd name="connsiteX3" fmla="*/ 6893 w 369191"/>
                  <a:gd name="connsiteY3" fmla="*/ 205126 h 309869"/>
                  <a:gd name="connsiteX4" fmla="*/ 134712 w 369191"/>
                  <a:gd name="connsiteY4" fmla="*/ 47810 h 309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9191" h="309869">
                    <a:moveTo>
                      <a:pt x="134712" y="47810"/>
                    </a:moveTo>
                    <a:cubicBezTo>
                      <a:pt x="183873" y="16675"/>
                      <a:pt x="265808" y="-24294"/>
                      <a:pt x="301860" y="18313"/>
                    </a:cubicBezTo>
                    <a:cubicBezTo>
                      <a:pt x="337912" y="60920"/>
                      <a:pt x="400183" y="272314"/>
                      <a:pt x="351022" y="303449"/>
                    </a:cubicBezTo>
                    <a:cubicBezTo>
                      <a:pt x="301861" y="334584"/>
                      <a:pt x="42945" y="244455"/>
                      <a:pt x="6893" y="205126"/>
                    </a:cubicBezTo>
                    <a:cubicBezTo>
                      <a:pt x="-29159" y="165797"/>
                      <a:pt x="85551" y="78945"/>
                      <a:pt x="134712" y="4781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357C63C8-B906-D985-C0A0-E25990D1D05C}"/>
                  </a:ext>
                </a:extLst>
              </p:cNvPr>
              <p:cNvSpPr/>
              <p:nvPr/>
            </p:nvSpPr>
            <p:spPr>
              <a:xfrm>
                <a:off x="3963933" y="2782785"/>
                <a:ext cx="639490" cy="523503"/>
              </a:xfrm>
              <a:custGeom>
                <a:avLst/>
                <a:gdLst>
                  <a:gd name="connsiteX0" fmla="*/ 632523 w 639490"/>
                  <a:gd name="connsiteY0" fmla="*/ 257319 h 523503"/>
                  <a:gd name="connsiteX1" fmla="*/ 514536 w 639490"/>
                  <a:gd name="connsiteY1" fmla="*/ 522790 h 523503"/>
                  <a:gd name="connsiteX2" fmla="*/ 111413 w 639490"/>
                  <a:gd name="connsiteY2" fmla="*/ 326145 h 523503"/>
                  <a:gd name="connsiteX3" fmla="*/ 13091 w 639490"/>
                  <a:gd name="connsiteY3" fmla="*/ 50842 h 523503"/>
                  <a:gd name="connsiteX4" fmla="*/ 347387 w 639490"/>
                  <a:gd name="connsiteY4" fmla="*/ 21345 h 523503"/>
                  <a:gd name="connsiteX5" fmla="*/ 632523 w 639490"/>
                  <a:gd name="connsiteY5" fmla="*/ 257319 h 523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9490" h="523503">
                    <a:moveTo>
                      <a:pt x="632523" y="257319"/>
                    </a:moveTo>
                    <a:cubicBezTo>
                      <a:pt x="660381" y="340893"/>
                      <a:pt x="601388" y="511319"/>
                      <a:pt x="514536" y="522790"/>
                    </a:cubicBezTo>
                    <a:cubicBezTo>
                      <a:pt x="427684" y="534261"/>
                      <a:pt x="194987" y="404803"/>
                      <a:pt x="111413" y="326145"/>
                    </a:cubicBezTo>
                    <a:cubicBezTo>
                      <a:pt x="27839" y="247487"/>
                      <a:pt x="-26238" y="101642"/>
                      <a:pt x="13091" y="50842"/>
                    </a:cubicBezTo>
                    <a:cubicBezTo>
                      <a:pt x="52420" y="42"/>
                      <a:pt x="247426" y="-17984"/>
                      <a:pt x="347387" y="21345"/>
                    </a:cubicBezTo>
                    <a:cubicBezTo>
                      <a:pt x="447348" y="60674"/>
                      <a:pt x="604665" y="173745"/>
                      <a:pt x="632523" y="257319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DDDEAE9-321F-0593-F56E-DA8D069F76FC}"/>
                  </a:ext>
                </a:extLst>
              </p:cNvPr>
              <p:cNvSpPr/>
              <p:nvPr/>
            </p:nvSpPr>
            <p:spPr>
              <a:xfrm>
                <a:off x="4861780" y="3049305"/>
                <a:ext cx="177269" cy="177736"/>
              </a:xfrm>
              <a:custGeom>
                <a:avLst/>
                <a:gdLst>
                  <a:gd name="connsiteX0" fmla="*/ 146 w 177269"/>
                  <a:gd name="connsiteY0" fmla="*/ 69458 h 177736"/>
                  <a:gd name="connsiteX1" fmla="*/ 78804 w 177269"/>
                  <a:gd name="connsiteY1" fmla="*/ 177612 h 177736"/>
                  <a:gd name="connsiteX2" fmla="*/ 177127 w 177269"/>
                  <a:gd name="connsiteY2" fmla="*/ 89122 h 177736"/>
                  <a:gd name="connsiteX3" fmla="*/ 98469 w 177269"/>
                  <a:gd name="connsiteY3" fmla="*/ 632 h 177736"/>
                  <a:gd name="connsiteX4" fmla="*/ 146 w 177269"/>
                  <a:gd name="connsiteY4" fmla="*/ 69458 h 177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269" h="177736">
                    <a:moveTo>
                      <a:pt x="146" y="69458"/>
                    </a:moveTo>
                    <a:cubicBezTo>
                      <a:pt x="-3132" y="98955"/>
                      <a:pt x="49307" y="174335"/>
                      <a:pt x="78804" y="177612"/>
                    </a:cubicBezTo>
                    <a:cubicBezTo>
                      <a:pt x="108301" y="180889"/>
                      <a:pt x="173849" y="118619"/>
                      <a:pt x="177127" y="89122"/>
                    </a:cubicBezTo>
                    <a:cubicBezTo>
                      <a:pt x="180405" y="59625"/>
                      <a:pt x="126327" y="7187"/>
                      <a:pt x="98469" y="632"/>
                    </a:cubicBezTo>
                    <a:cubicBezTo>
                      <a:pt x="70611" y="-5923"/>
                      <a:pt x="3424" y="39961"/>
                      <a:pt x="146" y="69458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D47FADAE-1EE6-3A6E-5393-C9BFA391E9A9}"/>
                </a:ext>
              </a:extLst>
            </p:cNvPr>
            <p:cNvSpPr/>
            <p:nvPr/>
          </p:nvSpPr>
          <p:spPr>
            <a:xfrm rot="12089306">
              <a:off x="6163157" y="2802548"/>
              <a:ext cx="813710" cy="681161"/>
            </a:xfrm>
            <a:prstGeom prst="arc">
              <a:avLst/>
            </a:prstGeom>
            <a:ln w="381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C7533C76-C842-A920-CC79-067C6DFD6203}"/>
                </a:ext>
              </a:extLst>
            </p:cNvPr>
            <p:cNvSpPr/>
            <p:nvPr/>
          </p:nvSpPr>
          <p:spPr>
            <a:xfrm rot="20076451">
              <a:off x="6495513" y="2720101"/>
              <a:ext cx="813710" cy="681161"/>
            </a:xfrm>
            <a:prstGeom prst="arc">
              <a:avLst/>
            </a:prstGeom>
            <a:ln w="381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77C20840-0CD1-FF8C-4331-B485EAD24346}"/>
                </a:ext>
              </a:extLst>
            </p:cNvPr>
            <p:cNvSpPr/>
            <p:nvPr/>
          </p:nvSpPr>
          <p:spPr>
            <a:xfrm rot="5557040">
              <a:off x="6854317" y="2862720"/>
              <a:ext cx="813710" cy="681161"/>
            </a:xfrm>
            <a:prstGeom prst="arc">
              <a:avLst>
                <a:gd name="adj1" fmla="val 16200000"/>
                <a:gd name="adj2" fmla="val 20306460"/>
              </a:avLst>
            </a:prstGeom>
            <a:ln w="381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07A3018-A0DB-5806-9CF3-1F154D7CF663}"/>
                </a:ext>
              </a:extLst>
            </p:cNvPr>
            <p:cNvSpPr/>
            <p:nvPr/>
          </p:nvSpPr>
          <p:spPr>
            <a:xfrm rot="19931264">
              <a:off x="6494318" y="3167741"/>
              <a:ext cx="339868" cy="157488"/>
            </a:xfrm>
            <a:custGeom>
              <a:avLst/>
              <a:gdLst>
                <a:gd name="connsiteX0" fmla="*/ 0 w 497184"/>
                <a:gd name="connsiteY0" fmla="*/ 462400 h 462400"/>
                <a:gd name="connsiteX1" fmla="*/ 245806 w 497184"/>
                <a:gd name="connsiteY1" fmla="*/ 284 h 462400"/>
                <a:gd name="connsiteX2" fmla="*/ 471948 w 497184"/>
                <a:gd name="connsiteY2" fmla="*/ 393574 h 462400"/>
                <a:gd name="connsiteX3" fmla="*/ 481781 w 497184"/>
                <a:gd name="connsiteY3" fmla="*/ 393574 h 46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184" h="462400">
                  <a:moveTo>
                    <a:pt x="0" y="462400"/>
                  </a:moveTo>
                  <a:cubicBezTo>
                    <a:pt x="83574" y="237077"/>
                    <a:pt x="167148" y="11755"/>
                    <a:pt x="245806" y="284"/>
                  </a:cubicBezTo>
                  <a:cubicBezTo>
                    <a:pt x="324464" y="-11187"/>
                    <a:pt x="432619" y="328026"/>
                    <a:pt x="471948" y="393574"/>
                  </a:cubicBezTo>
                  <a:cubicBezTo>
                    <a:pt x="511277" y="459122"/>
                    <a:pt x="496529" y="426348"/>
                    <a:pt x="481781" y="393574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86A001A-9DF7-098A-C609-3F7307C04D1B}"/>
                </a:ext>
              </a:extLst>
            </p:cNvPr>
            <p:cNvSpPr/>
            <p:nvPr/>
          </p:nvSpPr>
          <p:spPr>
            <a:xfrm rot="9900000">
              <a:off x="6892939" y="3596747"/>
              <a:ext cx="339868" cy="157488"/>
            </a:xfrm>
            <a:custGeom>
              <a:avLst/>
              <a:gdLst>
                <a:gd name="connsiteX0" fmla="*/ 0 w 497184"/>
                <a:gd name="connsiteY0" fmla="*/ 462400 h 462400"/>
                <a:gd name="connsiteX1" fmla="*/ 245806 w 497184"/>
                <a:gd name="connsiteY1" fmla="*/ 284 h 462400"/>
                <a:gd name="connsiteX2" fmla="*/ 471948 w 497184"/>
                <a:gd name="connsiteY2" fmla="*/ 393574 h 462400"/>
                <a:gd name="connsiteX3" fmla="*/ 481781 w 497184"/>
                <a:gd name="connsiteY3" fmla="*/ 393574 h 46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184" h="462400">
                  <a:moveTo>
                    <a:pt x="0" y="462400"/>
                  </a:moveTo>
                  <a:cubicBezTo>
                    <a:pt x="83574" y="237077"/>
                    <a:pt x="167148" y="11755"/>
                    <a:pt x="245806" y="284"/>
                  </a:cubicBezTo>
                  <a:cubicBezTo>
                    <a:pt x="324464" y="-11187"/>
                    <a:pt x="432619" y="328026"/>
                    <a:pt x="471948" y="393574"/>
                  </a:cubicBezTo>
                  <a:cubicBezTo>
                    <a:pt x="511277" y="459122"/>
                    <a:pt x="496529" y="426348"/>
                    <a:pt x="481781" y="393574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569B64F-A953-3349-5D55-E1BCD0957D30}"/>
                </a:ext>
              </a:extLst>
            </p:cNvPr>
            <p:cNvSpPr/>
            <p:nvPr/>
          </p:nvSpPr>
          <p:spPr>
            <a:xfrm rot="1980520">
              <a:off x="6987935" y="3179403"/>
              <a:ext cx="339868" cy="157488"/>
            </a:xfrm>
            <a:custGeom>
              <a:avLst/>
              <a:gdLst>
                <a:gd name="connsiteX0" fmla="*/ 0 w 497184"/>
                <a:gd name="connsiteY0" fmla="*/ 462400 h 462400"/>
                <a:gd name="connsiteX1" fmla="*/ 245806 w 497184"/>
                <a:gd name="connsiteY1" fmla="*/ 284 h 462400"/>
                <a:gd name="connsiteX2" fmla="*/ 471948 w 497184"/>
                <a:gd name="connsiteY2" fmla="*/ 393574 h 462400"/>
                <a:gd name="connsiteX3" fmla="*/ 481781 w 497184"/>
                <a:gd name="connsiteY3" fmla="*/ 393574 h 46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184" h="462400">
                  <a:moveTo>
                    <a:pt x="0" y="462400"/>
                  </a:moveTo>
                  <a:cubicBezTo>
                    <a:pt x="83574" y="237077"/>
                    <a:pt x="167148" y="11755"/>
                    <a:pt x="245806" y="284"/>
                  </a:cubicBezTo>
                  <a:cubicBezTo>
                    <a:pt x="324464" y="-11187"/>
                    <a:pt x="432619" y="328026"/>
                    <a:pt x="471948" y="393574"/>
                  </a:cubicBezTo>
                  <a:cubicBezTo>
                    <a:pt x="511277" y="459122"/>
                    <a:pt x="496529" y="426348"/>
                    <a:pt x="481781" y="393574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D623407-FF3A-F697-E715-CCFC3D304186}"/>
              </a:ext>
            </a:extLst>
          </p:cNvPr>
          <p:cNvCxnSpPr>
            <a:cxnSpLocks/>
          </p:cNvCxnSpPr>
          <p:nvPr/>
        </p:nvCxnSpPr>
        <p:spPr>
          <a:xfrm flipV="1">
            <a:off x="8713776" y="4191699"/>
            <a:ext cx="828796" cy="673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1F8CFFD-B844-5342-862C-D9514989A59B}"/>
              </a:ext>
            </a:extLst>
          </p:cNvPr>
          <p:cNvSpPr txBox="1"/>
          <p:nvPr/>
        </p:nvSpPr>
        <p:spPr>
          <a:xfrm>
            <a:off x="8104343" y="3207651"/>
            <a:ext cx="18903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Natural dispersal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(5,000 ticks)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739E3B6-3594-813C-F2BB-D690C11A03FE}"/>
              </a:ext>
            </a:extLst>
          </p:cNvPr>
          <p:cNvCxnSpPr>
            <a:cxnSpLocks/>
          </p:cNvCxnSpPr>
          <p:nvPr/>
        </p:nvCxnSpPr>
        <p:spPr>
          <a:xfrm flipH="1">
            <a:off x="7795607" y="4847189"/>
            <a:ext cx="2319598" cy="90822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2A9A00B-D16A-4FA0-D5FB-1D98F4A597B1}"/>
              </a:ext>
            </a:extLst>
          </p:cNvPr>
          <p:cNvCxnSpPr>
            <a:cxnSpLocks/>
          </p:cNvCxnSpPr>
          <p:nvPr/>
        </p:nvCxnSpPr>
        <p:spPr>
          <a:xfrm flipH="1">
            <a:off x="9787540" y="4999589"/>
            <a:ext cx="480065" cy="68798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1DD84BD-493B-67BB-D0C1-AA21B6806147}"/>
              </a:ext>
            </a:extLst>
          </p:cNvPr>
          <p:cNvCxnSpPr>
            <a:cxnSpLocks/>
          </p:cNvCxnSpPr>
          <p:nvPr/>
        </p:nvCxnSpPr>
        <p:spPr>
          <a:xfrm>
            <a:off x="10649134" y="4999589"/>
            <a:ext cx="0" cy="54810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17AA786-EC5B-4A98-B8E9-BCADE0FA5C52}"/>
              </a:ext>
            </a:extLst>
          </p:cNvPr>
          <p:cNvSpPr txBox="1"/>
          <p:nvPr/>
        </p:nvSpPr>
        <p:spPr>
          <a:xfrm>
            <a:off x="5576435" y="4971884"/>
            <a:ext cx="27136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Variable decline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dispersal (19,400 ticks)</a:t>
            </a:r>
          </a:p>
        </p:txBody>
      </p:sp>
    </p:spTree>
    <p:extLst>
      <p:ext uri="{BB962C8B-B14F-4D97-AF65-F5344CB8AC3E}">
        <p14:creationId xmlns:p14="http://schemas.microsoft.com/office/powerpoint/2010/main" val="36534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788AD-2239-3AA6-1E3E-AAC76B1C2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0C783-5B22-033B-5213-2418679C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6"/>
                </a:solidFill>
                <a:latin typeface="Avenir Next LT Pro Demi" panose="020F0502020204030204" pitchFamily="34" charset="0"/>
                <a:cs typeface="Aharoni" panose="02010803020104030203" pitchFamily="2" charset="-79"/>
              </a:rPr>
              <a:t>Simulation study: recent dispersal key for strength of relationship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40D59F-3671-6589-5936-BDDC63AFF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741"/>
          <a:stretch>
            <a:fillRect/>
          </a:stretch>
        </p:blipFill>
        <p:spPr>
          <a:xfrm>
            <a:off x="540776" y="1772415"/>
            <a:ext cx="8141108" cy="49859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F76930-BF09-31CD-334A-B6BD0D384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29"/>
          <a:stretch>
            <a:fillRect/>
          </a:stretch>
        </p:blipFill>
        <p:spPr>
          <a:xfrm>
            <a:off x="8780205" y="1772414"/>
            <a:ext cx="3298371" cy="49859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17B7853-A21E-FE28-E2DC-B2F168305968}"/>
              </a:ext>
            </a:extLst>
          </p:cNvPr>
          <p:cNvSpPr/>
          <p:nvPr/>
        </p:nvSpPr>
        <p:spPr>
          <a:xfrm>
            <a:off x="1310447" y="2428570"/>
            <a:ext cx="1363927" cy="3746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D29045-FA5F-FC4E-AE00-EB7A4F3C577E}"/>
              </a:ext>
            </a:extLst>
          </p:cNvPr>
          <p:cNvGrpSpPr/>
          <p:nvPr/>
        </p:nvGrpSpPr>
        <p:grpSpPr>
          <a:xfrm>
            <a:off x="6238178" y="2392335"/>
            <a:ext cx="2301137" cy="3746088"/>
            <a:chOff x="6238178" y="2392335"/>
            <a:chExt cx="2301137" cy="374608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81C39CC-4F20-AC06-E426-DC76C2A5ADB7}"/>
                </a:ext>
              </a:extLst>
            </p:cNvPr>
            <p:cNvSpPr/>
            <p:nvPr/>
          </p:nvSpPr>
          <p:spPr>
            <a:xfrm>
              <a:off x="6238178" y="2392335"/>
              <a:ext cx="1558803" cy="37460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027D50-369B-47D3-AF96-04C1C5E76733}"/>
                </a:ext>
              </a:extLst>
            </p:cNvPr>
            <p:cNvSpPr/>
            <p:nvPr/>
          </p:nvSpPr>
          <p:spPr>
            <a:xfrm>
              <a:off x="6980512" y="4208206"/>
              <a:ext cx="1558803" cy="19074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14EEB3B-851D-8053-FAB5-87ECE234CB33}"/>
              </a:ext>
            </a:extLst>
          </p:cNvPr>
          <p:cNvSpPr/>
          <p:nvPr/>
        </p:nvSpPr>
        <p:spPr>
          <a:xfrm>
            <a:off x="2674374" y="2428570"/>
            <a:ext cx="895727" cy="3746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EC3227-5A20-49F5-99C1-A9C217DB4FCB}"/>
              </a:ext>
            </a:extLst>
          </p:cNvPr>
          <p:cNvSpPr/>
          <p:nvPr/>
        </p:nvSpPr>
        <p:spPr>
          <a:xfrm>
            <a:off x="4670041" y="2441496"/>
            <a:ext cx="1363926" cy="3746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16B9C0-35D4-D230-C406-E6A52A9C3F66}"/>
              </a:ext>
            </a:extLst>
          </p:cNvPr>
          <p:cNvSpPr/>
          <p:nvPr/>
        </p:nvSpPr>
        <p:spPr>
          <a:xfrm>
            <a:off x="3755886" y="2441496"/>
            <a:ext cx="914155" cy="3746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765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 animBg="1"/>
      <p:bldP spid="21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846E4-AF7A-B500-B368-5F581F946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1970-8C1F-327A-562D-55EE5FEA9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6"/>
                </a:solidFill>
                <a:latin typeface="Avenir Next LT Pro Demi" panose="020F0502020204030204" pitchFamily="34" charset="0"/>
                <a:cs typeface="Aharoni" panose="02010803020104030203" pitchFamily="2" charset="-79"/>
              </a:rPr>
              <a:t>Simulation study: recent dispersal key for strength of relationship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EF3969-6826-3D6C-FB04-2B6BFB515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741"/>
          <a:stretch>
            <a:fillRect/>
          </a:stretch>
        </p:blipFill>
        <p:spPr>
          <a:xfrm>
            <a:off x="540776" y="1772415"/>
            <a:ext cx="8141108" cy="49859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59DD0B-FBC6-D78D-D611-102ADC428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29"/>
          <a:stretch>
            <a:fillRect/>
          </a:stretch>
        </p:blipFill>
        <p:spPr>
          <a:xfrm>
            <a:off x="8780205" y="1772414"/>
            <a:ext cx="3298371" cy="4985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84BCF4-26D5-75AD-61D2-2CDBA88E68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10" t="13876" r="15969" b="37418"/>
          <a:stretch/>
        </p:blipFill>
        <p:spPr bwMode="auto">
          <a:xfrm>
            <a:off x="4377902" y="3365381"/>
            <a:ext cx="4192106" cy="240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C9E14A-6666-5644-7778-E5A9E64E3E0E}"/>
              </a:ext>
            </a:extLst>
          </p:cNvPr>
          <p:cNvCxnSpPr>
            <a:cxnSpLocks/>
          </p:cNvCxnSpPr>
          <p:nvPr/>
        </p:nvCxnSpPr>
        <p:spPr>
          <a:xfrm flipV="1">
            <a:off x="7211457" y="3293806"/>
            <a:ext cx="2856775" cy="602047"/>
          </a:xfrm>
          <a:prstGeom prst="line">
            <a:avLst/>
          </a:prstGeom>
          <a:ln w="571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729FFBFE-922D-86B9-C8EA-12625B5B97F7}"/>
              </a:ext>
            </a:extLst>
          </p:cNvPr>
          <p:cNvSpPr/>
          <p:nvPr/>
        </p:nvSpPr>
        <p:spPr>
          <a:xfrm>
            <a:off x="4980543" y="4434335"/>
            <a:ext cx="2230914" cy="1212827"/>
          </a:xfrm>
          <a:prstGeom prst="wedgeEllipseCallout">
            <a:avLst>
              <a:gd name="adj1" fmla="val 54343"/>
              <a:gd name="adj2" fmla="val -6061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+mn-cs"/>
              </a:rPr>
              <a:t>THAT’S ME!</a:t>
            </a:r>
          </a:p>
        </p:txBody>
      </p:sp>
    </p:spTree>
    <p:extLst>
      <p:ext uri="{BB962C8B-B14F-4D97-AF65-F5344CB8AC3E}">
        <p14:creationId xmlns:p14="http://schemas.microsoft.com/office/powerpoint/2010/main" val="1017706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FA007-D6F1-4761-B663-157476AA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01B28-49B4-0DEB-8818-B5DB49C20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Quantifying divergence with F</a:t>
            </a:r>
            <a:r>
              <a:rPr lang="en-US" baseline="-25000" dirty="0">
                <a:latin typeface="Aharoni" panose="02010803020104030203" pitchFamily="2" charset="-79"/>
                <a:cs typeface="Aharoni" panose="02010803020104030203" pitchFamily="2" charset="-79"/>
              </a:rPr>
              <a:t>ST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787C855-F822-B136-E2DC-92FAEB70D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5976" cy="429639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I normally do this with </a:t>
            </a:r>
            <a:r>
              <a:rPr lang="en-US" sz="2400" dirty="0" err="1">
                <a:latin typeface="Abadi" panose="020B0604020104020204" pitchFamily="34" charset="0"/>
              </a:rPr>
              <a:t>VCFtools</a:t>
            </a:r>
            <a:r>
              <a:rPr lang="en-US" sz="2400" dirty="0">
                <a:latin typeface="Abadi" panose="020B0604020104020204" pitchFamily="34" charset="0"/>
              </a:rPr>
              <a:t>, e.g. </a:t>
            </a:r>
            <a:r>
              <a:rPr lang="en-US" sz="2400" dirty="0">
                <a:latin typeface="Abadi" panose="020B0604020104020204" pitchFamily="34" charset="0"/>
                <a:hlinkClick r:id="rId3"/>
              </a:rPr>
              <a:t>https://github.com/ethangyllenhaal/FijiPachyRad/tree/main/04_pairwise_Fst</a:t>
            </a:r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dirty="0">
                <a:latin typeface="Abadi" panose="020B0604020104020204" pitchFamily="34" charset="0"/>
              </a:rPr>
              <a:t>I wanted to try something new here that past attendees liked, loosely following this: </a:t>
            </a:r>
            <a:r>
              <a:rPr lang="en-US" sz="2400" dirty="0">
                <a:latin typeface="Abadi" panose="020B0604020104020204" pitchFamily="34" charset="0"/>
                <a:hlinkClick r:id="rId4"/>
              </a:rPr>
              <a:t>https://devonderaad.github.io/zosterops.rad/zosterops.pairwise.fst.html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</a:p>
          <a:p>
            <a:r>
              <a:rPr lang="en-US" sz="2400" dirty="0">
                <a:latin typeface="Abadi" panose="020B0604020104020204" pitchFamily="34" charset="0"/>
              </a:rPr>
              <a:t> Output is a nice heatmap with values, easy to compare to expectations</a:t>
            </a:r>
            <a:endParaRPr lang="en-US" sz="1600" dirty="0">
              <a:latin typeface="Abadi" panose="020B0604020104020204" pitchFamily="34" charset="0"/>
            </a:endParaRPr>
          </a:p>
        </p:txBody>
      </p:sp>
      <p:pic>
        <p:nvPicPr>
          <p:cNvPr id="3" name="Picture 2" descr="DeRaad Lab">
            <a:extLst>
              <a:ext uri="{FF2B5EF4-FFF2-40B4-BE49-F238E27FC236}">
                <a16:creationId xmlns:a16="http://schemas.microsoft.com/office/drawing/2014/main" id="{6CBA1637-4E77-2AED-C14E-C53D4D7E4A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0749" y="72929"/>
            <a:ext cx="1523414" cy="15216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BAB7C0-C081-2181-A5AE-017A8FEAA2B7}"/>
              </a:ext>
            </a:extLst>
          </p:cNvPr>
          <p:cNvSpPr txBox="1"/>
          <p:nvPr/>
        </p:nvSpPr>
        <p:spPr>
          <a:xfrm>
            <a:off x="10420113" y="1592618"/>
            <a:ext cx="166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Devon DeRaad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954F44-7B5A-B7BA-7493-648DF295DE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646" y="3756566"/>
            <a:ext cx="4342007" cy="3101434"/>
          </a:xfrm>
          <a:prstGeom prst="rect">
            <a:avLst/>
          </a:prstGeom>
        </p:spPr>
      </p:pic>
      <p:pic>
        <p:nvPicPr>
          <p:cNvPr id="9" name="Picture 8" descr="NS 04-05">
            <a:extLst>
              <a:ext uri="{FF2B5EF4-FFF2-40B4-BE49-F238E27FC236}">
                <a16:creationId xmlns:a16="http://schemas.microsoft.com/office/drawing/2014/main" id="{2641B3D5-2527-FC3D-F4CE-66ADE4B43A6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4649"/>
          <a:stretch>
            <a:fillRect/>
          </a:stretch>
        </p:blipFill>
        <p:spPr>
          <a:xfrm>
            <a:off x="4457401" y="3756566"/>
            <a:ext cx="3360240" cy="3101434"/>
          </a:xfrm>
          <a:prstGeom prst="rect">
            <a:avLst/>
          </a:prstGeom>
        </p:spPr>
      </p:pic>
      <p:pic>
        <p:nvPicPr>
          <p:cNvPr id="10" name="Picture 9" descr="Evolution of FST through time between two sampled locations.&#10;Each point represents the mean of 30 repetitions. Curves were fitted to the general form of a sigmoid function using nls function in R. The different colors corresponds to scenarios with selection and with land-use change (in black); with selection and without land-use change (in red); without selection and without land-use change (in blue); and without selection and with land-use change (in grey).">
            <a:extLst>
              <a:ext uri="{FF2B5EF4-FFF2-40B4-BE49-F238E27FC236}">
                <a16:creationId xmlns:a16="http://schemas.microsoft.com/office/drawing/2014/main" id="{51E52A96-AE63-2809-3223-02A68D7FA5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6216" y="3953254"/>
            <a:ext cx="4197906" cy="268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84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35EB4-CB76-4EA0-3716-86E41F93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BB7049D-D5C3-BA24-4594-C5547879C760}"/>
              </a:ext>
            </a:extLst>
          </p:cNvPr>
          <p:cNvSpPr txBox="1"/>
          <p:nvPr/>
        </p:nvSpPr>
        <p:spPr>
          <a:xfrm>
            <a:off x="191430" y="0"/>
            <a:ext cx="1180914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50" dirty="0"/>
              <a:t># load packages for FST</a:t>
            </a:r>
          </a:p>
          <a:p>
            <a:r>
              <a:rPr lang="en-US" sz="1750" dirty="0"/>
              <a:t>library(</a:t>
            </a:r>
            <a:r>
              <a:rPr lang="en-US" sz="1750" dirty="0" err="1"/>
              <a:t>vcfR</a:t>
            </a:r>
            <a:r>
              <a:rPr lang="en-US" sz="1750" dirty="0"/>
              <a:t>)</a:t>
            </a:r>
          </a:p>
          <a:p>
            <a:r>
              <a:rPr lang="en-US" sz="1750" dirty="0"/>
              <a:t>library(</a:t>
            </a:r>
            <a:r>
              <a:rPr lang="en-US" sz="1750" dirty="0" err="1"/>
              <a:t>adegenet</a:t>
            </a:r>
            <a:r>
              <a:rPr lang="en-US" sz="1750" dirty="0"/>
              <a:t>)</a:t>
            </a:r>
          </a:p>
          <a:p>
            <a:r>
              <a:rPr lang="en-US" sz="1750" dirty="0"/>
              <a:t>library(</a:t>
            </a:r>
            <a:r>
              <a:rPr lang="en-US" sz="1750" dirty="0" err="1"/>
              <a:t>StAMPP</a:t>
            </a:r>
            <a:r>
              <a:rPr lang="en-US" sz="1750" dirty="0"/>
              <a:t>)</a:t>
            </a:r>
          </a:p>
          <a:p>
            <a:r>
              <a:rPr lang="en-US" sz="1750" dirty="0"/>
              <a:t>library(reshape)</a:t>
            </a:r>
          </a:p>
          <a:p>
            <a:endParaRPr lang="en-US" sz="1750" dirty="0"/>
          </a:p>
          <a:p>
            <a:r>
              <a:rPr lang="en-US" sz="1750" dirty="0"/>
              <a:t># read in VCF</a:t>
            </a:r>
          </a:p>
          <a:p>
            <a:r>
              <a:rPr lang="en-US" sz="1750" dirty="0" err="1"/>
              <a:t>ingroup_vcf</a:t>
            </a:r>
            <a:r>
              <a:rPr lang="en-US" sz="1750" dirty="0"/>
              <a:t> &lt;- </a:t>
            </a:r>
            <a:r>
              <a:rPr lang="en-US" sz="1750" dirty="0" err="1"/>
              <a:t>read.vcfR</a:t>
            </a:r>
            <a:r>
              <a:rPr lang="en-US" sz="1750" dirty="0"/>
              <a:t>("output/pachycephala_ingroup_75_thinned.vcf")</a:t>
            </a:r>
          </a:p>
          <a:p>
            <a:endParaRPr lang="en-US" sz="1750" dirty="0"/>
          </a:p>
          <a:p>
            <a:r>
              <a:rPr lang="en-US" sz="1750" dirty="0"/>
              <a:t># read in sample table</a:t>
            </a:r>
          </a:p>
          <a:p>
            <a:r>
              <a:rPr lang="en-US" sz="1750" dirty="0"/>
              <a:t>samples &lt;- filter(read.csv("sample_table_pachycephala.csv", </a:t>
            </a:r>
            <a:r>
              <a:rPr lang="en-US" sz="1750" dirty="0" err="1"/>
              <a:t>sep</a:t>
            </a:r>
            <a:r>
              <a:rPr lang="en-US" sz="1750" dirty="0"/>
              <a:t>, Island!="Outgroup") # remove outgroup</a:t>
            </a:r>
          </a:p>
          <a:p>
            <a:endParaRPr lang="en-US" sz="1750" dirty="0"/>
          </a:p>
          <a:p>
            <a:r>
              <a:rPr lang="en-US" sz="1750" dirty="0"/>
              <a:t># make </a:t>
            </a:r>
            <a:r>
              <a:rPr lang="en-US" sz="1750" dirty="0" err="1"/>
              <a:t>genlight</a:t>
            </a:r>
            <a:r>
              <a:rPr lang="en-US" sz="1750" dirty="0"/>
              <a:t> and set population like PCA</a:t>
            </a:r>
          </a:p>
          <a:p>
            <a:r>
              <a:rPr lang="en-US" sz="1750" dirty="0" err="1"/>
              <a:t>ingroup_genlight</a:t>
            </a:r>
            <a:r>
              <a:rPr lang="en-US" sz="1750" dirty="0"/>
              <a:t> &lt;- vcfR2genlight(</a:t>
            </a:r>
            <a:r>
              <a:rPr lang="en-US" sz="1750" dirty="0" err="1"/>
              <a:t>ingroup_vcf</a:t>
            </a:r>
            <a:r>
              <a:rPr lang="en-US" sz="1750" dirty="0"/>
              <a:t>)</a:t>
            </a:r>
          </a:p>
          <a:p>
            <a:r>
              <a:rPr lang="en-US" sz="1750" dirty="0" err="1"/>
              <a:t>ingroup_genlight@pop</a:t>
            </a:r>
            <a:r>
              <a:rPr lang="en-US" sz="1750" dirty="0"/>
              <a:t> &lt;- </a:t>
            </a:r>
            <a:r>
              <a:rPr lang="en-US" sz="1750" dirty="0" err="1"/>
              <a:t>as.factor</a:t>
            </a:r>
            <a:r>
              <a:rPr lang="en-US" sz="1750" dirty="0"/>
              <a:t>(</a:t>
            </a:r>
            <a:r>
              <a:rPr lang="en-US" sz="1750" dirty="0" err="1"/>
              <a:t>samples$Island</a:t>
            </a:r>
            <a:r>
              <a:rPr lang="en-US" sz="1750" dirty="0"/>
              <a:t>)</a:t>
            </a:r>
          </a:p>
          <a:p>
            <a:endParaRPr lang="en-US" sz="1750" dirty="0"/>
          </a:p>
          <a:p>
            <a:r>
              <a:rPr lang="en-US" sz="1750" dirty="0"/>
              <a:t># calculate FST</a:t>
            </a:r>
          </a:p>
          <a:p>
            <a:r>
              <a:rPr lang="en-US" sz="1750" dirty="0" err="1"/>
              <a:t>pairwise_fst</a:t>
            </a:r>
            <a:r>
              <a:rPr lang="en-US" sz="1750" dirty="0"/>
              <a:t> &lt;- </a:t>
            </a:r>
            <a:r>
              <a:rPr lang="en-US" sz="1750" dirty="0" err="1"/>
              <a:t>stamppFst</a:t>
            </a:r>
            <a:r>
              <a:rPr lang="en-US" sz="1750" dirty="0"/>
              <a:t>(</a:t>
            </a:r>
            <a:r>
              <a:rPr lang="en-US" sz="1750" dirty="0" err="1"/>
              <a:t>ingroup_genlight</a:t>
            </a:r>
            <a:r>
              <a:rPr lang="en-US" sz="1750" dirty="0"/>
              <a:t>)</a:t>
            </a:r>
          </a:p>
          <a:p>
            <a:endParaRPr lang="en-US" sz="1750" dirty="0"/>
          </a:p>
          <a:p>
            <a:r>
              <a:rPr lang="en-US" sz="1750" dirty="0"/>
              <a:t># convert to matrix, fill in both columns</a:t>
            </a:r>
          </a:p>
          <a:p>
            <a:r>
              <a:rPr lang="en-US" sz="1750" dirty="0" err="1"/>
              <a:t>fst_matrix</a:t>
            </a:r>
            <a:r>
              <a:rPr lang="en-US" sz="1750" dirty="0"/>
              <a:t> &lt;- </a:t>
            </a:r>
            <a:r>
              <a:rPr lang="en-US" sz="1750" dirty="0" err="1"/>
              <a:t>pairwise_fst$Fsts</a:t>
            </a:r>
            <a:endParaRPr lang="en-US" sz="1750" dirty="0"/>
          </a:p>
          <a:p>
            <a:r>
              <a:rPr lang="en-US" sz="1750" dirty="0" err="1"/>
              <a:t>fst_matrix</a:t>
            </a:r>
            <a:r>
              <a:rPr lang="en-US" sz="1750" dirty="0"/>
              <a:t>[</a:t>
            </a:r>
            <a:r>
              <a:rPr lang="en-US" sz="1750" dirty="0" err="1"/>
              <a:t>upper.tri</a:t>
            </a:r>
            <a:r>
              <a:rPr lang="en-US" sz="1750" dirty="0"/>
              <a:t>(</a:t>
            </a:r>
            <a:r>
              <a:rPr lang="en-US" sz="1750" dirty="0" err="1"/>
              <a:t>fst_matrix</a:t>
            </a:r>
            <a:r>
              <a:rPr lang="en-US" sz="1750" dirty="0"/>
              <a:t>)] &lt;- t(</a:t>
            </a:r>
            <a:r>
              <a:rPr lang="en-US" sz="1750" dirty="0" err="1"/>
              <a:t>fst_matrix</a:t>
            </a:r>
            <a:r>
              <a:rPr lang="en-US" sz="1750" dirty="0"/>
              <a:t>)[</a:t>
            </a:r>
            <a:r>
              <a:rPr lang="en-US" sz="1750" dirty="0" err="1"/>
              <a:t>upper.tri</a:t>
            </a:r>
            <a:r>
              <a:rPr lang="en-US" sz="1750" dirty="0"/>
              <a:t>(</a:t>
            </a:r>
            <a:r>
              <a:rPr lang="en-US" sz="1750" dirty="0" err="1"/>
              <a:t>fst_matrix</a:t>
            </a:r>
            <a:r>
              <a:rPr lang="en-US" sz="1750" dirty="0"/>
              <a:t>)]</a:t>
            </a:r>
          </a:p>
          <a:p>
            <a:endParaRPr lang="en-US" sz="1750" dirty="0"/>
          </a:p>
          <a:p>
            <a:r>
              <a:rPr lang="en-US" sz="1750" dirty="0"/>
              <a:t># melt to make proper heatmap input</a:t>
            </a:r>
          </a:p>
          <a:p>
            <a:r>
              <a:rPr lang="en-US" sz="1750" dirty="0" err="1"/>
              <a:t>heat_input</a:t>
            </a:r>
            <a:r>
              <a:rPr lang="en-US" sz="1750" dirty="0"/>
              <a:t> &lt;- reshape::melt(</a:t>
            </a:r>
            <a:r>
              <a:rPr lang="en-US" sz="1750" dirty="0" err="1"/>
              <a:t>fst_matrix</a:t>
            </a:r>
            <a:r>
              <a:rPr lang="en-US" sz="17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79042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B9E31-9CA1-28E3-F075-8A5388061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D3C77-8957-3953-6CDA-6DAB80FD8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008"/>
            <a:ext cx="10515600" cy="1325563"/>
          </a:xfrm>
        </p:spPr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Plotting and </a:t>
            </a:r>
            <a:b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interpreting F</a:t>
            </a:r>
            <a:r>
              <a:rPr lang="en-US" baseline="-25000" dirty="0">
                <a:latin typeface="Aharoni" panose="02010803020104030203" pitchFamily="2" charset="-79"/>
                <a:cs typeface="Aharoni" panose="02010803020104030203" pitchFamily="2" charset="-79"/>
              </a:rPr>
              <a:t>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C14D46-ADAF-B950-E748-DAB854C912C3}"/>
              </a:ext>
            </a:extLst>
          </p:cNvPr>
          <p:cNvSpPr txBox="1"/>
          <p:nvPr/>
        </p:nvSpPr>
        <p:spPr>
          <a:xfrm>
            <a:off x="5319132" y="324143"/>
            <a:ext cx="687286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# plot with </a:t>
            </a:r>
            <a:r>
              <a:rPr lang="en-US" sz="1600" dirty="0" err="1"/>
              <a:t>ggplot</a:t>
            </a:r>
            <a:endParaRPr lang="en-US" sz="1600" dirty="0"/>
          </a:p>
          <a:p>
            <a:r>
              <a:rPr lang="en-US" sz="1600" dirty="0" err="1"/>
              <a:t>ggplot</a:t>
            </a:r>
            <a:r>
              <a:rPr lang="en-US" sz="1600" dirty="0"/>
              <a:t>(data = </a:t>
            </a:r>
            <a:r>
              <a:rPr lang="en-US" sz="1600" dirty="0" err="1"/>
              <a:t>heat_input</a:t>
            </a:r>
            <a:r>
              <a:rPr lang="en-US" sz="1600" dirty="0"/>
              <a:t>, </a:t>
            </a:r>
            <a:r>
              <a:rPr lang="en-US" sz="1600" dirty="0" err="1"/>
              <a:t>aes</a:t>
            </a:r>
            <a:r>
              <a:rPr lang="en-US" sz="1600" dirty="0"/>
              <a:t>(x=X1, y=X2, fill=value)) + 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geom_tile</a:t>
            </a:r>
            <a:r>
              <a:rPr lang="en-US" sz="1600" dirty="0"/>
              <a:t>() + # tile plot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geom_text</a:t>
            </a:r>
            <a:r>
              <a:rPr lang="en-US" sz="1600" dirty="0"/>
              <a:t>(data=</a:t>
            </a:r>
            <a:r>
              <a:rPr lang="en-US" sz="1600" dirty="0" err="1"/>
              <a:t>heat_input,aes</a:t>
            </a:r>
            <a:r>
              <a:rPr lang="en-US" sz="1600" dirty="0"/>
              <a:t>(label=round(value, 2))) + # add values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theme_minimal</a:t>
            </a:r>
            <a:r>
              <a:rPr lang="en-US" sz="1600" dirty="0"/>
              <a:t>() + # remove labels</a:t>
            </a:r>
          </a:p>
          <a:p>
            <a:r>
              <a:rPr lang="en-US" sz="1600" dirty="0"/>
              <a:t>  scale_fill_gradient2(low = "white", high = "red", space = "Lab", name="</a:t>
            </a:r>
            <a:r>
              <a:rPr lang="en-US" sz="1600" dirty="0" err="1"/>
              <a:t>Fst</a:t>
            </a:r>
            <a:r>
              <a:rPr lang="en-US" sz="1600" dirty="0"/>
              <a:t>") +</a:t>
            </a:r>
          </a:p>
          <a:p>
            <a:r>
              <a:rPr lang="en-US" sz="1600" dirty="0"/>
              <a:t>  theme(</a:t>
            </a:r>
            <a:r>
              <a:rPr lang="en-US" sz="1600" dirty="0" err="1"/>
              <a:t>axis.text.x</a:t>
            </a:r>
            <a:r>
              <a:rPr lang="en-US" sz="1600" dirty="0"/>
              <a:t> = </a:t>
            </a:r>
            <a:r>
              <a:rPr lang="en-US" sz="1600" dirty="0" err="1"/>
              <a:t>element_text</a:t>
            </a:r>
            <a:r>
              <a:rPr lang="en-US" sz="1600" dirty="0"/>
              <a:t>(angle = 45, </a:t>
            </a:r>
            <a:r>
              <a:rPr lang="en-US" sz="1600" dirty="0" err="1"/>
              <a:t>hjust</a:t>
            </a:r>
            <a:r>
              <a:rPr lang="en-US" sz="1600" dirty="0"/>
              <a:t> = 1), # axis labels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axis.text.y</a:t>
            </a:r>
            <a:r>
              <a:rPr lang="en-US" sz="1600" dirty="0"/>
              <a:t> = </a:t>
            </a:r>
            <a:r>
              <a:rPr lang="en-US" sz="1600" dirty="0" err="1"/>
              <a:t>element_text</a:t>
            </a:r>
            <a:r>
              <a:rPr lang="en-US" sz="1600" dirty="0"/>
              <a:t>(angle = 45, </a:t>
            </a:r>
            <a:r>
              <a:rPr lang="en-US" sz="1600" dirty="0" err="1"/>
              <a:t>hjust</a:t>
            </a:r>
            <a:r>
              <a:rPr lang="en-US" sz="1600" dirty="0"/>
              <a:t> = 1))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08E9BC-EB3A-20E6-F20C-F68C98C12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7410" cy="429639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F</a:t>
            </a:r>
            <a:r>
              <a:rPr lang="en-US" sz="2400" baseline="-25000" dirty="0">
                <a:latin typeface="Abadi" panose="020B0604020104020204" pitchFamily="34" charset="0"/>
              </a:rPr>
              <a:t>ST</a:t>
            </a:r>
            <a:r>
              <a:rPr lang="en-US" sz="2400" dirty="0">
                <a:latin typeface="Abadi" panose="020B0604020104020204" pitchFamily="34" charset="0"/>
              </a:rPr>
              <a:t> is very powerful, but several caveats</a:t>
            </a:r>
          </a:p>
          <a:p>
            <a:r>
              <a:rPr lang="en-US" sz="2400" dirty="0">
                <a:latin typeface="Abadi" panose="020B0604020104020204" pitchFamily="34" charset="0"/>
              </a:rPr>
              <a:t>Takes longer to increase in larger, more diverse populations</a:t>
            </a:r>
          </a:p>
          <a:p>
            <a:r>
              <a:rPr lang="en-US" sz="2400" dirty="0">
                <a:latin typeface="Abadi" panose="020B0604020104020204" pitchFamily="34" charset="0"/>
              </a:rPr>
              <a:t>Can help you determine an </a:t>
            </a:r>
            <a:r>
              <a:rPr lang="en-US" sz="2400" b="1" dirty="0">
                <a:latin typeface="Abadi" panose="020B0604020104020204" pitchFamily="34" charset="0"/>
              </a:rPr>
              <a:t>UPPER BOUND </a:t>
            </a:r>
            <a:r>
              <a:rPr lang="en-US" sz="2400" dirty="0">
                <a:latin typeface="Abadi" panose="020B0604020104020204" pitchFamily="34" charset="0"/>
              </a:rPr>
              <a:t>on number of effective migrants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E115C5-577F-DE58-1834-D6F34BFB9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647" y="2780947"/>
            <a:ext cx="6843353" cy="4077053"/>
          </a:xfrm>
          <a:prstGeom prst="rect">
            <a:avLst/>
          </a:prstGeom>
        </p:spPr>
      </p:pic>
      <p:pic>
        <p:nvPicPr>
          <p:cNvPr id="13" name="Picture 12" descr="NS 04-05">
            <a:extLst>
              <a:ext uri="{FF2B5EF4-FFF2-40B4-BE49-F238E27FC236}">
                <a16:creationId xmlns:a16="http://schemas.microsoft.com/office/drawing/2014/main" id="{AC71DD9A-B387-CFB2-30A9-AAD5C06D4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649"/>
          <a:stretch>
            <a:fillRect/>
          </a:stretch>
        </p:blipFill>
        <p:spPr>
          <a:xfrm>
            <a:off x="1580573" y="4583150"/>
            <a:ext cx="2464679" cy="227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22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E956D-B085-D969-AA36-92987E61F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84EB245-D2DB-3065-FA86-053908E4E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54" y="32867"/>
            <a:ext cx="11456020" cy="682513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070842-3AFA-A1B2-310B-54085B5A3F05}"/>
              </a:ext>
            </a:extLst>
          </p:cNvPr>
          <p:cNvSpPr/>
          <p:nvPr/>
        </p:nvSpPr>
        <p:spPr>
          <a:xfrm>
            <a:off x="1784196" y="2497873"/>
            <a:ext cx="8976730" cy="68022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D17F46-FFFD-FCF7-3FA9-BDCA98AD627A}"/>
              </a:ext>
            </a:extLst>
          </p:cNvPr>
          <p:cNvSpPr txBox="1"/>
          <p:nvPr/>
        </p:nvSpPr>
        <p:spPr>
          <a:xfrm>
            <a:off x="-95151" y="3105834"/>
            <a:ext cx="161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Rabi relatively </a:t>
            </a:r>
          </a:p>
          <a:p>
            <a:r>
              <a:rPr lang="en-US" dirty="0"/>
              <a:t>small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FCB213-F77C-1016-CDCC-7490FE2871C1}"/>
              </a:ext>
            </a:extLst>
          </p:cNvPr>
          <p:cNvSpPr/>
          <p:nvPr/>
        </p:nvSpPr>
        <p:spPr>
          <a:xfrm>
            <a:off x="1784196" y="1318294"/>
            <a:ext cx="8976730" cy="680225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1D7ED4-062F-D000-DB74-763E4B300FEA}"/>
              </a:ext>
            </a:extLst>
          </p:cNvPr>
          <p:cNvSpPr txBox="1"/>
          <p:nvPr/>
        </p:nvSpPr>
        <p:spPr>
          <a:xfrm>
            <a:off x="111668" y="1536854"/>
            <a:ext cx="12060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Ovalau</a:t>
            </a:r>
            <a:endParaRPr lang="en-US" dirty="0"/>
          </a:p>
          <a:p>
            <a:r>
              <a:rPr lang="en-US" dirty="0"/>
              <a:t>admixed </a:t>
            </a:r>
          </a:p>
          <a:p>
            <a:r>
              <a:rPr lang="en-US" dirty="0"/>
              <a:t>with ghost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018241-4820-CD97-60C1-7670B1DCC6F2}"/>
              </a:ext>
            </a:extLst>
          </p:cNvPr>
          <p:cNvSpPr/>
          <p:nvPr/>
        </p:nvSpPr>
        <p:spPr>
          <a:xfrm>
            <a:off x="1784196" y="635620"/>
            <a:ext cx="8976731" cy="680225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D54B8E-F776-BD65-33DC-3F671755909C}"/>
              </a:ext>
            </a:extLst>
          </p:cNvPr>
          <p:cNvSpPr txBox="1"/>
          <p:nvPr/>
        </p:nvSpPr>
        <p:spPr>
          <a:xfrm>
            <a:off x="15167" y="392515"/>
            <a:ext cx="13990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Likely &lt;&lt;0.5 </a:t>
            </a:r>
          </a:p>
          <a:p>
            <a:r>
              <a:rPr lang="en-US" dirty="0" err="1"/>
              <a:t>mig</a:t>
            </a:r>
            <a:r>
              <a:rPr lang="en-US" dirty="0"/>
              <a:t>/gen</a:t>
            </a:r>
          </a:p>
          <a:p>
            <a:r>
              <a:rPr lang="en-US" dirty="0"/>
              <a:t> to Kadavu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4B82716-580D-03A9-0B92-BC84E187549E}"/>
              </a:ext>
            </a:extLst>
          </p:cNvPr>
          <p:cNvSpPr/>
          <p:nvPr/>
        </p:nvSpPr>
        <p:spPr>
          <a:xfrm>
            <a:off x="1784196" y="4886014"/>
            <a:ext cx="8976730" cy="680225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A193D6-2A5D-C7A5-EF31-425C8F13D8FE}"/>
              </a:ext>
            </a:extLst>
          </p:cNvPr>
          <p:cNvSpPr txBox="1"/>
          <p:nvPr/>
        </p:nvSpPr>
        <p:spPr>
          <a:xfrm>
            <a:off x="-68611" y="4886014"/>
            <a:ext cx="10201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Viti </a:t>
            </a:r>
            <a:r>
              <a:rPr lang="en-US" dirty="0" err="1"/>
              <a:t>Levu</a:t>
            </a:r>
            <a:endParaRPr lang="en-US" dirty="0"/>
          </a:p>
          <a:p>
            <a:r>
              <a:rPr lang="en-US" dirty="0"/>
              <a:t>founder</a:t>
            </a:r>
          </a:p>
          <a:p>
            <a:r>
              <a:rPr lang="en-US" dirty="0"/>
              <a:t>effect</a:t>
            </a:r>
          </a:p>
        </p:txBody>
      </p:sp>
    </p:spTree>
    <p:extLst>
      <p:ext uri="{BB962C8B-B14F-4D97-AF65-F5344CB8AC3E}">
        <p14:creationId xmlns:p14="http://schemas.microsoft.com/office/powerpoint/2010/main" val="355252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/>
      <p:bldP spid="30" grpId="0" animBg="1"/>
      <p:bldP spid="34" grpId="0"/>
      <p:bldP spid="36" grpId="0" animBg="1"/>
      <p:bldP spid="40" grpId="0"/>
      <p:bldP spid="42" grpId="0" animBg="1"/>
      <p:bldP spid="4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4992</TotalTime>
  <Words>1117</Words>
  <Application>Microsoft Office PowerPoint</Application>
  <PresentationFormat>Widescreen</PresentationFormat>
  <Paragraphs>156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Abadi</vt:lpstr>
      <vt:lpstr>Aharoni</vt:lpstr>
      <vt:lpstr>Aptos</vt:lpstr>
      <vt:lpstr>Aptos Display</vt:lpstr>
      <vt:lpstr>Arial</vt:lpstr>
      <vt:lpstr>Avenir Next LT Pro Demi</vt:lpstr>
      <vt:lpstr>Grandview</vt:lpstr>
      <vt:lpstr>Office Theme</vt:lpstr>
      <vt:lpstr>Summary Statistics</vt:lpstr>
      <vt:lpstr>Summary statistics</vt:lpstr>
      <vt:lpstr>Diversity statistics</vt:lpstr>
      <vt:lpstr>Diversity statistics</vt:lpstr>
      <vt:lpstr>Diversity statistics</vt:lpstr>
      <vt:lpstr>Diversity statistics</vt:lpstr>
      <vt:lpstr>PowerPoint Presentation</vt:lpstr>
      <vt:lpstr>Correlation plot</vt:lpstr>
      <vt:lpstr>Correlation plot</vt:lpstr>
      <vt:lpstr>Correlation plot</vt:lpstr>
      <vt:lpstr>Island size vs diversity</vt:lpstr>
      <vt:lpstr>Looking closer</vt:lpstr>
      <vt:lpstr>Intermission: simulations</vt:lpstr>
      <vt:lpstr>Simulation study: What makes an island size-diversity relationship</vt:lpstr>
      <vt:lpstr>Simulation study: recent dispersal key for strength of relationship</vt:lpstr>
      <vt:lpstr>Simulation study: recent dispersal key for strength of relationship</vt:lpstr>
      <vt:lpstr>Quantifying divergence with FST</vt:lpstr>
      <vt:lpstr>PowerPoint Presentation</vt:lpstr>
      <vt:lpstr>Plotting and  interpreting FST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Gyllenhaal</dc:creator>
  <cp:lastModifiedBy>Ethan Gyllenhaal</cp:lastModifiedBy>
  <cp:revision>870</cp:revision>
  <dcterms:created xsi:type="dcterms:W3CDTF">2026-07-08T01:44:49Z</dcterms:created>
  <dcterms:modified xsi:type="dcterms:W3CDTF">2026-07-22T02:38:26Z</dcterms:modified>
</cp:coreProperties>
</file>