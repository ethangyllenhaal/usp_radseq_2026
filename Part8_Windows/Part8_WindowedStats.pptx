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6" r:id="rId4"/>
    <p:sldId id="267" r:id="rId5"/>
    <p:sldId id="270" r:id="rId6"/>
    <p:sldId id="269" r:id="rId7"/>
    <p:sldId id="271" r:id="rId8"/>
    <p:sldId id="273" r:id="rId9"/>
    <p:sldId id="272" r:id="rId10"/>
    <p:sldId id="274" r:id="rId11"/>
    <p:sldId id="275"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4183" autoAdjust="0"/>
  </p:normalViewPr>
  <p:slideViewPr>
    <p:cSldViewPr snapToGrid="0">
      <p:cViewPr varScale="1">
        <p:scale>
          <a:sx n="69" d="100"/>
          <a:sy n="69" d="100"/>
        </p:scale>
        <p:origin x="12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EDAD82-4A91-4FCD-8377-229631DED7F6}"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BBE17A-011E-42C8-B886-9AAF15091A83}" type="slidenum">
              <a:rPr lang="en-US" smtClean="0"/>
              <a:t>‹#›</a:t>
            </a:fld>
            <a:endParaRPr lang="en-US"/>
          </a:p>
        </p:txBody>
      </p:sp>
    </p:spTree>
    <p:extLst>
      <p:ext uri="{BB962C8B-B14F-4D97-AF65-F5344CB8AC3E}">
        <p14:creationId xmlns:p14="http://schemas.microsoft.com/office/powerpoint/2010/main" val="2995966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03C9C-2ED6-07E2-5187-63CCB8E968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1D277A-038B-673F-4627-ADF83DE4C0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642BEB-104C-39ED-7273-6BDF73559F7D}"/>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5" name="Footer Placeholder 4">
            <a:extLst>
              <a:ext uri="{FF2B5EF4-FFF2-40B4-BE49-F238E27FC236}">
                <a16:creationId xmlns:a16="http://schemas.microsoft.com/office/drawing/2014/main" id="{FBAF42A1-DB42-5F71-7EDA-C82442E0D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23A78-E333-71CD-2D41-FCA8444F3211}"/>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319228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97225-767F-C323-5C43-E544A73C38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482BBC-A2A3-E886-0002-300022D493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ABD229-AF2F-0677-327E-8DAF0AE5F1CF}"/>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5" name="Footer Placeholder 4">
            <a:extLst>
              <a:ext uri="{FF2B5EF4-FFF2-40B4-BE49-F238E27FC236}">
                <a16:creationId xmlns:a16="http://schemas.microsoft.com/office/drawing/2014/main" id="{89189CE4-29FC-FC2B-3B3C-9F22D1AB70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30D58C-9177-8E3B-7CD7-CC6F2EB40AEC}"/>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337965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200DE-C7AC-CEE1-5C67-BAF1E4B3EC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A99492-F707-0AF1-90A2-0D010D1BFD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498528-6399-C1CC-1E0F-750B84AB49E4}"/>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5" name="Footer Placeholder 4">
            <a:extLst>
              <a:ext uri="{FF2B5EF4-FFF2-40B4-BE49-F238E27FC236}">
                <a16:creationId xmlns:a16="http://schemas.microsoft.com/office/drawing/2014/main" id="{16E49D72-0B87-711C-2F2B-F736FE0D67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5FE287-9188-0985-0DD5-FCBE672614FC}"/>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507478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78880-F7AB-A1AF-BA71-32BC25F003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BECC1-A04F-BE53-BAE3-287D478DD0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8F2504-8519-1D66-087A-D6410690B7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3E88D8-4C57-2D0B-FBE1-0C4D3A16F52B}"/>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6" name="Footer Placeholder 5">
            <a:extLst>
              <a:ext uri="{FF2B5EF4-FFF2-40B4-BE49-F238E27FC236}">
                <a16:creationId xmlns:a16="http://schemas.microsoft.com/office/drawing/2014/main" id="{79D8E72A-5DC1-BE0E-DD96-81577DFFEB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5A0AF2-98A4-2E7D-BC56-365F78FBEEF4}"/>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685689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68984-04BA-5449-9B81-A909A0FBCE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051707-BFD4-6B46-E020-7F1BE906BB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9B8FA0-FBD2-C0DC-57EF-56268657D6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BC8736-2EAD-0683-5FFF-93AD48D03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C52C8A-01FC-253F-1170-AC3F51B8CB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AA93B8-9E72-3054-6CCD-85CCB4139829}"/>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8" name="Footer Placeholder 7">
            <a:extLst>
              <a:ext uri="{FF2B5EF4-FFF2-40B4-BE49-F238E27FC236}">
                <a16:creationId xmlns:a16="http://schemas.microsoft.com/office/drawing/2014/main" id="{0079AFD3-5A50-72DC-3B44-B15257DF7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C6A861-2F50-63FB-41E4-20BCF707153F}"/>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1215093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DEE4F-DDD0-3508-D3FD-23721D711F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BCA520-90D2-5900-2CE8-8297A56E197F}"/>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4" name="Footer Placeholder 3">
            <a:extLst>
              <a:ext uri="{FF2B5EF4-FFF2-40B4-BE49-F238E27FC236}">
                <a16:creationId xmlns:a16="http://schemas.microsoft.com/office/drawing/2014/main" id="{E790712D-2C92-E280-8039-56B32AAFEF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E1E025-E056-74C6-D982-FADD49F6E512}"/>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3809149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700ADF-7189-4746-5A27-5534D9BC4BC0}"/>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3" name="Footer Placeholder 2">
            <a:extLst>
              <a:ext uri="{FF2B5EF4-FFF2-40B4-BE49-F238E27FC236}">
                <a16:creationId xmlns:a16="http://schemas.microsoft.com/office/drawing/2014/main" id="{333677B9-E138-21A2-28C3-23E66257A0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7513E7-BD02-0CC6-2312-A81C6CD18560}"/>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861756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24B5-B629-E352-2A5C-A65764C332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D223BE-33E6-0EEF-B15C-D85FFEA18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EB9F4E-9B72-2DFB-F832-4CCCE235C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5FD08E-23DC-D49B-6243-34BE241CEBD9}"/>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6" name="Footer Placeholder 5">
            <a:extLst>
              <a:ext uri="{FF2B5EF4-FFF2-40B4-BE49-F238E27FC236}">
                <a16:creationId xmlns:a16="http://schemas.microsoft.com/office/drawing/2014/main" id="{6AC684A2-5407-A704-920F-6B8B94194A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FACE16-2690-3C6D-FCA4-C3E7AA72402F}"/>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980896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8B66A-737B-CBDE-519F-387170E2AD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77FBC2-B41F-501A-708B-F32B24FA76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3E5A01-1E6C-775F-E6D0-D65B75A423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07599-0952-FB31-3856-C45A37800023}"/>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6" name="Footer Placeholder 5">
            <a:extLst>
              <a:ext uri="{FF2B5EF4-FFF2-40B4-BE49-F238E27FC236}">
                <a16:creationId xmlns:a16="http://schemas.microsoft.com/office/drawing/2014/main" id="{93112A0D-C317-E1A4-EABA-1FDF1F3802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8A2969-6900-ADA2-9316-D9A2945E1353}"/>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46466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86A61-148E-387F-5384-06C3FAA6B8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7D8F97-629D-244A-1A23-1DBABEDABC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9599E9-2437-4F8D-6202-FD0DBCD984A0}"/>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5" name="Footer Placeholder 4">
            <a:extLst>
              <a:ext uri="{FF2B5EF4-FFF2-40B4-BE49-F238E27FC236}">
                <a16:creationId xmlns:a16="http://schemas.microsoft.com/office/drawing/2014/main" id="{B34D7D28-26E7-CF93-4879-24F3238A90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3F103-F0C1-095C-A68F-81CD223A4E84}"/>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1852872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69002C-7B52-4611-B2BF-C1BF37DF3E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2D7E27-91D1-BD36-1CE2-232F9A1D00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7D49C-FBFA-8F27-ADE4-2B725E15148C}"/>
              </a:ext>
            </a:extLst>
          </p:cNvPr>
          <p:cNvSpPr>
            <a:spLocks noGrp="1"/>
          </p:cNvSpPr>
          <p:nvPr>
            <p:ph type="dt" sz="half" idx="10"/>
          </p:nvPr>
        </p:nvSpPr>
        <p:spPr/>
        <p:txBody>
          <a:bodyPr/>
          <a:lstStyle/>
          <a:p>
            <a:fld id="{5F8D886E-E654-4DF1-A3A6-2277A53517B0}" type="datetimeFigureOut">
              <a:rPr lang="en-US" smtClean="0"/>
              <a:t>7/22/2026</a:t>
            </a:fld>
            <a:endParaRPr lang="en-US"/>
          </a:p>
        </p:txBody>
      </p:sp>
      <p:sp>
        <p:nvSpPr>
          <p:cNvPr id="5" name="Footer Placeholder 4">
            <a:extLst>
              <a:ext uri="{FF2B5EF4-FFF2-40B4-BE49-F238E27FC236}">
                <a16:creationId xmlns:a16="http://schemas.microsoft.com/office/drawing/2014/main" id="{D4696545-C681-2F33-6F91-FF65A9C0A9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20622C-1851-4647-7DB2-1675CABF79E6}"/>
              </a:ext>
            </a:extLst>
          </p:cNvPr>
          <p:cNvSpPr>
            <a:spLocks noGrp="1"/>
          </p:cNvSpPr>
          <p:nvPr>
            <p:ph type="sldNum" sz="quarter" idx="12"/>
          </p:nvPr>
        </p:nvSpPr>
        <p:spPr/>
        <p:txBody>
          <a:bodyPr/>
          <a:lstStyle/>
          <a:p>
            <a:fld id="{E48C4012-88BB-4B98-8AE4-2BB8371F6952}" type="slidenum">
              <a:rPr lang="en-US" smtClean="0"/>
              <a:t>‹#›</a:t>
            </a:fld>
            <a:endParaRPr lang="en-US"/>
          </a:p>
        </p:txBody>
      </p:sp>
    </p:spTree>
    <p:extLst>
      <p:ext uri="{BB962C8B-B14F-4D97-AF65-F5344CB8AC3E}">
        <p14:creationId xmlns:p14="http://schemas.microsoft.com/office/powerpoint/2010/main" val="2390989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B45A00-E370-A361-4157-93A5BEA919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066534-883C-7F46-5FE7-D1017D4C54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DCD54F-879E-01CE-4AA2-15688F79AC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8D886E-E654-4DF1-A3A6-2277A53517B0}" type="datetimeFigureOut">
              <a:rPr lang="en-US" smtClean="0"/>
              <a:t>7/22/2026</a:t>
            </a:fld>
            <a:endParaRPr lang="en-US"/>
          </a:p>
        </p:txBody>
      </p:sp>
      <p:sp>
        <p:nvSpPr>
          <p:cNvPr id="5" name="Footer Placeholder 4">
            <a:extLst>
              <a:ext uri="{FF2B5EF4-FFF2-40B4-BE49-F238E27FC236}">
                <a16:creationId xmlns:a16="http://schemas.microsoft.com/office/drawing/2014/main" id="{09C1E8BD-15BC-B84B-9F33-6B985724EE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C1E012D-9AEF-ECEB-9F79-C10A55537F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C4012-88BB-4B98-8AE4-2BB8371F6952}" type="slidenum">
              <a:rPr lang="en-US" smtClean="0"/>
              <a:t>‹#›</a:t>
            </a:fld>
            <a:endParaRPr lang="en-US"/>
          </a:p>
        </p:txBody>
      </p:sp>
    </p:spTree>
    <p:extLst>
      <p:ext uri="{BB962C8B-B14F-4D97-AF65-F5344CB8AC3E}">
        <p14:creationId xmlns:p14="http://schemas.microsoft.com/office/powerpoint/2010/main" val="2186575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simonhmartin/twist" TargetMode="External"/><Relationship Id="rId2" Type="http://schemas.openxmlformats.org/officeDocument/2006/relationships/hyperlink" Target="https://pixy.readthedocs.io/en/latest/"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9B03F-C091-E144-388E-E639BA357483}"/>
              </a:ext>
            </a:extLst>
          </p:cNvPr>
          <p:cNvSpPr>
            <a:spLocks noGrp="1"/>
          </p:cNvSpPr>
          <p:nvPr>
            <p:ph type="ctrTitle"/>
          </p:nvPr>
        </p:nvSpPr>
        <p:spPr/>
        <p:txBody>
          <a:bodyPr>
            <a:normAutofit/>
          </a:bodyPr>
          <a:lstStyle/>
          <a:p>
            <a:r>
              <a:rPr lang="en-US" sz="7200" dirty="0">
                <a:latin typeface="Aharoni" panose="02010803020104030203" pitchFamily="2" charset="-79"/>
                <a:cs typeface="Aharoni" panose="02010803020104030203" pitchFamily="2" charset="-79"/>
              </a:rPr>
              <a:t>Windowed summary stats</a:t>
            </a:r>
          </a:p>
        </p:txBody>
      </p:sp>
      <p:sp>
        <p:nvSpPr>
          <p:cNvPr id="3" name="Subtitle 2">
            <a:extLst>
              <a:ext uri="{FF2B5EF4-FFF2-40B4-BE49-F238E27FC236}">
                <a16:creationId xmlns:a16="http://schemas.microsoft.com/office/drawing/2014/main" id="{7FBA0D4C-299D-E73D-F102-E7B2B50F1816}"/>
              </a:ext>
            </a:extLst>
          </p:cNvPr>
          <p:cNvSpPr>
            <a:spLocks noGrp="1"/>
          </p:cNvSpPr>
          <p:nvPr>
            <p:ph type="subTitle" idx="1"/>
          </p:nvPr>
        </p:nvSpPr>
        <p:spPr/>
        <p:txBody>
          <a:bodyPr/>
          <a:lstStyle/>
          <a:p>
            <a:r>
              <a:rPr lang="en-US" dirty="0">
                <a:latin typeface="Abadi" panose="020B0604020104020204" pitchFamily="34" charset="0"/>
              </a:rPr>
              <a:t>USP </a:t>
            </a:r>
            <a:r>
              <a:rPr lang="en-US" dirty="0" err="1">
                <a:latin typeface="Abadi" panose="020B0604020104020204" pitchFamily="34" charset="0"/>
              </a:rPr>
              <a:t>RADseq</a:t>
            </a:r>
            <a:r>
              <a:rPr lang="en-US" dirty="0">
                <a:latin typeface="Abadi" panose="020B0604020104020204" pitchFamily="34" charset="0"/>
              </a:rPr>
              <a:t> Workshop</a:t>
            </a:r>
          </a:p>
          <a:p>
            <a:r>
              <a:rPr lang="en-US" dirty="0">
                <a:latin typeface="Abadi" panose="020B0604020104020204" pitchFamily="34" charset="0"/>
              </a:rPr>
              <a:t>July 2026</a:t>
            </a:r>
          </a:p>
        </p:txBody>
      </p:sp>
    </p:spTree>
    <p:extLst>
      <p:ext uri="{BB962C8B-B14F-4D97-AF65-F5344CB8AC3E}">
        <p14:creationId xmlns:p14="http://schemas.microsoft.com/office/powerpoint/2010/main" val="1286170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C8C45-9FE0-D060-07DA-680C7A1B506E}"/>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Windowed analyses </a:t>
            </a:r>
          </a:p>
        </p:txBody>
      </p:sp>
      <p:sp>
        <p:nvSpPr>
          <p:cNvPr id="3" name="Content Placeholder 2">
            <a:extLst>
              <a:ext uri="{FF2B5EF4-FFF2-40B4-BE49-F238E27FC236}">
                <a16:creationId xmlns:a16="http://schemas.microsoft.com/office/drawing/2014/main" id="{12CB6EFC-6FD6-EEC0-89DC-56DD7A7E343C}"/>
              </a:ext>
            </a:extLst>
          </p:cNvPr>
          <p:cNvSpPr>
            <a:spLocks noGrp="1"/>
          </p:cNvSpPr>
          <p:nvPr>
            <p:ph idx="1"/>
          </p:nvPr>
        </p:nvSpPr>
        <p:spPr>
          <a:xfrm>
            <a:off x="838200" y="1446484"/>
            <a:ext cx="9800063" cy="1854277"/>
          </a:xfrm>
        </p:spPr>
        <p:txBody>
          <a:bodyPr>
            <a:normAutofit/>
          </a:bodyPr>
          <a:lstStyle/>
          <a:p>
            <a:r>
              <a:rPr lang="en-US" dirty="0">
                <a:latin typeface="Abadi" panose="020B0604020104020204" pitchFamily="34" charset="0"/>
              </a:rPr>
              <a:t>Everything we have looked at is heterogenous across the genome! We can use this to learn about what regions relate to differences in our populations AND use knowledge about genomic processes to understand the evolutionary history</a:t>
            </a:r>
          </a:p>
        </p:txBody>
      </p:sp>
      <p:pic>
        <p:nvPicPr>
          <p:cNvPr id="6" name="Picture 5">
            <a:extLst>
              <a:ext uri="{FF2B5EF4-FFF2-40B4-BE49-F238E27FC236}">
                <a16:creationId xmlns:a16="http://schemas.microsoft.com/office/drawing/2014/main" id="{B8F1A4CE-DFEF-95FF-E1DA-3961F6CE6BF3}"/>
              </a:ext>
            </a:extLst>
          </p:cNvPr>
          <p:cNvPicPr>
            <a:picLocks noChangeAspect="1"/>
          </p:cNvPicPr>
          <p:nvPr/>
        </p:nvPicPr>
        <p:blipFill>
          <a:blip r:embed="rId2"/>
          <a:stretch>
            <a:fillRect/>
          </a:stretch>
        </p:blipFill>
        <p:spPr>
          <a:xfrm>
            <a:off x="6411952" y="3083885"/>
            <a:ext cx="5285677" cy="3482328"/>
          </a:xfrm>
          <a:prstGeom prst="rect">
            <a:avLst/>
          </a:prstGeom>
        </p:spPr>
      </p:pic>
      <p:sp>
        <p:nvSpPr>
          <p:cNvPr id="8" name="TextBox 7">
            <a:extLst>
              <a:ext uri="{FF2B5EF4-FFF2-40B4-BE49-F238E27FC236}">
                <a16:creationId xmlns:a16="http://schemas.microsoft.com/office/drawing/2014/main" id="{2F9FDE7D-22F4-5EF9-1BD0-4A15402352E4}"/>
              </a:ext>
            </a:extLst>
          </p:cNvPr>
          <p:cNvSpPr txBox="1"/>
          <p:nvPr/>
        </p:nvSpPr>
        <p:spPr>
          <a:xfrm>
            <a:off x="6724188" y="6566213"/>
            <a:ext cx="5285676" cy="307777"/>
          </a:xfrm>
          <a:prstGeom prst="rect">
            <a:avLst/>
          </a:prstGeom>
          <a:noFill/>
        </p:spPr>
        <p:txBody>
          <a:bodyPr wrap="square">
            <a:spAutoFit/>
          </a:bodyPr>
          <a:lstStyle/>
          <a:p>
            <a:r>
              <a:rPr lang="en-US" sz="1400" b="0" i="0" dirty="0">
                <a:solidFill>
                  <a:srgbClr val="333333"/>
                </a:solidFill>
                <a:effectLst/>
                <a:latin typeface="GillSansRegular"/>
              </a:rPr>
              <a:t>Musher et al. 2026; https://doi.org/10.1101/2025.11.26.690533</a:t>
            </a:r>
            <a:endParaRPr lang="en-US" sz="2400" dirty="0"/>
          </a:p>
        </p:txBody>
      </p:sp>
      <p:sp>
        <p:nvSpPr>
          <p:cNvPr id="14" name="TextBox 13">
            <a:extLst>
              <a:ext uri="{FF2B5EF4-FFF2-40B4-BE49-F238E27FC236}">
                <a16:creationId xmlns:a16="http://schemas.microsoft.com/office/drawing/2014/main" id="{26A9601C-C99E-0E2F-E6F4-E5C6B38C7A16}"/>
              </a:ext>
            </a:extLst>
          </p:cNvPr>
          <p:cNvSpPr txBox="1"/>
          <p:nvPr/>
        </p:nvSpPr>
        <p:spPr>
          <a:xfrm>
            <a:off x="348012" y="6566213"/>
            <a:ext cx="5119801" cy="307777"/>
          </a:xfrm>
          <a:prstGeom prst="rect">
            <a:avLst/>
          </a:prstGeom>
          <a:noFill/>
        </p:spPr>
        <p:txBody>
          <a:bodyPr wrap="square">
            <a:spAutoFit/>
          </a:bodyPr>
          <a:lstStyle/>
          <a:p>
            <a:r>
              <a:rPr lang="en-US" sz="1400" dirty="0"/>
              <a:t>Rice et al. 2026 https://doi.org/10.1016/j.ympev.2026.108558</a:t>
            </a:r>
          </a:p>
        </p:txBody>
      </p:sp>
      <p:pic>
        <p:nvPicPr>
          <p:cNvPr id="16" name="Picture 15">
            <a:extLst>
              <a:ext uri="{FF2B5EF4-FFF2-40B4-BE49-F238E27FC236}">
                <a16:creationId xmlns:a16="http://schemas.microsoft.com/office/drawing/2014/main" id="{F1B8364B-DDF3-4D2D-24CE-43603143B853}"/>
              </a:ext>
            </a:extLst>
          </p:cNvPr>
          <p:cNvPicPr>
            <a:picLocks noChangeAspect="1"/>
          </p:cNvPicPr>
          <p:nvPr/>
        </p:nvPicPr>
        <p:blipFill>
          <a:blip r:embed="rId3"/>
          <a:stretch>
            <a:fillRect/>
          </a:stretch>
        </p:blipFill>
        <p:spPr>
          <a:xfrm>
            <a:off x="494371" y="3083885"/>
            <a:ext cx="4843341" cy="3385131"/>
          </a:xfrm>
          <a:prstGeom prst="rect">
            <a:avLst/>
          </a:prstGeom>
        </p:spPr>
      </p:pic>
    </p:spTree>
    <p:extLst>
      <p:ext uri="{BB962C8B-B14F-4D97-AF65-F5344CB8AC3E}">
        <p14:creationId xmlns:p14="http://schemas.microsoft.com/office/powerpoint/2010/main" val="273399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7739-D7EF-11D3-7ED1-A237CDA18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1EABE-A1BC-05C4-68E9-5DF0738A7FB8}"/>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Windowed analyses </a:t>
            </a:r>
          </a:p>
        </p:txBody>
      </p:sp>
      <p:sp>
        <p:nvSpPr>
          <p:cNvPr id="3" name="Content Placeholder 2">
            <a:extLst>
              <a:ext uri="{FF2B5EF4-FFF2-40B4-BE49-F238E27FC236}">
                <a16:creationId xmlns:a16="http://schemas.microsoft.com/office/drawing/2014/main" id="{7E076852-D617-7620-396B-A40600725A9D}"/>
              </a:ext>
            </a:extLst>
          </p:cNvPr>
          <p:cNvSpPr>
            <a:spLocks noGrp="1"/>
          </p:cNvSpPr>
          <p:nvPr>
            <p:ph idx="1"/>
          </p:nvPr>
        </p:nvSpPr>
        <p:spPr>
          <a:xfrm>
            <a:off x="838200" y="1446484"/>
            <a:ext cx="10870580" cy="4196033"/>
          </a:xfrm>
        </p:spPr>
        <p:txBody>
          <a:bodyPr>
            <a:normAutofit/>
          </a:bodyPr>
          <a:lstStyle/>
          <a:p>
            <a:r>
              <a:rPr lang="en-US" dirty="0">
                <a:latin typeface="Abadi" panose="020B0604020104020204" pitchFamily="34" charset="0"/>
              </a:rPr>
              <a:t>We will only focus on FST today, but I recommend looking at pixy for diversity statistics (</a:t>
            </a:r>
            <a:r>
              <a:rPr lang="en-US" dirty="0">
                <a:latin typeface="Abadi" panose="020B0604020104020204" pitchFamily="34" charset="0"/>
                <a:hlinkClick r:id="rId2"/>
              </a:rPr>
              <a:t>https://pixy.readthedocs.io/en/latest/</a:t>
            </a:r>
            <a:r>
              <a:rPr lang="en-US" dirty="0">
                <a:latin typeface="Abadi" panose="020B0604020104020204" pitchFamily="34" charset="0"/>
              </a:rPr>
              <a:t>) and TWISST for topological variation (</a:t>
            </a:r>
            <a:r>
              <a:rPr lang="en-US" dirty="0">
                <a:latin typeface="Abadi" panose="020B0604020104020204" pitchFamily="34" charset="0"/>
                <a:hlinkClick r:id="rId3"/>
              </a:rPr>
              <a:t>https://github.com/simonhmartin/twisst</a:t>
            </a:r>
            <a:r>
              <a:rPr lang="en-US" dirty="0">
                <a:latin typeface="Abadi" panose="020B0604020104020204" pitchFamily="34" charset="0"/>
              </a:rPr>
              <a:t>) </a:t>
            </a:r>
          </a:p>
          <a:p>
            <a:r>
              <a:rPr lang="en-US" dirty="0">
                <a:latin typeface="Abadi" panose="020B0604020104020204" pitchFamily="34" charset="0"/>
              </a:rPr>
              <a:t>We will choose two sets of individuals based on our other analyses</a:t>
            </a:r>
          </a:p>
          <a:p>
            <a:pPr lvl="1"/>
            <a:r>
              <a:rPr lang="en-US" dirty="0">
                <a:latin typeface="Abadi" panose="020B0604020104020204" pitchFamily="34" charset="0"/>
              </a:rPr>
              <a:t>Closely related ones have greater potential for jagged peaks</a:t>
            </a:r>
          </a:p>
          <a:p>
            <a:pPr lvl="1"/>
            <a:r>
              <a:rPr lang="en-US" dirty="0">
                <a:latin typeface="Abadi" panose="020B0604020104020204" pitchFamily="34" charset="0"/>
              </a:rPr>
              <a:t>Ones with phenotypic differences may help narrow down regions of interest (ask Ethan for tips)</a:t>
            </a:r>
          </a:p>
        </p:txBody>
      </p:sp>
      <p:pic>
        <p:nvPicPr>
          <p:cNvPr id="6" name="Picture 5">
            <a:extLst>
              <a:ext uri="{FF2B5EF4-FFF2-40B4-BE49-F238E27FC236}">
                <a16:creationId xmlns:a16="http://schemas.microsoft.com/office/drawing/2014/main" id="{0C8EF963-1B1A-033F-9904-BA5F624F0EFC}"/>
              </a:ext>
            </a:extLst>
          </p:cNvPr>
          <p:cNvPicPr>
            <a:picLocks noChangeAspect="1"/>
          </p:cNvPicPr>
          <p:nvPr/>
        </p:nvPicPr>
        <p:blipFill>
          <a:blip r:embed="rId4">
            <a:extLst>
              <a:ext uri="{28A0092B-C50C-407E-A947-70E740481C1C}">
                <a14:useLocalDpi xmlns:a14="http://schemas.microsoft.com/office/drawing/2010/main" val="0"/>
              </a:ext>
            </a:extLst>
          </a:blip>
          <a:srcRect l="49669" t="66674" r="-269"/>
          <a:stretch>
            <a:fillRect/>
          </a:stretch>
        </p:blipFill>
        <p:spPr>
          <a:xfrm>
            <a:off x="326173" y="4951142"/>
            <a:ext cx="5947317" cy="1660196"/>
          </a:xfrm>
          <a:prstGeom prst="rect">
            <a:avLst/>
          </a:prstGeom>
        </p:spPr>
      </p:pic>
      <p:pic>
        <p:nvPicPr>
          <p:cNvPr id="7" name="Picture 6">
            <a:extLst>
              <a:ext uri="{FF2B5EF4-FFF2-40B4-BE49-F238E27FC236}">
                <a16:creationId xmlns:a16="http://schemas.microsoft.com/office/drawing/2014/main" id="{8A7DA716-E32C-32FF-F2B7-2338E0D13B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2155" y="4038162"/>
            <a:ext cx="5276625" cy="2819837"/>
          </a:xfrm>
          <a:prstGeom prst="rect">
            <a:avLst/>
          </a:prstGeom>
        </p:spPr>
      </p:pic>
    </p:spTree>
    <p:extLst>
      <p:ext uri="{BB962C8B-B14F-4D97-AF65-F5344CB8AC3E}">
        <p14:creationId xmlns:p14="http://schemas.microsoft.com/office/powerpoint/2010/main" val="2957112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7B216-5F1C-C274-AEC6-462C984A8CBA}"/>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487E668-19BA-8E82-77C1-146CA5F12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672" y="384717"/>
            <a:ext cx="11854655" cy="6088566"/>
          </a:xfrm>
          <a:prstGeom prst="rect">
            <a:avLst/>
          </a:prstGeom>
        </p:spPr>
      </p:pic>
    </p:spTree>
    <p:extLst>
      <p:ext uri="{BB962C8B-B14F-4D97-AF65-F5344CB8AC3E}">
        <p14:creationId xmlns:p14="http://schemas.microsoft.com/office/powerpoint/2010/main" val="26451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F9388-0863-9749-30A3-072E5DAFE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F7390-1513-ABDF-61BF-6ED7EB1D59CF}"/>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Choosing populations to compare</a:t>
            </a:r>
          </a:p>
        </p:txBody>
      </p:sp>
      <p:sp>
        <p:nvSpPr>
          <p:cNvPr id="3" name="Content Placeholder 2">
            <a:extLst>
              <a:ext uri="{FF2B5EF4-FFF2-40B4-BE49-F238E27FC236}">
                <a16:creationId xmlns:a16="http://schemas.microsoft.com/office/drawing/2014/main" id="{08264FA8-CF1F-4683-C9F7-12513A911E5D}"/>
              </a:ext>
            </a:extLst>
          </p:cNvPr>
          <p:cNvSpPr>
            <a:spLocks noGrp="1"/>
          </p:cNvSpPr>
          <p:nvPr>
            <p:ph idx="1"/>
          </p:nvPr>
        </p:nvSpPr>
        <p:spPr>
          <a:xfrm>
            <a:off x="838200" y="1446484"/>
            <a:ext cx="10870580" cy="4196033"/>
          </a:xfrm>
        </p:spPr>
        <p:txBody>
          <a:bodyPr>
            <a:normAutofit/>
          </a:bodyPr>
          <a:lstStyle/>
          <a:p>
            <a:r>
              <a:rPr lang="en-US" dirty="0">
                <a:latin typeface="Abadi" panose="020B0604020104020204" pitchFamily="34" charset="0"/>
              </a:rPr>
              <a:t>Put the sample names for each set into a text file that includes a description of what makes that set unique (you can do multiple!)</a:t>
            </a:r>
          </a:p>
        </p:txBody>
      </p:sp>
      <p:pic>
        <p:nvPicPr>
          <p:cNvPr id="5" name="Picture 4">
            <a:extLst>
              <a:ext uri="{FF2B5EF4-FFF2-40B4-BE49-F238E27FC236}">
                <a16:creationId xmlns:a16="http://schemas.microsoft.com/office/drawing/2014/main" id="{9449AB2A-2CF1-CF0D-8081-BD58A6BB57C1}"/>
              </a:ext>
            </a:extLst>
          </p:cNvPr>
          <p:cNvPicPr>
            <a:picLocks noChangeAspect="1"/>
          </p:cNvPicPr>
          <p:nvPr/>
        </p:nvPicPr>
        <p:blipFill>
          <a:blip r:embed="rId2"/>
          <a:stretch>
            <a:fillRect/>
          </a:stretch>
        </p:blipFill>
        <p:spPr>
          <a:xfrm>
            <a:off x="1559320" y="2434038"/>
            <a:ext cx="4099915" cy="4153260"/>
          </a:xfrm>
          <a:prstGeom prst="rect">
            <a:avLst/>
          </a:prstGeom>
        </p:spPr>
      </p:pic>
      <p:cxnSp>
        <p:nvCxnSpPr>
          <p:cNvPr id="9" name="Straight Connector 8">
            <a:extLst>
              <a:ext uri="{FF2B5EF4-FFF2-40B4-BE49-F238E27FC236}">
                <a16:creationId xmlns:a16="http://schemas.microsoft.com/office/drawing/2014/main" id="{741A0F54-BBC5-CBFF-3570-B1BA8F9E56E1}"/>
              </a:ext>
            </a:extLst>
          </p:cNvPr>
          <p:cNvCxnSpPr/>
          <p:nvPr/>
        </p:nvCxnSpPr>
        <p:spPr>
          <a:xfrm>
            <a:off x="1460810" y="2631688"/>
            <a:ext cx="0" cy="2843561"/>
          </a:xfrm>
          <a:prstGeom prst="line">
            <a:avLst/>
          </a:prstGeom>
          <a:ln w="76200">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DA02C53-88A4-04D4-96DA-AAAFBB800173}"/>
              </a:ext>
            </a:extLst>
          </p:cNvPr>
          <p:cNvCxnSpPr>
            <a:cxnSpLocks/>
          </p:cNvCxnSpPr>
          <p:nvPr/>
        </p:nvCxnSpPr>
        <p:spPr>
          <a:xfrm>
            <a:off x="1460810" y="5586762"/>
            <a:ext cx="0" cy="747131"/>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96810696-99D1-BEDF-4052-39524E762FA3}"/>
              </a:ext>
            </a:extLst>
          </p:cNvPr>
          <p:cNvSpPr txBox="1"/>
          <p:nvPr/>
        </p:nvSpPr>
        <p:spPr>
          <a:xfrm>
            <a:off x="537139" y="4053468"/>
            <a:ext cx="825162" cy="369332"/>
          </a:xfrm>
          <a:prstGeom prst="rect">
            <a:avLst/>
          </a:prstGeom>
          <a:noFill/>
        </p:spPr>
        <p:txBody>
          <a:bodyPr wrap="none" rtlCol="0">
            <a:spAutoFit/>
          </a:bodyPr>
          <a:lstStyle/>
          <a:p>
            <a:r>
              <a:rPr lang="en-US" dirty="0"/>
              <a:t>Yellow</a:t>
            </a:r>
          </a:p>
        </p:txBody>
      </p:sp>
      <p:sp>
        <p:nvSpPr>
          <p:cNvPr id="13" name="TextBox 12">
            <a:extLst>
              <a:ext uri="{FF2B5EF4-FFF2-40B4-BE49-F238E27FC236}">
                <a16:creationId xmlns:a16="http://schemas.microsoft.com/office/drawing/2014/main" id="{6816BDE2-7331-DF44-A2E9-0AD587DEB7C6}"/>
              </a:ext>
            </a:extLst>
          </p:cNvPr>
          <p:cNvSpPr txBox="1"/>
          <p:nvPr/>
        </p:nvSpPr>
        <p:spPr>
          <a:xfrm>
            <a:off x="537139" y="5874486"/>
            <a:ext cx="767005" cy="369332"/>
          </a:xfrm>
          <a:prstGeom prst="rect">
            <a:avLst/>
          </a:prstGeom>
          <a:noFill/>
        </p:spPr>
        <p:txBody>
          <a:bodyPr wrap="none" rtlCol="0">
            <a:spAutoFit/>
          </a:bodyPr>
          <a:lstStyle/>
          <a:p>
            <a:r>
              <a:rPr lang="en-US" dirty="0"/>
              <a:t>White</a:t>
            </a:r>
          </a:p>
        </p:txBody>
      </p:sp>
      <p:cxnSp>
        <p:nvCxnSpPr>
          <p:cNvPr id="15" name="Straight Connector 14">
            <a:extLst>
              <a:ext uri="{FF2B5EF4-FFF2-40B4-BE49-F238E27FC236}">
                <a16:creationId xmlns:a16="http://schemas.microsoft.com/office/drawing/2014/main" id="{F8FC028C-A88E-D6AD-5FDF-DF64AE48CE90}"/>
              </a:ext>
            </a:extLst>
          </p:cNvPr>
          <p:cNvCxnSpPr>
            <a:cxnSpLocks/>
          </p:cNvCxnSpPr>
          <p:nvPr/>
        </p:nvCxnSpPr>
        <p:spPr>
          <a:xfrm>
            <a:off x="5665736" y="2631688"/>
            <a:ext cx="0" cy="379141"/>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DD32ACC-438D-9E68-0E90-7055651213D6}"/>
              </a:ext>
            </a:extLst>
          </p:cNvPr>
          <p:cNvCxnSpPr>
            <a:cxnSpLocks/>
          </p:cNvCxnSpPr>
          <p:nvPr/>
        </p:nvCxnSpPr>
        <p:spPr>
          <a:xfrm>
            <a:off x="5665736" y="5096108"/>
            <a:ext cx="0" cy="379141"/>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F4FB5D5-923C-AE49-18DE-56C981E5DEAA}"/>
              </a:ext>
            </a:extLst>
          </p:cNvPr>
          <p:cNvCxnSpPr>
            <a:cxnSpLocks/>
          </p:cNvCxnSpPr>
          <p:nvPr/>
        </p:nvCxnSpPr>
        <p:spPr>
          <a:xfrm>
            <a:off x="5665736" y="4337824"/>
            <a:ext cx="0" cy="665356"/>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3C9C46B-A1EC-1EC8-183A-1EF25C47A50A}"/>
              </a:ext>
            </a:extLst>
          </p:cNvPr>
          <p:cNvCxnSpPr>
            <a:cxnSpLocks/>
          </p:cNvCxnSpPr>
          <p:nvPr/>
        </p:nvCxnSpPr>
        <p:spPr>
          <a:xfrm>
            <a:off x="5665736" y="3096322"/>
            <a:ext cx="0" cy="665356"/>
          </a:xfrm>
          <a:prstGeom prst="line">
            <a:avLst/>
          </a:prstGeom>
          <a:ln w="76200">
            <a:solidFill>
              <a:schemeClr val="accent4"/>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484D1536-D6E8-9377-30E7-8E3B7E208AF9}"/>
              </a:ext>
            </a:extLst>
          </p:cNvPr>
          <p:cNvSpPr txBox="1"/>
          <p:nvPr/>
        </p:nvSpPr>
        <p:spPr>
          <a:xfrm>
            <a:off x="5757744" y="2641497"/>
            <a:ext cx="1688667" cy="369332"/>
          </a:xfrm>
          <a:prstGeom prst="rect">
            <a:avLst/>
          </a:prstGeom>
          <a:noFill/>
        </p:spPr>
        <p:txBody>
          <a:bodyPr wrap="none" rtlCol="0">
            <a:spAutoFit/>
          </a:bodyPr>
          <a:lstStyle/>
          <a:p>
            <a:r>
              <a:rPr lang="en-US" dirty="0"/>
              <a:t>Viti </a:t>
            </a:r>
            <a:r>
              <a:rPr lang="en-US" dirty="0" err="1"/>
              <a:t>Levu</a:t>
            </a:r>
            <a:r>
              <a:rPr lang="en-US" dirty="0"/>
              <a:t> Group</a:t>
            </a:r>
          </a:p>
        </p:txBody>
      </p:sp>
      <p:sp>
        <p:nvSpPr>
          <p:cNvPr id="22" name="TextBox 21">
            <a:extLst>
              <a:ext uri="{FF2B5EF4-FFF2-40B4-BE49-F238E27FC236}">
                <a16:creationId xmlns:a16="http://schemas.microsoft.com/office/drawing/2014/main" id="{383E272A-362D-F237-16F3-8A15647D4470}"/>
              </a:ext>
            </a:extLst>
          </p:cNvPr>
          <p:cNvSpPr txBox="1"/>
          <p:nvPr/>
        </p:nvSpPr>
        <p:spPr>
          <a:xfrm>
            <a:off x="5757744" y="3208732"/>
            <a:ext cx="1994200" cy="369332"/>
          </a:xfrm>
          <a:prstGeom prst="rect">
            <a:avLst/>
          </a:prstGeom>
          <a:noFill/>
        </p:spPr>
        <p:txBody>
          <a:bodyPr wrap="none" rtlCol="0">
            <a:spAutoFit/>
          </a:bodyPr>
          <a:lstStyle/>
          <a:p>
            <a:r>
              <a:rPr lang="en-US" dirty="0"/>
              <a:t>Vanua </a:t>
            </a:r>
            <a:r>
              <a:rPr lang="en-US" dirty="0" err="1"/>
              <a:t>Levu</a:t>
            </a:r>
            <a:r>
              <a:rPr lang="en-US" dirty="0"/>
              <a:t> Group</a:t>
            </a:r>
          </a:p>
        </p:txBody>
      </p:sp>
      <p:sp>
        <p:nvSpPr>
          <p:cNvPr id="23" name="TextBox 22">
            <a:extLst>
              <a:ext uri="{FF2B5EF4-FFF2-40B4-BE49-F238E27FC236}">
                <a16:creationId xmlns:a16="http://schemas.microsoft.com/office/drawing/2014/main" id="{72BC45B1-59D5-D834-2573-BC8E0245C5E1}"/>
              </a:ext>
            </a:extLst>
          </p:cNvPr>
          <p:cNvSpPr txBox="1"/>
          <p:nvPr/>
        </p:nvSpPr>
        <p:spPr>
          <a:xfrm>
            <a:off x="8053005" y="3208732"/>
            <a:ext cx="2546916" cy="1569660"/>
          </a:xfrm>
          <a:prstGeom prst="rect">
            <a:avLst/>
          </a:prstGeom>
          <a:noFill/>
        </p:spPr>
        <p:txBody>
          <a:bodyPr wrap="none" rtlCol="0">
            <a:spAutoFit/>
          </a:bodyPr>
          <a:lstStyle/>
          <a:p>
            <a:r>
              <a:rPr lang="en-US" sz="2400" dirty="0">
                <a:solidFill>
                  <a:schemeClr val="accent6"/>
                </a:solidFill>
              </a:rPr>
              <a:t>nano </a:t>
            </a:r>
            <a:r>
              <a:rPr lang="en-US" sz="2400" dirty="0" err="1">
                <a:solidFill>
                  <a:schemeClr val="accent6"/>
                </a:solidFill>
              </a:rPr>
              <a:t>keep_yellow</a:t>
            </a:r>
            <a:endParaRPr lang="en-US" sz="2400" dirty="0">
              <a:solidFill>
                <a:schemeClr val="accent6"/>
              </a:solidFill>
            </a:endParaRPr>
          </a:p>
          <a:p>
            <a:r>
              <a:rPr lang="en-US" sz="2400" dirty="0">
                <a:solidFill>
                  <a:schemeClr val="accent6"/>
                </a:solidFill>
              </a:rPr>
              <a:t>nano </a:t>
            </a:r>
            <a:r>
              <a:rPr lang="en-US" sz="2400" dirty="0" err="1">
                <a:solidFill>
                  <a:schemeClr val="accent6"/>
                </a:solidFill>
              </a:rPr>
              <a:t>keep_white</a:t>
            </a:r>
            <a:endParaRPr lang="en-US" sz="2400" dirty="0">
              <a:solidFill>
                <a:schemeClr val="accent6"/>
              </a:solidFill>
            </a:endParaRPr>
          </a:p>
          <a:p>
            <a:r>
              <a:rPr lang="en-US" sz="2400" dirty="0">
                <a:solidFill>
                  <a:schemeClr val="accent6"/>
                </a:solidFill>
              </a:rPr>
              <a:t>nano </a:t>
            </a:r>
            <a:r>
              <a:rPr lang="en-US" sz="2400" dirty="0" err="1">
                <a:solidFill>
                  <a:schemeClr val="accent6"/>
                </a:solidFill>
              </a:rPr>
              <a:t>keep_vanua</a:t>
            </a:r>
            <a:endParaRPr lang="en-US" sz="2400" dirty="0">
              <a:solidFill>
                <a:schemeClr val="accent6"/>
              </a:solidFill>
            </a:endParaRPr>
          </a:p>
          <a:p>
            <a:r>
              <a:rPr lang="en-US" sz="2400" dirty="0">
                <a:solidFill>
                  <a:schemeClr val="accent6"/>
                </a:solidFill>
              </a:rPr>
              <a:t>nano </a:t>
            </a:r>
            <a:r>
              <a:rPr lang="en-US" sz="2400" dirty="0" err="1">
                <a:solidFill>
                  <a:schemeClr val="accent6"/>
                </a:solidFill>
              </a:rPr>
              <a:t>keep_viti</a:t>
            </a:r>
            <a:endParaRPr lang="en-US" sz="2400" dirty="0">
              <a:solidFill>
                <a:schemeClr val="accent6"/>
              </a:solidFill>
            </a:endParaRPr>
          </a:p>
        </p:txBody>
      </p:sp>
    </p:spTree>
    <p:extLst>
      <p:ext uri="{BB962C8B-B14F-4D97-AF65-F5344CB8AC3E}">
        <p14:creationId xmlns:p14="http://schemas.microsoft.com/office/powerpoint/2010/main" val="6623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DB1B5-1141-4095-C4EB-4A4A51BF6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98921-FC47-5A9F-E0C2-FA12F6F726EC}"/>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Making new input</a:t>
            </a:r>
          </a:p>
        </p:txBody>
      </p:sp>
      <p:sp>
        <p:nvSpPr>
          <p:cNvPr id="3" name="Content Placeholder 2">
            <a:extLst>
              <a:ext uri="{FF2B5EF4-FFF2-40B4-BE49-F238E27FC236}">
                <a16:creationId xmlns:a16="http://schemas.microsoft.com/office/drawing/2014/main" id="{32714767-7363-329F-42DD-2577784F015E}"/>
              </a:ext>
            </a:extLst>
          </p:cNvPr>
          <p:cNvSpPr>
            <a:spLocks noGrp="1"/>
          </p:cNvSpPr>
          <p:nvPr>
            <p:ph idx="1"/>
          </p:nvPr>
        </p:nvSpPr>
        <p:spPr>
          <a:xfrm>
            <a:off x="838200" y="1446484"/>
            <a:ext cx="10870580" cy="4196033"/>
          </a:xfrm>
        </p:spPr>
        <p:txBody>
          <a:bodyPr>
            <a:normAutofit/>
          </a:bodyPr>
          <a:lstStyle/>
          <a:p>
            <a:r>
              <a:rPr lang="en-US" dirty="0">
                <a:latin typeface="Abadi" panose="020B0604020104020204" pitchFamily="34" charset="0"/>
              </a:rPr>
              <a:t>We are going to be doing windowed stats, so we don’t actually want to thin, we want all the information in a locus</a:t>
            </a:r>
          </a:p>
          <a:p>
            <a:r>
              <a:rPr lang="en-US" dirty="0">
                <a:latin typeface="Abadi" panose="020B0604020104020204" pitchFamily="34" charset="0"/>
              </a:rPr>
              <a:t>We also want to apply filters *only* to our focal group</a:t>
            </a:r>
          </a:p>
          <a:p>
            <a:r>
              <a:rPr lang="en-US" dirty="0">
                <a:latin typeface="Abadi" panose="020B0604020104020204" pitchFamily="34" charset="0"/>
              </a:rPr>
              <a:t>We will re-run populations accordingly</a:t>
            </a:r>
          </a:p>
          <a:p>
            <a:pPr marL="0" indent="0">
              <a:buNone/>
            </a:pPr>
            <a:r>
              <a:rPr lang="en-US" sz="2400" dirty="0" err="1">
                <a:solidFill>
                  <a:schemeClr val="accent6"/>
                </a:solidFill>
                <a:latin typeface="Abadi" panose="020B0604020104020204" pitchFamily="34" charset="0"/>
              </a:rPr>
              <a:t>mkdir</a:t>
            </a:r>
            <a:r>
              <a:rPr lang="en-US" sz="2400" dirty="0">
                <a:solidFill>
                  <a:schemeClr val="accent6"/>
                </a:solidFill>
                <a:latin typeface="Abadi" panose="020B0604020104020204" pitchFamily="34" charset="0"/>
              </a:rPr>
              <a:t> </a:t>
            </a:r>
            <a:r>
              <a:rPr lang="en-US" sz="2400" dirty="0" err="1">
                <a:solidFill>
                  <a:schemeClr val="accent6"/>
                </a:solidFill>
                <a:latin typeface="Abadi" panose="020B0604020104020204" pitchFamily="34" charset="0"/>
              </a:rPr>
              <a:t>populations_out</a:t>
            </a:r>
            <a:r>
              <a:rPr lang="en-US" sz="2400" dirty="0">
                <a:solidFill>
                  <a:schemeClr val="accent6"/>
                </a:solidFill>
                <a:latin typeface="Abadi" panose="020B0604020104020204" pitchFamily="34" charset="0"/>
              </a:rPr>
              <a:t>/windows</a:t>
            </a:r>
          </a:p>
          <a:p>
            <a:pPr marL="0" indent="0">
              <a:buNone/>
            </a:pPr>
            <a:r>
              <a:rPr lang="en-US" sz="2400" dirty="0">
                <a:solidFill>
                  <a:schemeClr val="accent6"/>
                </a:solidFill>
                <a:latin typeface="Abadi" panose="020B0604020104020204" pitchFamily="34" charset="0"/>
              </a:rPr>
              <a:t>populations --in-path </a:t>
            </a:r>
            <a:r>
              <a:rPr lang="en-US" sz="2400" dirty="0" err="1">
                <a:solidFill>
                  <a:schemeClr val="accent6"/>
                </a:solidFill>
                <a:latin typeface="Abadi" panose="020B0604020104020204" pitchFamily="34" charset="0"/>
              </a:rPr>
              <a:t>stacks_out</a:t>
            </a:r>
            <a:r>
              <a:rPr lang="en-US" sz="2400" dirty="0">
                <a:solidFill>
                  <a:schemeClr val="accent6"/>
                </a:solidFill>
                <a:latin typeface="Abadi" panose="020B0604020104020204" pitchFamily="34" charset="0"/>
              </a:rPr>
              <a:t>/ingroup/ --</a:t>
            </a:r>
            <a:r>
              <a:rPr lang="en-US" sz="2400" dirty="0" err="1">
                <a:solidFill>
                  <a:schemeClr val="accent6"/>
                </a:solidFill>
                <a:latin typeface="Abadi" panose="020B0604020104020204" pitchFamily="34" charset="0"/>
              </a:rPr>
              <a:t>popmap</a:t>
            </a:r>
            <a:r>
              <a:rPr lang="en-US" sz="2400" dirty="0">
                <a:solidFill>
                  <a:schemeClr val="accent6"/>
                </a:solidFill>
                <a:latin typeface="Abadi" panose="020B0604020104020204" pitchFamily="34" charset="0"/>
              </a:rPr>
              <a:t> </a:t>
            </a:r>
            <a:r>
              <a:rPr lang="en-US" sz="2400" dirty="0" err="1">
                <a:solidFill>
                  <a:schemeClr val="accent6"/>
                </a:solidFill>
                <a:latin typeface="Abadi" panose="020B0604020104020204" pitchFamily="34" charset="0"/>
              </a:rPr>
              <a:t>popmap_ingroup</a:t>
            </a:r>
            <a:r>
              <a:rPr lang="en-US" sz="2400" dirty="0">
                <a:solidFill>
                  <a:schemeClr val="accent6"/>
                </a:solidFill>
                <a:latin typeface="Abadi" panose="020B0604020104020204" pitchFamily="34" charset="0"/>
              </a:rPr>
              <a:t> \</a:t>
            </a:r>
          </a:p>
          <a:p>
            <a:pPr marL="0" indent="0">
              <a:buNone/>
            </a:pPr>
            <a:r>
              <a:rPr lang="en-US" sz="2400" dirty="0">
                <a:solidFill>
                  <a:schemeClr val="accent6"/>
                </a:solidFill>
                <a:latin typeface="Abadi" panose="020B0604020104020204" pitchFamily="34" charset="0"/>
              </a:rPr>
              <a:t>            --out-path </a:t>
            </a:r>
            <a:r>
              <a:rPr lang="en-US" sz="2400" dirty="0" err="1">
                <a:solidFill>
                  <a:schemeClr val="accent6"/>
                </a:solidFill>
                <a:latin typeface="Abadi" panose="020B0604020104020204" pitchFamily="34" charset="0"/>
              </a:rPr>
              <a:t>populations_out</a:t>
            </a:r>
            <a:r>
              <a:rPr lang="en-US" sz="2400" dirty="0">
                <a:solidFill>
                  <a:schemeClr val="accent6"/>
                </a:solidFill>
                <a:latin typeface="Abadi" panose="020B0604020104020204" pitchFamily="34" charset="0"/>
              </a:rPr>
              <a:t>/windows --</a:t>
            </a:r>
            <a:r>
              <a:rPr lang="en-US" sz="2400" dirty="0" err="1">
                <a:solidFill>
                  <a:schemeClr val="accent6"/>
                </a:solidFill>
                <a:latin typeface="Abadi" panose="020B0604020104020204" pitchFamily="34" charset="0"/>
              </a:rPr>
              <a:t>vcf</a:t>
            </a:r>
            <a:endParaRPr lang="en-US" sz="2400" dirty="0">
              <a:solidFill>
                <a:schemeClr val="accent6"/>
              </a:solidFill>
              <a:latin typeface="Abadi" panose="020B0604020104020204" pitchFamily="34" charset="0"/>
            </a:endParaRPr>
          </a:p>
          <a:p>
            <a:pPr marL="0" indent="0">
              <a:buNone/>
            </a:pPr>
            <a:r>
              <a:rPr lang="en-US" sz="2400" dirty="0">
                <a:solidFill>
                  <a:schemeClr val="accent6"/>
                </a:solidFill>
                <a:latin typeface="Abadi" panose="020B0604020104020204" pitchFamily="34" charset="0"/>
              </a:rPr>
              <a:t>mv </a:t>
            </a:r>
            <a:r>
              <a:rPr lang="en-US" sz="2400" dirty="0" err="1">
                <a:solidFill>
                  <a:schemeClr val="accent6"/>
                </a:solidFill>
                <a:latin typeface="Abadi" panose="020B0604020104020204" pitchFamily="34" charset="0"/>
              </a:rPr>
              <a:t>populations_out</a:t>
            </a:r>
            <a:r>
              <a:rPr lang="en-US" sz="2400" dirty="0">
                <a:solidFill>
                  <a:schemeClr val="accent6"/>
                </a:solidFill>
                <a:latin typeface="Abadi" panose="020B0604020104020204" pitchFamily="34" charset="0"/>
              </a:rPr>
              <a:t>/windows/populations.snps.vcf output/window_input.vcf</a:t>
            </a:r>
          </a:p>
        </p:txBody>
      </p:sp>
    </p:spTree>
    <p:extLst>
      <p:ext uri="{BB962C8B-B14F-4D97-AF65-F5344CB8AC3E}">
        <p14:creationId xmlns:p14="http://schemas.microsoft.com/office/powerpoint/2010/main" val="315043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C484B-C8CD-0A97-91A5-8B0EB65E0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DCC34-671A-4EC0-AC8A-0597E3AEB457}"/>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Running the windowed FST</a:t>
            </a:r>
          </a:p>
        </p:txBody>
      </p:sp>
      <p:sp>
        <p:nvSpPr>
          <p:cNvPr id="3" name="Content Placeholder 2">
            <a:extLst>
              <a:ext uri="{FF2B5EF4-FFF2-40B4-BE49-F238E27FC236}">
                <a16:creationId xmlns:a16="http://schemas.microsoft.com/office/drawing/2014/main" id="{3C937B06-A193-46E2-49EC-3983CDB5FA5E}"/>
              </a:ext>
            </a:extLst>
          </p:cNvPr>
          <p:cNvSpPr>
            <a:spLocks noGrp="1"/>
          </p:cNvSpPr>
          <p:nvPr>
            <p:ph idx="1"/>
          </p:nvPr>
        </p:nvSpPr>
        <p:spPr>
          <a:xfrm>
            <a:off x="838200" y="1446484"/>
            <a:ext cx="10870580" cy="5255399"/>
          </a:xfrm>
        </p:spPr>
        <p:txBody>
          <a:bodyPr>
            <a:normAutofit fontScale="92500" lnSpcReduction="20000"/>
          </a:bodyPr>
          <a:lstStyle/>
          <a:p>
            <a:r>
              <a:rPr lang="en-US" dirty="0">
                <a:latin typeface="Abadi" panose="020B0604020104020204" pitchFamily="34" charset="0"/>
              </a:rPr>
              <a:t>We will use </a:t>
            </a:r>
            <a:r>
              <a:rPr lang="en-US" dirty="0" err="1">
                <a:latin typeface="Abadi" panose="020B0604020104020204" pitchFamily="34" charset="0"/>
              </a:rPr>
              <a:t>VCFtools</a:t>
            </a:r>
            <a:r>
              <a:rPr lang="en-US" dirty="0">
                <a:latin typeface="Abadi" panose="020B0604020104020204" pitchFamily="34" charset="0"/>
              </a:rPr>
              <a:t> here (I recommend a script, e.g. </a:t>
            </a:r>
            <a:r>
              <a:rPr lang="en-US" dirty="0">
                <a:solidFill>
                  <a:schemeClr val="accent6"/>
                </a:solidFill>
                <a:latin typeface="Abadi" panose="020B0604020104020204" pitchFamily="34" charset="0"/>
              </a:rPr>
              <a:t>nano window.sh</a:t>
            </a:r>
            <a:r>
              <a:rPr lang="en-US" dirty="0">
                <a:latin typeface="Abadi" panose="020B0604020104020204" pitchFamily="34" charset="0"/>
              </a:rPr>
              <a:t>)</a:t>
            </a:r>
          </a:p>
          <a:p>
            <a:pPr marL="0" indent="0">
              <a:buNone/>
            </a:pPr>
            <a:r>
              <a:rPr lang="en-US" sz="2400" dirty="0">
                <a:solidFill>
                  <a:schemeClr val="accent6"/>
                </a:solidFill>
                <a:latin typeface="Abadi" panose="020B0604020104020204" pitchFamily="34" charset="0"/>
              </a:rPr>
              <a:t>#!/bin/bash</a:t>
            </a:r>
          </a:p>
          <a:p>
            <a:pPr marL="0" indent="0">
              <a:buNone/>
            </a:pPr>
            <a:endParaRPr lang="en-US" sz="2400" dirty="0">
              <a:solidFill>
                <a:schemeClr val="accent6"/>
              </a:solidFill>
              <a:latin typeface="Abadi" panose="020B0604020104020204" pitchFamily="34" charset="0"/>
            </a:endParaRPr>
          </a:p>
          <a:p>
            <a:pPr marL="0" indent="0">
              <a:buNone/>
            </a:pPr>
            <a:r>
              <a:rPr lang="en-US" sz="2400" dirty="0" err="1">
                <a:solidFill>
                  <a:schemeClr val="accent6"/>
                </a:solidFill>
                <a:latin typeface="Abadi" panose="020B0604020104020204" pitchFamily="34" charset="0"/>
              </a:rPr>
              <a:t>vcftools</a:t>
            </a:r>
            <a:r>
              <a:rPr lang="en-US" sz="2400" dirty="0">
                <a:solidFill>
                  <a:schemeClr val="accent6"/>
                </a:solidFill>
                <a:latin typeface="Abadi" panose="020B0604020104020204" pitchFamily="34" charset="0"/>
              </a:rPr>
              <a:t> --</a:t>
            </a:r>
            <a:r>
              <a:rPr lang="en-US" sz="2400" dirty="0" err="1">
                <a:solidFill>
                  <a:schemeClr val="accent6"/>
                </a:solidFill>
                <a:latin typeface="Abadi" panose="020B0604020104020204" pitchFamily="34" charset="0"/>
              </a:rPr>
              <a:t>vcf</a:t>
            </a:r>
            <a:r>
              <a:rPr lang="en-US" sz="2400" dirty="0">
                <a:solidFill>
                  <a:schemeClr val="accent6"/>
                </a:solidFill>
                <a:latin typeface="Abadi" panose="020B0604020104020204" pitchFamily="34" charset="0"/>
              </a:rPr>
              <a:t> output/window_input.vcf \</a:t>
            </a:r>
          </a:p>
          <a:p>
            <a:pPr marL="0" indent="0">
              <a:buNone/>
            </a:pPr>
            <a:r>
              <a:rPr lang="en-US" sz="2400" dirty="0">
                <a:solidFill>
                  <a:schemeClr val="accent6"/>
                </a:solidFill>
                <a:latin typeface="Abadi" panose="020B0604020104020204" pitchFamily="34" charset="0"/>
              </a:rPr>
              <a:t>        --max-missing 0.75 --min-alleles 2 --max-alleles 2 \</a:t>
            </a:r>
          </a:p>
          <a:p>
            <a:pPr marL="0" indent="0">
              <a:buNone/>
            </a:pPr>
            <a:r>
              <a:rPr lang="en-US" sz="2400" dirty="0">
                <a:solidFill>
                  <a:schemeClr val="accent6"/>
                </a:solidFill>
                <a:latin typeface="Abadi" panose="020B0604020104020204" pitchFamily="34" charset="0"/>
              </a:rPr>
              <a:t>        --weir-</a:t>
            </a:r>
            <a:r>
              <a:rPr lang="en-US" sz="2400" dirty="0" err="1">
                <a:solidFill>
                  <a:schemeClr val="accent6"/>
                </a:solidFill>
                <a:latin typeface="Abadi" panose="020B0604020104020204" pitchFamily="34" charset="0"/>
              </a:rPr>
              <a:t>fst</a:t>
            </a:r>
            <a:r>
              <a:rPr lang="en-US" sz="2400" dirty="0">
                <a:solidFill>
                  <a:schemeClr val="accent6"/>
                </a:solidFill>
                <a:latin typeface="Abadi" panose="020B0604020104020204" pitchFamily="34" charset="0"/>
              </a:rPr>
              <a:t>-pop </a:t>
            </a:r>
            <a:r>
              <a:rPr lang="en-US" sz="2400" dirty="0" err="1">
                <a:solidFill>
                  <a:schemeClr val="accent6"/>
                </a:solidFill>
                <a:latin typeface="Abadi" panose="020B0604020104020204" pitchFamily="34" charset="0"/>
              </a:rPr>
              <a:t>keep_white</a:t>
            </a:r>
            <a:r>
              <a:rPr lang="en-US" sz="2400" dirty="0">
                <a:solidFill>
                  <a:schemeClr val="accent6"/>
                </a:solidFill>
                <a:latin typeface="Abadi" panose="020B0604020104020204" pitchFamily="34" charset="0"/>
              </a:rPr>
              <a:t> --weir-</a:t>
            </a:r>
            <a:r>
              <a:rPr lang="en-US" sz="2400" dirty="0" err="1">
                <a:solidFill>
                  <a:schemeClr val="accent6"/>
                </a:solidFill>
                <a:latin typeface="Abadi" panose="020B0604020104020204" pitchFamily="34" charset="0"/>
              </a:rPr>
              <a:t>fst</a:t>
            </a:r>
            <a:r>
              <a:rPr lang="en-US" sz="2400" dirty="0">
                <a:solidFill>
                  <a:schemeClr val="accent6"/>
                </a:solidFill>
                <a:latin typeface="Abadi" panose="020B0604020104020204" pitchFamily="34" charset="0"/>
              </a:rPr>
              <a:t>-pop </a:t>
            </a:r>
            <a:r>
              <a:rPr lang="en-US" sz="2400" dirty="0" err="1">
                <a:solidFill>
                  <a:schemeClr val="accent6"/>
                </a:solidFill>
                <a:latin typeface="Abadi" panose="020B0604020104020204" pitchFamily="34" charset="0"/>
              </a:rPr>
              <a:t>keep_yellow</a:t>
            </a:r>
            <a:r>
              <a:rPr lang="en-US" sz="2400" dirty="0">
                <a:solidFill>
                  <a:schemeClr val="accent6"/>
                </a:solidFill>
                <a:latin typeface="Abadi" panose="020B0604020104020204" pitchFamily="34" charset="0"/>
              </a:rPr>
              <a:t> \</a:t>
            </a:r>
          </a:p>
          <a:p>
            <a:pPr marL="0" indent="0">
              <a:buNone/>
            </a:pPr>
            <a:r>
              <a:rPr lang="en-US" sz="2400" dirty="0">
                <a:solidFill>
                  <a:schemeClr val="accent6"/>
                </a:solidFill>
                <a:latin typeface="Abadi" panose="020B0604020104020204" pitchFamily="34" charset="0"/>
              </a:rPr>
              <a:t>        --</a:t>
            </a:r>
            <a:r>
              <a:rPr lang="en-US" sz="2400" dirty="0" err="1">
                <a:solidFill>
                  <a:schemeClr val="accent6"/>
                </a:solidFill>
                <a:latin typeface="Abadi" panose="020B0604020104020204" pitchFamily="34" charset="0"/>
              </a:rPr>
              <a:t>fst</a:t>
            </a:r>
            <a:r>
              <a:rPr lang="en-US" sz="2400" dirty="0">
                <a:solidFill>
                  <a:schemeClr val="accent6"/>
                </a:solidFill>
                <a:latin typeface="Abadi" panose="020B0604020104020204" pitchFamily="34" charset="0"/>
              </a:rPr>
              <a:t>-window-size 100000 \</a:t>
            </a:r>
          </a:p>
          <a:p>
            <a:pPr marL="0" indent="0">
              <a:buNone/>
            </a:pPr>
            <a:r>
              <a:rPr lang="en-US" sz="2400" dirty="0">
                <a:solidFill>
                  <a:schemeClr val="accent6"/>
                </a:solidFill>
                <a:latin typeface="Abadi" panose="020B0604020104020204" pitchFamily="34" charset="0"/>
              </a:rPr>
              <a:t>        --out output/windowed_fst_white_yellow_75</a:t>
            </a:r>
          </a:p>
          <a:p>
            <a:pPr marL="0" indent="0">
              <a:buNone/>
            </a:pPr>
            <a:endParaRPr lang="en-US" sz="2400" dirty="0">
              <a:solidFill>
                <a:schemeClr val="accent6"/>
              </a:solidFill>
              <a:latin typeface="Abadi" panose="020B0604020104020204" pitchFamily="34" charset="0"/>
            </a:endParaRPr>
          </a:p>
          <a:p>
            <a:pPr marL="0" indent="0">
              <a:buNone/>
            </a:pPr>
            <a:r>
              <a:rPr lang="en-US" sz="2400" dirty="0" err="1">
                <a:solidFill>
                  <a:schemeClr val="accent6"/>
                </a:solidFill>
                <a:latin typeface="Abadi" panose="020B0604020104020204" pitchFamily="34" charset="0"/>
              </a:rPr>
              <a:t>vcftools</a:t>
            </a:r>
            <a:r>
              <a:rPr lang="en-US" sz="2400" dirty="0">
                <a:solidFill>
                  <a:schemeClr val="accent6"/>
                </a:solidFill>
                <a:latin typeface="Abadi" panose="020B0604020104020204" pitchFamily="34" charset="0"/>
              </a:rPr>
              <a:t> --</a:t>
            </a:r>
            <a:r>
              <a:rPr lang="en-US" sz="2400" dirty="0" err="1">
                <a:solidFill>
                  <a:schemeClr val="accent6"/>
                </a:solidFill>
                <a:latin typeface="Abadi" panose="020B0604020104020204" pitchFamily="34" charset="0"/>
              </a:rPr>
              <a:t>vcf</a:t>
            </a:r>
            <a:r>
              <a:rPr lang="en-US" sz="2400" dirty="0">
                <a:solidFill>
                  <a:schemeClr val="accent6"/>
                </a:solidFill>
                <a:latin typeface="Abadi" panose="020B0604020104020204" pitchFamily="34" charset="0"/>
              </a:rPr>
              <a:t> output/window_input.vcf \</a:t>
            </a:r>
          </a:p>
          <a:p>
            <a:pPr marL="0" indent="0">
              <a:buNone/>
            </a:pPr>
            <a:r>
              <a:rPr lang="en-US" sz="2400" dirty="0">
                <a:solidFill>
                  <a:schemeClr val="accent6"/>
                </a:solidFill>
                <a:latin typeface="Abadi" panose="020B0604020104020204" pitchFamily="34" charset="0"/>
              </a:rPr>
              <a:t>        --max-missing 0.75 --min-alleles 2 --max-alleles 2 \</a:t>
            </a:r>
          </a:p>
          <a:p>
            <a:pPr marL="0" indent="0">
              <a:buNone/>
            </a:pPr>
            <a:r>
              <a:rPr lang="en-US" sz="2400" dirty="0">
                <a:solidFill>
                  <a:schemeClr val="accent6"/>
                </a:solidFill>
                <a:latin typeface="Abadi" panose="020B0604020104020204" pitchFamily="34" charset="0"/>
              </a:rPr>
              <a:t>        --weir-</a:t>
            </a:r>
            <a:r>
              <a:rPr lang="en-US" sz="2400" dirty="0" err="1">
                <a:solidFill>
                  <a:schemeClr val="accent6"/>
                </a:solidFill>
                <a:latin typeface="Abadi" panose="020B0604020104020204" pitchFamily="34" charset="0"/>
              </a:rPr>
              <a:t>fst</a:t>
            </a:r>
            <a:r>
              <a:rPr lang="en-US" sz="2400" dirty="0">
                <a:solidFill>
                  <a:schemeClr val="accent6"/>
                </a:solidFill>
                <a:latin typeface="Abadi" panose="020B0604020104020204" pitchFamily="34" charset="0"/>
              </a:rPr>
              <a:t>-pop </a:t>
            </a:r>
            <a:r>
              <a:rPr lang="en-US" sz="2400" dirty="0" err="1">
                <a:solidFill>
                  <a:schemeClr val="accent6"/>
                </a:solidFill>
                <a:latin typeface="Abadi" panose="020B0604020104020204" pitchFamily="34" charset="0"/>
              </a:rPr>
              <a:t>keep_viti</a:t>
            </a:r>
            <a:r>
              <a:rPr lang="en-US" sz="2400" dirty="0">
                <a:solidFill>
                  <a:schemeClr val="accent6"/>
                </a:solidFill>
                <a:latin typeface="Abadi" panose="020B0604020104020204" pitchFamily="34" charset="0"/>
              </a:rPr>
              <a:t> --weir-</a:t>
            </a:r>
            <a:r>
              <a:rPr lang="en-US" sz="2400" dirty="0" err="1">
                <a:solidFill>
                  <a:schemeClr val="accent6"/>
                </a:solidFill>
                <a:latin typeface="Abadi" panose="020B0604020104020204" pitchFamily="34" charset="0"/>
              </a:rPr>
              <a:t>fst</a:t>
            </a:r>
            <a:r>
              <a:rPr lang="en-US" sz="2400" dirty="0">
                <a:solidFill>
                  <a:schemeClr val="accent6"/>
                </a:solidFill>
                <a:latin typeface="Abadi" panose="020B0604020104020204" pitchFamily="34" charset="0"/>
              </a:rPr>
              <a:t>-pop </a:t>
            </a:r>
            <a:r>
              <a:rPr lang="en-US" sz="2400" dirty="0" err="1">
                <a:solidFill>
                  <a:schemeClr val="accent6"/>
                </a:solidFill>
                <a:latin typeface="Abadi" panose="020B0604020104020204" pitchFamily="34" charset="0"/>
              </a:rPr>
              <a:t>keep_vanua</a:t>
            </a:r>
            <a:r>
              <a:rPr lang="en-US" sz="2400" dirty="0">
                <a:solidFill>
                  <a:schemeClr val="accent6"/>
                </a:solidFill>
                <a:latin typeface="Abadi" panose="020B0604020104020204" pitchFamily="34" charset="0"/>
              </a:rPr>
              <a:t> \</a:t>
            </a:r>
          </a:p>
          <a:p>
            <a:pPr marL="0" indent="0">
              <a:buNone/>
            </a:pPr>
            <a:r>
              <a:rPr lang="en-US" sz="2400" dirty="0">
                <a:solidFill>
                  <a:schemeClr val="accent6"/>
                </a:solidFill>
                <a:latin typeface="Abadi" panose="020B0604020104020204" pitchFamily="34" charset="0"/>
              </a:rPr>
              <a:t>        --</a:t>
            </a:r>
            <a:r>
              <a:rPr lang="en-US" sz="2400" dirty="0" err="1">
                <a:solidFill>
                  <a:schemeClr val="accent6"/>
                </a:solidFill>
                <a:latin typeface="Abadi" panose="020B0604020104020204" pitchFamily="34" charset="0"/>
              </a:rPr>
              <a:t>fst</a:t>
            </a:r>
            <a:r>
              <a:rPr lang="en-US" sz="2400" dirty="0">
                <a:solidFill>
                  <a:schemeClr val="accent6"/>
                </a:solidFill>
                <a:latin typeface="Abadi" panose="020B0604020104020204" pitchFamily="34" charset="0"/>
              </a:rPr>
              <a:t>-window-size 100000 \</a:t>
            </a:r>
          </a:p>
          <a:p>
            <a:pPr marL="0" indent="0">
              <a:buNone/>
            </a:pPr>
            <a:r>
              <a:rPr lang="en-US" sz="2400" dirty="0">
                <a:solidFill>
                  <a:schemeClr val="accent6"/>
                </a:solidFill>
                <a:latin typeface="Abadi" panose="020B0604020104020204" pitchFamily="34" charset="0"/>
              </a:rPr>
              <a:t>        --out output/windowed_fst_viti_vanua_75</a:t>
            </a:r>
          </a:p>
        </p:txBody>
      </p:sp>
    </p:spTree>
    <p:extLst>
      <p:ext uri="{BB962C8B-B14F-4D97-AF65-F5344CB8AC3E}">
        <p14:creationId xmlns:p14="http://schemas.microsoft.com/office/powerpoint/2010/main" val="370901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80B6B-CCF4-C8F5-D9A1-5F976E081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38FE1-014A-ED0F-42D7-B59FC2F4432F}"/>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Preparing the output to plot</a:t>
            </a:r>
          </a:p>
        </p:txBody>
      </p:sp>
      <p:sp>
        <p:nvSpPr>
          <p:cNvPr id="3" name="Content Placeholder 2">
            <a:extLst>
              <a:ext uri="{FF2B5EF4-FFF2-40B4-BE49-F238E27FC236}">
                <a16:creationId xmlns:a16="http://schemas.microsoft.com/office/drawing/2014/main" id="{56524A4E-27DF-6546-8DDB-565A5A794B31}"/>
              </a:ext>
            </a:extLst>
          </p:cNvPr>
          <p:cNvSpPr>
            <a:spLocks noGrp="1"/>
          </p:cNvSpPr>
          <p:nvPr>
            <p:ph idx="1"/>
          </p:nvPr>
        </p:nvSpPr>
        <p:spPr>
          <a:xfrm>
            <a:off x="280639" y="1690688"/>
            <a:ext cx="3432717" cy="5011195"/>
          </a:xfrm>
        </p:spPr>
        <p:txBody>
          <a:bodyPr>
            <a:normAutofit lnSpcReduction="10000"/>
          </a:bodyPr>
          <a:lstStyle/>
          <a:p>
            <a:r>
              <a:rPr lang="en-US" dirty="0">
                <a:latin typeface="Abadi" panose="020B0604020104020204" pitchFamily="34" charset="0"/>
              </a:rPr>
              <a:t>Unfortunately, the package that makes plotting this data the easiest requires numeric chromosome names</a:t>
            </a:r>
          </a:p>
          <a:p>
            <a:r>
              <a:rPr lang="en-US" dirty="0">
                <a:latin typeface="Abadi" panose="020B0604020104020204" pitchFamily="34" charset="0"/>
              </a:rPr>
              <a:t>Because of that, we will run a bash script that replaces all chromosome names with numbers</a:t>
            </a:r>
          </a:p>
          <a:p>
            <a:pPr marL="0" indent="0">
              <a:buNone/>
            </a:pPr>
            <a:endParaRPr lang="en-US" dirty="0">
              <a:latin typeface="Abadi" panose="020B0604020104020204" pitchFamily="34" charset="0"/>
            </a:endParaRPr>
          </a:p>
        </p:txBody>
      </p:sp>
      <p:sp>
        <p:nvSpPr>
          <p:cNvPr id="5" name="TextBox 4">
            <a:extLst>
              <a:ext uri="{FF2B5EF4-FFF2-40B4-BE49-F238E27FC236}">
                <a16:creationId xmlns:a16="http://schemas.microsoft.com/office/drawing/2014/main" id="{D216A58E-FDE0-4A85-1D77-9742CFF2434D}"/>
              </a:ext>
            </a:extLst>
          </p:cNvPr>
          <p:cNvSpPr txBox="1"/>
          <p:nvPr/>
        </p:nvSpPr>
        <p:spPr>
          <a:xfrm>
            <a:off x="3713356" y="2712803"/>
            <a:ext cx="9144929" cy="3170099"/>
          </a:xfrm>
          <a:prstGeom prst="rect">
            <a:avLst/>
          </a:prstGeom>
          <a:noFill/>
        </p:spPr>
        <p:txBody>
          <a:bodyPr wrap="square">
            <a:spAutoFit/>
          </a:bodyPr>
          <a:lstStyle/>
          <a:p>
            <a:r>
              <a:rPr lang="en-US" sz="2000" dirty="0">
                <a:solidFill>
                  <a:schemeClr val="accent6"/>
                </a:solidFill>
              </a:rPr>
              <a:t>#!/bin/bash</a:t>
            </a:r>
          </a:p>
          <a:p>
            <a:endParaRPr lang="en-US" sz="2000" dirty="0">
              <a:solidFill>
                <a:schemeClr val="accent6"/>
              </a:solidFill>
            </a:endParaRPr>
          </a:p>
          <a:p>
            <a:r>
              <a:rPr lang="en-US" sz="2000" dirty="0">
                <a:solidFill>
                  <a:schemeClr val="accent6"/>
                </a:solidFill>
              </a:rPr>
              <a:t>grep -v CHROM output/windowed_fst_X_Y_75.windowed.weir.fst | \</a:t>
            </a:r>
          </a:p>
          <a:p>
            <a:r>
              <a:rPr lang="en-US" sz="2000" dirty="0">
                <a:solidFill>
                  <a:schemeClr val="accent6"/>
                </a:solidFill>
              </a:rPr>
              <a:t>    cut -f 1 | sort | </a:t>
            </a:r>
            <a:r>
              <a:rPr lang="en-US" sz="2000" dirty="0" err="1">
                <a:solidFill>
                  <a:schemeClr val="accent6"/>
                </a:solidFill>
              </a:rPr>
              <a:t>uniq</a:t>
            </a:r>
            <a:r>
              <a:rPr lang="en-US" sz="2000" dirty="0">
                <a:solidFill>
                  <a:schemeClr val="accent6"/>
                </a:solidFill>
              </a:rPr>
              <a:t> &gt; </a:t>
            </a:r>
            <a:r>
              <a:rPr lang="en-US" sz="2000" dirty="0" err="1">
                <a:solidFill>
                  <a:schemeClr val="accent6"/>
                </a:solidFill>
              </a:rPr>
              <a:t>chrom_list</a:t>
            </a:r>
            <a:endParaRPr lang="en-US" sz="2000" dirty="0">
              <a:solidFill>
                <a:schemeClr val="accent6"/>
              </a:solidFill>
            </a:endParaRPr>
          </a:p>
          <a:p>
            <a:endParaRPr lang="en-US" sz="2000" dirty="0">
              <a:solidFill>
                <a:schemeClr val="accent6"/>
              </a:solidFill>
            </a:endParaRPr>
          </a:p>
          <a:p>
            <a:r>
              <a:rPr lang="en-US" sz="2000" dirty="0">
                <a:solidFill>
                  <a:schemeClr val="accent6"/>
                </a:solidFill>
              </a:rPr>
              <a:t>track=1</a:t>
            </a:r>
          </a:p>
          <a:p>
            <a:r>
              <a:rPr lang="en-US" sz="2000" dirty="0">
                <a:solidFill>
                  <a:schemeClr val="accent6"/>
                </a:solidFill>
              </a:rPr>
              <a:t>for </a:t>
            </a:r>
            <a:r>
              <a:rPr lang="en-US" sz="2000" dirty="0" err="1">
                <a:solidFill>
                  <a:schemeClr val="accent6"/>
                </a:solidFill>
              </a:rPr>
              <a:t>chrom</a:t>
            </a:r>
            <a:r>
              <a:rPr lang="en-US" sz="2000" dirty="0">
                <a:solidFill>
                  <a:schemeClr val="accent6"/>
                </a:solidFill>
              </a:rPr>
              <a:t> in $(cat </a:t>
            </a:r>
            <a:r>
              <a:rPr lang="en-US" sz="2000" dirty="0" err="1">
                <a:solidFill>
                  <a:schemeClr val="accent6"/>
                </a:solidFill>
              </a:rPr>
              <a:t>chrom_list</a:t>
            </a:r>
            <a:r>
              <a:rPr lang="en-US" sz="2000" dirty="0">
                <a:solidFill>
                  <a:schemeClr val="accent6"/>
                </a:solidFill>
              </a:rPr>
              <a:t>); do</a:t>
            </a:r>
          </a:p>
          <a:p>
            <a:r>
              <a:rPr lang="en-US" sz="2000" dirty="0">
                <a:solidFill>
                  <a:schemeClr val="accent6"/>
                </a:solidFill>
              </a:rPr>
              <a:t>    sed -</a:t>
            </a:r>
            <a:r>
              <a:rPr lang="en-US" sz="2000" dirty="0" err="1">
                <a:solidFill>
                  <a:schemeClr val="accent6"/>
                </a:solidFill>
              </a:rPr>
              <a:t>i</a:t>
            </a:r>
            <a:r>
              <a:rPr lang="en-US" sz="2000" dirty="0">
                <a:solidFill>
                  <a:schemeClr val="accent6"/>
                </a:solidFill>
              </a:rPr>
              <a:t> "s/$</a:t>
            </a:r>
            <a:r>
              <a:rPr lang="en-US" sz="2000" dirty="0" err="1">
                <a:solidFill>
                  <a:schemeClr val="accent6"/>
                </a:solidFill>
              </a:rPr>
              <a:t>chrom</a:t>
            </a:r>
            <a:r>
              <a:rPr lang="en-US" sz="2000" dirty="0">
                <a:solidFill>
                  <a:schemeClr val="accent6"/>
                </a:solidFill>
              </a:rPr>
              <a:t>/$track/g" output/windowed_fst_X_Y_75.windowed.weir.fst</a:t>
            </a:r>
          </a:p>
          <a:p>
            <a:r>
              <a:rPr lang="en-US" sz="2000" dirty="0">
                <a:solidFill>
                  <a:schemeClr val="accent6"/>
                </a:solidFill>
              </a:rPr>
              <a:t>    track=$((track+1))</a:t>
            </a:r>
          </a:p>
          <a:p>
            <a:r>
              <a:rPr lang="en-US" sz="2000" dirty="0">
                <a:solidFill>
                  <a:schemeClr val="accent6"/>
                </a:solidFill>
              </a:rPr>
              <a:t>done</a:t>
            </a:r>
          </a:p>
        </p:txBody>
      </p:sp>
      <p:sp>
        <p:nvSpPr>
          <p:cNvPr id="6" name="TextBox 5">
            <a:extLst>
              <a:ext uri="{FF2B5EF4-FFF2-40B4-BE49-F238E27FC236}">
                <a16:creationId xmlns:a16="http://schemas.microsoft.com/office/drawing/2014/main" id="{5145604C-0A17-BF5B-99B7-AFC19786235F}"/>
              </a:ext>
            </a:extLst>
          </p:cNvPr>
          <p:cNvSpPr txBox="1"/>
          <p:nvPr/>
        </p:nvSpPr>
        <p:spPr>
          <a:xfrm>
            <a:off x="3906181" y="1690688"/>
            <a:ext cx="2332562" cy="461665"/>
          </a:xfrm>
          <a:prstGeom prst="rect">
            <a:avLst/>
          </a:prstGeom>
          <a:noFill/>
        </p:spPr>
        <p:txBody>
          <a:bodyPr wrap="none" rtlCol="0">
            <a:spAutoFit/>
          </a:bodyPr>
          <a:lstStyle/>
          <a:p>
            <a:r>
              <a:rPr lang="en-US" sz="2400" dirty="0">
                <a:solidFill>
                  <a:schemeClr val="accent6"/>
                </a:solidFill>
              </a:rPr>
              <a:t>nano rename.sh</a:t>
            </a:r>
          </a:p>
        </p:txBody>
      </p:sp>
    </p:spTree>
    <p:extLst>
      <p:ext uri="{BB962C8B-B14F-4D97-AF65-F5344CB8AC3E}">
        <p14:creationId xmlns:p14="http://schemas.microsoft.com/office/powerpoint/2010/main" val="256427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50F6-91B2-2644-1CFB-CD9D804E8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7D802-9361-84D0-C46E-3B0213FBD9CA}"/>
              </a:ext>
            </a:extLst>
          </p:cNvPr>
          <p:cNvSpPr>
            <a:spLocks noGrp="1"/>
          </p:cNvSpPr>
          <p:nvPr>
            <p:ph type="title"/>
          </p:nvPr>
        </p:nvSpPr>
        <p:spPr/>
        <p:txBody>
          <a:bodyPr/>
          <a:lstStyle/>
          <a:p>
            <a:r>
              <a:rPr lang="en-US" dirty="0">
                <a:latin typeface="Aharoni" panose="02010803020104030203" pitchFamily="2" charset="-79"/>
                <a:cs typeface="Aharoni" panose="02010803020104030203" pitchFamily="2" charset="-79"/>
              </a:rPr>
              <a:t>Plotting</a:t>
            </a:r>
          </a:p>
        </p:txBody>
      </p:sp>
      <p:sp>
        <p:nvSpPr>
          <p:cNvPr id="3" name="Content Placeholder 2">
            <a:extLst>
              <a:ext uri="{FF2B5EF4-FFF2-40B4-BE49-F238E27FC236}">
                <a16:creationId xmlns:a16="http://schemas.microsoft.com/office/drawing/2014/main" id="{501D2915-FE40-885E-5963-EC09B25AB6CD}"/>
              </a:ext>
            </a:extLst>
          </p:cNvPr>
          <p:cNvSpPr>
            <a:spLocks noGrp="1"/>
          </p:cNvSpPr>
          <p:nvPr>
            <p:ph idx="1"/>
          </p:nvPr>
        </p:nvSpPr>
        <p:spPr>
          <a:xfrm>
            <a:off x="838200" y="1884556"/>
            <a:ext cx="3499624" cy="4817327"/>
          </a:xfrm>
        </p:spPr>
        <p:txBody>
          <a:bodyPr>
            <a:normAutofit/>
          </a:bodyPr>
          <a:lstStyle/>
          <a:p>
            <a:r>
              <a:rPr lang="en-US" dirty="0">
                <a:latin typeface="Abadi" panose="020B0604020104020204" pitchFamily="34" charset="0"/>
              </a:rPr>
              <a:t>We will move back to R for this, using a package called </a:t>
            </a:r>
            <a:r>
              <a:rPr lang="en-US" dirty="0" err="1">
                <a:latin typeface="Abadi" panose="020B0604020104020204" pitchFamily="34" charset="0"/>
              </a:rPr>
              <a:t>qqman</a:t>
            </a:r>
            <a:endParaRPr lang="en-US" dirty="0">
              <a:latin typeface="Abadi" panose="020B0604020104020204" pitchFamily="34" charset="0"/>
            </a:endParaRPr>
          </a:p>
          <a:p>
            <a:r>
              <a:rPr lang="en-US" dirty="0">
                <a:latin typeface="Abadi" panose="020B0604020104020204" pitchFamily="34" charset="0"/>
              </a:rPr>
              <a:t>To make sure we can try out multiple different combinations, we will make another function that can plot any input</a:t>
            </a:r>
          </a:p>
        </p:txBody>
      </p:sp>
      <p:sp>
        <p:nvSpPr>
          <p:cNvPr id="9" name="TextBox 8">
            <a:extLst>
              <a:ext uri="{FF2B5EF4-FFF2-40B4-BE49-F238E27FC236}">
                <a16:creationId xmlns:a16="http://schemas.microsoft.com/office/drawing/2014/main" id="{4CFE5DF4-2C6A-C86E-3DDF-EF1DE028B173}"/>
              </a:ext>
            </a:extLst>
          </p:cNvPr>
          <p:cNvSpPr txBox="1"/>
          <p:nvPr/>
        </p:nvSpPr>
        <p:spPr>
          <a:xfrm>
            <a:off x="4337824" y="761795"/>
            <a:ext cx="9419992" cy="5940088"/>
          </a:xfrm>
          <a:prstGeom prst="rect">
            <a:avLst/>
          </a:prstGeom>
          <a:noFill/>
        </p:spPr>
        <p:txBody>
          <a:bodyPr wrap="square">
            <a:spAutoFit/>
          </a:bodyPr>
          <a:lstStyle/>
          <a:p>
            <a:r>
              <a:rPr lang="en-US" sz="1900" dirty="0">
                <a:solidFill>
                  <a:schemeClr val="accent4">
                    <a:lumMod val="75000"/>
                  </a:schemeClr>
                </a:solidFill>
              </a:rPr>
              <a:t>library(</a:t>
            </a:r>
            <a:r>
              <a:rPr lang="en-US" sz="1900" dirty="0" err="1">
                <a:solidFill>
                  <a:schemeClr val="accent4">
                    <a:lumMod val="75000"/>
                  </a:schemeClr>
                </a:solidFill>
              </a:rPr>
              <a:t>tidyverse</a:t>
            </a:r>
            <a:r>
              <a:rPr lang="en-US" sz="1900" dirty="0">
                <a:solidFill>
                  <a:schemeClr val="accent4">
                    <a:lumMod val="75000"/>
                  </a:schemeClr>
                </a:solidFill>
              </a:rPr>
              <a:t>)</a:t>
            </a:r>
          </a:p>
          <a:p>
            <a:r>
              <a:rPr lang="en-US" sz="1900" dirty="0">
                <a:solidFill>
                  <a:schemeClr val="accent4">
                    <a:lumMod val="75000"/>
                  </a:schemeClr>
                </a:solidFill>
              </a:rPr>
              <a:t>library(</a:t>
            </a:r>
            <a:r>
              <a:rPr lang="en-US" sz="1900" dirty="0" err="1">
                <a:solidFill>
                  <a:schemeClr val="accent4">
                    <a:lumMod val="75000"/>
                  </a:schemeClr>
                </a:solidFill>
              </a:rPr>
              <a:t>qqman</a:t>
            </a:r>
            <a:r>
              <a:rPr lang="en-US" sz="1900" dirty="0">
                <a:solidFill>
                  <a:schemeClr val="accent4">
                    <a:lumMod val="75000"/>
                  </a:schemeClr>
                </a:solidFill>
              </a:rPr>
              <a:t>)</a:t>
            </a:r>
          </a:p>
          <a:p>
            <a:endParaRPr lang="en-US" sz="1900" dirty="0">
              <a:solidFill>
                <a:schemeClr val="accent4">
                  <a:lumMod val="75000"/>
                </a:schemeClr>
              </a:solidFill>
            </a:endParaRPr>
          </a:p>
          <a:p>
            <a:r>
              <a:rPr lang="en-US" sz="1900" dirty="0" err="1">
                <a:solidFill>
                  <a:schemeClr val="accent4">
                    <a:lumMod val="75000"/>
                  </a:schemeClr>
                </a:solidFill>
              </a:rPr>
              <a:t>setwd</a:t>
            </a:r>
            <a:r>
              <a:rPr lang="en-US" sz="1900" dirty="0">
                <a:solidFill>
                  <a:schemeClr val="accent4">
                    <a:lumMod val="75000"/>
                  </a:schemeClr>
                </a:solidFill>
              </a:rPr>
              <a:t>('C:/Documents/</a:t>
            </a:r>
            <a:r>
              <a:rPr lang="en-US" sz="1900" dirty="0" err="1">
                <a:solidFill>
                  <a:schemeClr val="accent4">
                    <a:lumMod val="75000"/>
                  </a:schemeClr>
                </a:solidFill>
              </a:rPr>
              <a:t>PostDoc</a:t>
            </a:r>
            <a:r>
              <a:rPr lang="en-US" sz="1900" dirty="0">
                <a:solidFill>
                  <a:schemeClr val="accent4">
                    <a:lumMod val="75000"/>
                  </a:schemeClr>
                </a:solidFill>
              </a:rPr>
              <a:t>/</a:t>
            </a:r>
            <a:r>
              <a:rPr lang="en-US" sz="1900" dirty="0" err="1">
                <a:solidFill>
                  <a:schemeClr val="accent4">
                    <a:lumMod val="75000"/>
                  </a:schemeClr>
                </a:solidFill>
              </a:rPr>
              <a:t>Workshop_working_directory</a:t>
            </a:r>
            <a:r>
              <a:rPr lang="en-US" sz="1900" dirty="0">
                <a:solidFill>
                  <a:schemeClr val="accent4">
                    <a:lumMod val="75000"/>
                  </a:schemeClr>
                </a:solidFill>
              </a:rPr>
              <a:t>')</a:t>
            </a:r>
          </a:p>
          <a:p>
            <a:endParaRPr lang="en-US" sz="1900" dirty="0">
              <a:solidFill>
                <a:schemeClr val="accent4">
                  <a:lumMod val="75000"/>
                </a:schemeClr>
              </a:solidFill>
            </a:endParaRPr>
          </a:p>
          <a:p>
            <a:r>
              <a:rPr lang="en-US" sz="1900" dirty="0" err="1">
                <a:solidFill>
                  <a:schemeClr val="accent4">
                    <a:lumMod val="75000"/>
                  </a:schemeClr>
                </a:solidFill>
              </a:rPr>
              <a:t>plot_fst</a:t>
            </a:r>
            <a:r>
              <a:rPr lang="en-US" sz="1900" dirty="0">
                <a:solidFill>
                  <a:schemeClr val="accent4">
                    <a:lumMod val="75000"/>
                  </a:schemeClr>
                </a:solidFill>
              </a:rPr>
              <a:t> &lt;- function(input, </a:t>
            </a:r>
            <a:r>
              <a:rPr lang="en-US" sz="1900" dirty="0" err="1">
                <a:solidFill>
                  <a:schemeClr val="accent4">
                    <a:lumMod val="75000"/>
                  </a:schemeClr>
                </a:solidFill>
              </a:rPr>
              <a:t>title_name</a:t>
            </a:r>
            <a:r>
              <a:rPr lang="en-US" sz="1900" dirty="0">
                <a:solidFill>
                  <a:schemeClr val="accent4">
                    <a:lumMod val="75000"/>
                  </a:schemeClr>
                </a:solidFill>
              </a:rPr>
              <a:t>="Windowed FST"){</a:t>
            </a:r>
          </a:p>
          <a:p>
            <a:r>
              <a:rPr lang="en-US" sz="1900" dirty="0">
                <a:solidFill>
                  <a:schemeClr val="accent4">
                    <a:lumMod val="75000"/>
                  </a:schemeClr>
                </a:solidFill>
              </a:rPr>
              <a:t>  </a:t>
            </a:r>
            <a:r>
              <a:rPr lang="en-US" sz="1900" dirty="0" err="1">
                <a:solidFill>
                  <a:schemeClr val="accent4">
                    <a:lumMod val="75000"/>
                  </a:schemeClr>
                </a:solidFill>
              </a:rPr>
              <a:t>fst</a:t>
            </a:r>
            <a:r>
              <a:rPr lang="en-US" sz="1900" dirty="0">
                <a:solidFill>
                  <a:schemeClr val="accent4">
                    <a:lumMod val="75000"/>
                  </a:schemeClr>
                </a:solidFill>
              </a:rPr>
              <a:t> &lt;- </a:t>
            </a:r>
            <a:r>
              <a:rPr lang="en-US" sz="1900" dirty="0" err="1">
                <a:solidFill>
                  <a:schemeClr val="accent4">
                    <a:lumMod val="75000"/>
                  </a:schemeClr>
                </a:solidFill>
              </a:rPr>
              <a:t>read.table</a:t>
            </a:r>
            <a:r>
              <a:rPr lang="en-US" sz="1900" dirty="0">
                <a:solidFill>
                  <a:schemeClr val="accent4">
                    <a:lumMod val="75000"/>
                  </a:schemeClr>
                </a:solidFill>
              </a:rPr>
              <a:t>(input, header=TRUE)</a:t>
            </a:r>
          </a:p>
          <a:p>
            <a:r>
              <a:rPr lang="en-US" sz="1900" dirty="0">
                <a:solidFill>
                  <a:schemeClr val="accent4">
                    <a:lumMod val="75000"/>
                  </a:schemeClr>
                </a:solidFill>
              </a:rPr>
              <a:t>  </a:t>
            </a:r>
            <a:r>
              <a:rPr lang="en-US" sz="1900" dirty="0" err="1">
                <a:solidFill>
                  <a:schemeClr val="accent4">
                    <a:lumMod val="75000"/>
                  </a:schemeClr>
                </a:solidFill>
              </a:rPr>
              <a:t>fstsubset</a:t>
            </a:r>
            <a:r>
              <a:rPr lang="en-US" sz="1900" dirty="0">
                <a:solidFill>
                  <a:schemeClr val="accent4">
                    <a:lumMod val="75000"/>
                  </a:schemeClr>
                </a:solidFill>
              </a:rPr>
              <a:t> &lt;- </a:t>
            </a:r>
            <a:r>
              <a:rPr lang="en-US" sz="1900" dirty="0" err="1">
                <a:solidFill>
                  <a:schemeClr val="accent4">
                    <a:lumMod val="75000"/>
                  </a:schemeClr>
                </a:solidFill>
              </a:rPr>
              <a:t>fst</a:t>
            </a:r>
            <a:r>
              <a:rPr lang="en-US" sz="1900" dirty="0">
                <a:solidFill>
                  <a:schemeClr val="accent4">
                    <a:lumMod val="75000"/>
                  </a:schemeClr>
                </a:solidFill>
              </a:rPr>
              <a:t>[</a:t>
            </a:r>
            <a:r>
              <a:rPr lang="en-US" sz="1900" dirty="0" err="1">
                <a:solidFill>
                  <a:schemeClr val="accent4">
                    <a:lumMod val="75000"/>
                  </a:schemeClr>
                </a:solidFill>
              </a:rPr>
              <a:t>complete.cases</a:t>
            </a:r>
            <a:r>
              <a:rPr lang="en-US" sz="1900" dirty="0">
                <a:solidFill>
                  <a:schemeClr val="accent4">
                    <a:lumMod val="75000"/>
                  </a:schemeClr>
                </a:solidFill>
              </a:rPr>
              <a:t>(</a:t>
            </a:r>
            <a:r>
              <a:rPr lang="en-US" sz="1900" dirty="0" err="1">
                <a:solidFill>
                  <a:schemeClr val="accent4">
                    <a:lumMod val="75000"/>
                  </a:schemeClr>
                </a:solidFill>
              </a:rPr>
              <a:t>fst</a:t>
            </a:r>
            <a:r>
              <a:rPr lang="en-US" sz="1900" dirty="0">
                <a:solidFill>
                  <a:schemeClr val="accent4">
                    <a:lumMod val="75000"/>
                  </a:schemeClr>
                </a:solidFill>
              </a:rPr>
              <a:t>),]</a:t>
            </a:r>
          </a:p>
          <a:p>
            <a:r>
              <a:rPr lang="en-US" sz="1900" dirty="0">
                <a:solidFill>
                  <a:schemeClr val="accent4">
                    <a:lumMod val="75000"/>
                  </a:schemeClr>
                </a:solidFill>
              </a:rPr>
              <a:t>  SNP&lt;-c(1:(</a:t>
            </a:r>
            <a:r>
              <a:rPr lang="en-US" sz="1900" dirty="0" err="1">
                <a:solidFill>
                  <a:schemeClr val="accent4">
                    <a:lumMod val="75000"/>
                  </a:schemeClr>
                </a:solidFill>
              </a:rPr>
              <a:t>nrow</a:t>
            </a:r>
            <a:r>
              <a:rPr lang="en-US" sz="1900" dirty="0">
                <a:solidFill>
                  <a:schemeClr val="accent4">
                    <a:lumMod val="75000"/>
                  </a:schemeClr>
                </a:solidFill>
              </a:rPr>
              <a:t>(</a:t>
            </a:r>
            <a:r>
              <a:rPr lang="en-US" sz="1900" dirty="0" err="1">
                <a:solidFill>
                  <a:schemeClr val="accent4">
                    <a:lumMod val="75000"/>
                  </a:schemeClr>
                </a:solidFill>
              </a:rPr>
              <a:t>fstsubset</a:t>
            </a:r>
            <a:r>
              <a:rPr lang="en-US" sz="1900" dirty="0">
                <a:solidFill>
                  <a:schemeClr val="accent4">
                    <a:lumMod val="75000"/>
                  </a:schemeClr>
                </a:solidFill>
              </a:rPr>
              <a:t>)))</a:t>
            </a:r>
          </a:p>
          <a:p>
            <a:r>
              <a:rPr lang="en-US" sz="1900" dirty="0">
                <a:solidFill>
                  <a:schemeClr val="accent4">
                    <a:lumMod val="75000"/>
                  </a:schemeClr>
                </a:solidFill>
              </a:rPr>
              <a:t>  </a:t>
            </a:r>
            <a:r>
              <a:rPr lang="en-US" sz="1900" dirty="0" err="1">
                <a:solidFill>
                  <a:schemeClr val="accent4">
                    <a:lumMod val="75000"/>
                  </a:schemeClr>
                </a:solidFill>
              </a:rPr>
              <a:t>snp_df</a:t>
            </a:r>
            <a:r>
              <a:rPr lang="en-US" sz="1900" dirty="0">
                <a:solidFill>
                  <a:schemeClr val="accent4">
                    <a:lumMod val="75000"/>
                  </a:schemeClr>
                </a:solidFill>
              </a:rPr>
              <a:t>&lt;-</a:t>
            </a:r>
            <a:r>
              <a:rPr lang="en-US" sz="1900" dirty="0" err="1">
                <a:solidFill>
                  <a:schemeClr val="accent4">
                    <a:lumMod val="75000"/>
                  </a:schemeClr>
                </a:solidFill>
              </a:rPr>
              <a:t>data.frame</a:t>
            </a:r>
            <a:r>
              <a:rPr lang="en-US" sz="1900" dirty="0">
                <a:solidFill>
                  <a:schemeClr val="accent4">
                    <a:lumMod val="75000"/>
                  </a:schemeClr>
                </a:solidFill>
              </a:rPr>
              <a:t>(</a:t>
            </a:r>
            <a:r>
              <a:rPr lang="en-US" sz="1900" dirty="0" err="1">
                <a:solidFill>
                  <a:schemeClr val="accent4">
                    <a:lumMod val="75000"/>
                  </a:schemeClr>
                </a:solidFill>
              </a:rPr>
              <a:t>SNP,fstsubset</a:t>
            </a:r>
            <a:r>
              <a:rPr lang="en-US" sz="1900" dirty="0">
                <a:solidFill>
                  <a:schemeClr val="accent4">
                    <a:lumMod val="75000"/>
                  </a:schemeClr>
                </a:solidFill>
              </a:rPr>
              <a:t>)</a:t>
            </a:r>
          </a:p>
          <a:p>
            <a:r>
              <a:rPr lang="en-US" sz="1900" dirty="0">
                <a:solidFill>
                  <a:schemeClr val="accent4">
                    <a:lumMod val="75000"/>
                  </a:schemeClr>
                </a:solidFill>
              </a:rPr>
              <a:t>  </a:t>
            </a:r>
            <a:r>
              <a:rPr lang="en-US" sz="1900" dirty="0" err="1">
                <a:solidFill>
                  <a:schemeClr val="accent4">
                    <a:lumMod val="75000"/>
                  </a:schemeClr>
                </a:solidFill>
              </a:rPr>
              <a:t>manhattan</a:t>
            </a:r>
            <a:r>
              <a:rPr lang="en-US" sz="1900" dirty="0">
                <a:solidFill>
                  <a:schemeClr val="accent4">
                    <a:lumMod val="75000"/>
                  </a:schemeClr>
                </a:solidFill>
              </a:rPr>
              <a:t>(</a:t>
            </a:r>
            <a:r>
              <a:rPr lang="en-US" sz="1900" dirty="0" err="1">
                <a:solidFill>
                  <a:schemeClr val="accent4">
                    <a:lumMod val="75000"/>
                  </a:schemeClr>
                </a:solidFill>
              </a:rPr>
              <a:t>snp_df,chr</a:t>
            </a:r>
            <a:r>
              <a:rPr lang="en-US" sz="1900" dirty="0">
                <a:solidFill>
                  <a:schemeClr val="accent4">
                    <a:lumMod val="75000"/>
                  </a:schemeClr>
                </a:solidFill>
              </a:rPr>
              <a:t>="</a:t>
            </a:r>
            <a:r>
              <a:rPr lang="en-US" sz="1900" dirty="0" err="1">
                <a:solidFill>
                  <a:schemeClr val="accent4">
                    <a:lumMod val="75000"/>
                  </a:schemeClr>
                </a:solidFill>
              </a:rPr>
              <a:t>CHROM",bp</a:t>
            </a:r>
            <a:r>
              <a:rPr lang="en-US" sz="1900" dirty="0">
                <a:solidFill>
                  <a:schemeClr val="accent4">
                    <a:lumMod val="75000"/>
                  </a:schemeClr>
                </a:solidFill>
              </a:rPr>
              <a:t>="</a:t>
            </a:r>
            <a:r>
              <a:rPr lang="en-US" sz="1900" dirty="0" err="1">
                <a:solidFill>
                  <a:schemeClr val="accent4">
                    <a:lumMod val="75000"/>
                  </a:schemeClr>
                </a:solidFill>
              </a:rPr>
              <a:t>BIN_START",p</a:t>
            </a:r>
            <a:r>
              <a:rPr lang="en-US" sz="1900" dirty="0">
                <a:solidFill>
                  <a:schemeClr val="accent4">
                    <a:lumMod val="75000"/>
                  </a:schemeClr>
                </a:solidFill>
              </a:rPr>
              <a:t>="WEIGHTED_FST",</a:t>
            </a:r>
          </a:p>
          <a:p>
            <a:r>
              <a:rPr lang="en-US" sz="1900" dirty="0">
                <a:solidFill>
                  <a:schemeClr val="accent4">
                    <a:lumMod val="75000"/>
                  </a:schemeClr>
                </a:solidFill>
              </a:rPr>
              <a:t>            </a:t>
            </a:r>
            <a:r>
              <a:rPr lang="en-US" sz="1900" dirty="0" err="1">
                <a:solidFill>
                  <a:schemeClr val="accent4">
                    <a:lumMod val="75000"/>
                  </a:schemeClr>
                </a:solidFill>
              </a:rPr>
              <a:t>snp</a:t>
            </a:r>
            <a:r>
              <a:rPr lang="en-US" sz="1900" dirty="0">
                <a:solidFill>
                  <a:schemeClr val="accent4">
                    <a:lumMod val="75000"/>
                  </a:schemeClr>
                </a:solidFill>
              </a:rPr>
              <a:t>="SNP",</a:t>
            </a:r>
            <a:r>
              <a:rPr lang="en-US" sz="1900" dirty="0" err="1">
                <a:solidFill>
                  <a:schemeClr val="accent4">
                    <a:lumMod val="75000"/>
                  </a:schemeClr>
                </a:solidFill>
              </a:rPr>
              <a:t>logp</a:t>
            </a:r>
            <a:r>
              <a:rPr lang="en-US" sz="1900" dirty="0">
                <a:solidFill>
                  <a:schemeClr val="accent4">
                    <a:lumMod val="75000"/>
                  </a:schemeClr>
                </a:solidFill>
              </a:rPr>
              <a:t>=FALSE, </a:t>
            </a:r>
            <a:r>
              <a:rPr lang="en-US" sz="1900" dirty="0" err="1">
                <a:solidFill>
                  <a:schemeClr val="accent4">
                    <a:lumMod val="75000"/>
                  </a:schemeClr>
                </a:solidFill>
              </a:rPr>
              <a:t>ylab</a:t>
            </a:r>
            <a:r>
              <a:rPr lang="en-US" sz="1900" dirty="0">
                <a:solidFill>
                  <a:schemeClr val="accent4">
                    <a:lumMod val="75000"/>
                  </a:schemeClr>
                </a:solidFill>
              </a:rPr>
              <a:t>="Weir and Cockerham </a:t>
            </a:r>
            <a:r>
              <a:rPr lang="en-US" sz="1900" dirty="0" err="1">
                <a:solidFill>
                  <a:schemeClr val="accent4">
                    <a:lumMod val="75000"/>
                  </a:schemeClr>
                </a:solidFill>
              </a:rPr>
              <a:t>Fst</a:t>
            </a:r>
            <a:r>
              <a:rPr lang="en-US" sz="1900" dirty="0">
                <a:solidFill>
                  <a:schemeClr val="accent4">
                    <a:lumMod val="75000"/>
                  </a:schemeClr>
                </a:solidFill>
              </a:rPr>
              <a:t>", </a:t>
            </a:r>
          </a:p>
          <a:p>
            <a:r>
              <a:rPr lang="en-US" sz="1900" dirty="0">
                <a:solidFill>
                  <a:schemeClr val="accent4">
                    <a:lumMod val="75000"/>
                  </a:schemeClr>
                </a:solidFill>
              </a:rPr>
              <a:t>            main=</a:t>
            </a:r>
            <a:r>
              <a:rPr lang="en-US" sz="1900" dirty="0" err="1">
                <a:solidFill>
                  <a:schemeClr val="accent4">
                    <a:lumMod val="75000"/>
                  </a:schemeClr>
                </a:solidFill>
              </a:rPr>
              <a:t>title_name</a:t>
            </a:r>
            <a:r>
              <a:rPr lang="en-US" sz="1900" dirty="0">
                <a:solidFill>
                  <a:schemeClr val="accent4">
                    <a:lumMod val="75000"/>
                  </a:schemeClr>
                </a:solidFill>
              </a:rPr>
              <a:t>, </a:t>
            </a:r>
            <a:r>
              <a:rPr lang="en-US" sz="1900" dirty="0" err="1">
                <a:solidFill>
                  <a:schemeClr val="accent4">
                    <a:lumMod val="75000"/>
                  </a:schemeClr>
                </a:solidFill>
              </a:rPr>
              <a:t>cex</a:t>
            </a:r>
            <a:r>
              <a:rPr lang="en-US" sz="1900" dirty="0">
                <a:solidFill>
                  <a:schemeClr val="accent4">
                    <a:lumMod val="75000"/>
                  </a:schemeClr>
                </a:solidFill>
              </a:rPr>
              <a:t>=1.5)</a:t>
            </a:r>
          </a:p>
          <a:p>
            <a:r>
              <a:rPr lang="en-US" sz="1900" dirty="0">
                <a:solidFill>
                  <a:schemeClr val="accent4">
                    <a:lumMod val="75000"/>
                  </a:schemeClr>
                </a:solidFill>
              </a:rPr>
              <a:t>}</a:t>
            </a:r>
          </a:p>
          <a:p>
            <a:endParaRPr lang="en-US" sz="1900" dirty="0">
              <a:solidFill>
                <a:schemeClr val="accent4">
                  <a:lumMod val="75000"/>
                </a:schemeClr>
              </a:solidFill>
            </a:endParaRPr>
          </a:p>
          <a:p>
            <a:r>
              <a:rPr lang="en-US" sz="1900" dirty="0" err="1">
                <a:solidFill>
                  <a:schemeClr val="accent4">
                    <a:lumMod val="75000"/>
                  </a:schemeClr>
                </a:solidFill>
              </a:rPr>
              <a:t>plot_fst</a:t>
            </a:r>
            <a:r>
              <a:rPr lang="en-US" sz="1900" dirty="0">
                <a:solidFill>
                  <a:schemeClr val="accent4">
                    <a:lumMod val="75000"/>
                  </a:schemeClr>
                </a:solidFill>
              </a:rPr>
              <a:t>("output/windowed_fst_viti_vanua_75.windowed.weir.fst", </a:t>
            </a:r>
          </a:p>
          <a:p>
            <a:r>
              <a:rPr lang="en-US" sz="1900" dirty="0">
                <a:solidFill>
                  <a:schemeClr val="accent4">
                    <a:lumMod val="75000"/>
                  </a:schemeClr>
                </a:solidFill>
              </a:rPr>
              <a:t>         "Viti </a:t>
            </a:r>
            <a:r>
              <a:rPr lang="en-US" sz="1900" dirty="0" err="1">
                <a:solidFill>
                  <a:schemeClr val="accent4">
                    <a:lumMod val="75000"/>
                  </a:schemeClr>
                </a:solidFill>
              </a:rPr>
              <a:t>Levu</a:t>
            </a:r>
            <a:r>
              <a:rPr lang="en-US" sz="1900" dirty="0">
                <a:solidFill>
                  <a:schemeClr val="accent4">
                    <a:lumMod val="75000"/>
                  </a:schemeClr>
                </a:solidFill>
              </a:rPr>
              <a:t> vs Vanua </a:t>
            </a:r>
            <a:r>
              <a:rPr lang="en-US" sz="1900" dirty="0" err="1">
                <a:solidFill>
                  <a:schemeClr val="accent4">
                    <a:lumMod val="75000"/>
                  </a:schemeClr>
                </a:solidFill>
              </a:rPr>
              <a:t>Levu</a:t>
            </a:r>
            <a:r>
              <a:rPr lang="en-US" sz="1900" dirty="0">
                <a:solidFill>
                  <a:schemeClr val="accent4">
                    <a:lumMod val="75000"/>
                  </a:schemeClr>
                </a:solidFill>
              </a:rPr>
              <a:t> Group")</a:t>
            </a:r>
          </a:p>
          <a:p>
            <a:endParaRPr lang="en-US" sz="1900" dirty="0">
              <a:solidFill>
                <a:schemeClr val="accent4">
                  <a:lumMod val="75000"/>
                </a:schemeClr>
              </a:solidFill>
            </a:endParaRPr>
          </a:p>
          <a:p>
            <a:r>
              <a:rPr lang="en-US" sz="1900" dirty="0" err="1">
                <a:solidFill>
                  <a:schemeClr val="accent4">
                    <a:lumMod val="75000"/>
                  </a:schemeClr>
                </a:solidFill>
              </a:rPr>
              <a:t>plot_fst</a:t>
            </a:r>
            <a:r>
              <a:rPr lang="en-US" sz="1900" dirty="0">
                <a:solidFill>
                  <a:schemeClr val="accent4">
                    <a:lumMod val="75000"/>
                  </a:schemeClr>
                </a:solidFill>
              </a:rPr>
              <a:t>("output/windowed_fst_white_yellow_75.windowed.weir.fst", </a:t>
            </a:r>
          </a:p>
          <a:p>
            <a:r>
              <a:rPr lang="en-US" sz="1900" dirty="0">
                <a:solidFill>
                  <a:schemeClr val="accent4">
                    <a:lumMod val="75000"/>
                  </a:schemeClr>
                </a:solidFill>
              </a:rPr>
              <a:t>         "White vs Yellow Throat")</a:t>
            </a:r>
          </a:p>
        </p:txBody>
      </p:sp>
    </p:spTree>
    <p:extLst>
      <p:ext uri="{BB962C8B-B14F-4D97-AF65-F5344CB8AC3E}">
        <p14:creationId xmlns:p14="http://schemas.microsoft.com/office/powerpoint/2010/main" val="162047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8272F-96AB-B032-5F2A-C1C41509E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C981B-EF94-D6A7-9C79-2689263FDE92}"/>
              </a:ext>
            </a:extLst>
          </p:cNvPr>
          <p:cNvSpPr>
            <a:spLocks noGrp="1"/>
          </p:cNvSpPr>
          <p:nvPr>
            <p:ph type="title"/>
          </p:nvPr>
        </p:nvSpPr>
        <p:spPr/>
        <p:txBody>
          <a:bodyPr/>
          <a:lstStyle/>
          <a:p>
            <a:r>
              <a:rPr lang="en-US" dirty="0" err="1">
                <a:latin typeface="Aharoni" panose="02010803020104030203" pitchFamily="2" charset="-79"/>
                <a:cs typeface="Aharoni" panose="02010803020104030203" pitchFamily="2" charset="-79"/>
              </a:rPr>
              <a:t>Interpretting</a:t>
            </a:r>
            <a:r>
              <a:rPr lang="en-US" dirty="0">
                <a:latin typeface="Aharoni" panose="02010803020104030203" pitchFamily="2" charset="-79"/>
                <a:cs typeface="Aharoni" panose="02010803020104030203" pitchFamily="2" charset="-79"/>
              </a:rPr>
              <a:t> the output</a:t>
            </a:r>
          </a:p>
        </p:txBody>
      </p:sp>
      <p:sp>
        <p:nvSpPr>
          <p:cNvPr id="6" name="Content Placeholder 2">
            <a:extLst>
              <a:ext uri="{FF2B5EF4-FFF2-40B4-BE49-F238E27FC236}">
                <a16:creationId xmlns:a16="http://schemas.microsoft.com/office/drawing/2014/main" id="{9F03069B-FC77-A2AA-DE76-311E20D76E2E}"/>
              </a:ext>
            </a:extLst>
          </p:cNvPr>
          <p:cNvSpPr>
            <a:spLocks noGrp="1"/>
          </p:cNvSpPr>
          <p:nvPr>
            <p:ph idx="1"/>
          </p:nvPr>
        </p:nvSpPr>
        <p:spPr>
          <a:xfrm>
            <a:off x="838200" y="1884556"/>
            <a:ext cx="10870580" cy="4817327"/>
          </a:xfrm>
        </p:spPr>
        <p:txBody>
          <a:bodyPr>
            <a:normAutofit/>
          </a:bodyPr>
          <a:lstStyle/>
          <a:p>
            <a:r>
              <a:rPr lang="en-US" dirty="0">
                <a:latin typeface="Abadi" panose="020B0604020104020204" pitchFamily="34" charset="0"/>
              </a:rPr>
              <a:t>You will want to look at the broad characteristics</a:t>
            </a:r>
          </a:p>
          <a:p>
            <a:pPr lvl="1"/>
            <a:r>
              <a:rPr lang="en-US" dirty="0">
                <a:latin typeface="Abadi" panose="020B0604020104020204" pitchFamily="34" charset="0"/>
              </a:rPr>
              <a:t>Is the divergence concentrated in few regions? Or is it random?</a:t>
            </a:r>
          </a:p>
          <a:p>
            <a:pPr lvl="1"/>
            <a:r>
              <a:rPr lang="en-US" dirty="0">
                <a:latin typeface="Abadi" panose="020B0604020104020204" pitchFamily="34" charset="0"/>
              </a:rPr>
              <a:t>Is the overall divergence too high to detect patterns?</a:t>
            </a:r>
          </a:p>
          <a:p>
            <a:r>
              <a:rPr lang="en-US" dirty="0">
                <a:latin typeface="Abadi" panose="020B0604020104020204" pitchFamily="34" charset="0"/>
              </a:rPr>
              <a:t>Save the plot and your overall impression in your document</a:t>
            </a:r>
          </a:p>
        </p:txBody>
      </p:sp>
      <p:pic>
        <p:nvPicPr>
          <p:cNvPr id="10" name="Picture 9">
            <a:extLst>
              <a:ext uri="{FF2B5EF4-FFF2-40B4-BE49-F238E27FC236}">
                <a16:creationId xmlns:a16="http://schemas.microsoft.com/office/drawing/2014/main" id="{20B41B13-3A12-4A21-25F7-201827D0057A}"/>
              </a:ext>
            </a:extLst>
          </p:cNvPr>
          <p:cNvPicPr>
            <a:picLocks noChangeAspect="1"/>
          </p:cNvPicPr>
          <p:nvPr/>
        </p:nvPicPr>
        <p:blipFill>
          <a:blip r:embed="rId2"/>
          <a:stretch>
            <a:fillRect/>
          </a:stretch>
        </p:blipFill>
        <p:spPr>
          <a:xfrm>
            <a:off x="483220" y="3632582"/>
            <a:ext cx="5395842" cy="3225417"/>
          </a:xfrm>
          <a:prstGeom prst="rect">
            <a:avLst/>
          </a:prstGeom>
        </p:spPr>
      </p:pic>
      <p:pic>
        <p:nvPicPr>
          <p:cNvPr id="12" name="Picture 11">
            <a:extLst>
              <a:ext uri="{FF2B5EF4-FFF2-40B4-BE49-F238E27FC236}">
                <a16:creationId xmlns:a16="http://schemas.microsoft.com/office/drawing/2014/main" id="{F119ACC5-C7EA-C3F8-0DFA-6CBCA5E223A1}"/>
              </a:ext>
            </a:extLst>
          </p:cNvPr>
          <p:cNvPicPr>
            <a:picLocks noChangeAspect="1"/>
          </p:cNvPicPr>
          <p:nvPr/>
        </p:nvPicPr>
        <p:blipFill>
          <a:blip r:embed="rId3"/>
          <a:stretch>
            <a:fillRect/>
          </a:stretch>
        </p:blipFill>
        <p:spPr>
          <a:xfrm>
            <a:off x="6312939" y="3641089"/>
            <a:ext cx="5496201" cy="3203342"/>
          </a:xfrm>
          <a:prstGeom prst="rect">
            <a:avLst/>
          </a:prstGeom>
        </p:spPr>
      </p:pic>
    </p:spTree>
    <p:extLst>
      <p:ext uri="{BB962C8B-B14F-4D97-AF65-F5344CB8AC3E}">
        <p14:creationId xmlns:p14="http://schemas.microsoft.com/office/powerpoint/2010/main" val="297259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B3D19-54E7-53A5-3057-895390AD4B4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AD81B3F-E43D-101B-9AD4-61F56EDDDBC8}"/>
              </a:ext>
            </a:extLst>
          </p:cNvPr>
          <p:cNvPicPr>
            <a:picLocks noChangeAspect="1"/>
          </p:cNvPicPr>
          <p:nvPr/>
        </p:nvPicPr>
        <p:blipFill>
          <a:blip r:embed="rId2"/>
          <a:stretch>
            <a:fillRect/>
          </a:stretch>
        </p:blipFill>
        <p:spPr>
          <a:xfrm>
            <a:off x="483220" y="227800"/>
            <a:ext cx="11091746" cy="6630199"/>
          </a:xfrm>
          <a:prstGeom prst="rect">
            <a:avLst/>
          </a:prstGeom>
        </p:spPr>
      </p:pic>
      <p:sp>
        <p:nvSpPr>
          <p:cNvPr id="8" name="TextBox 7">
            <a:extLst>
              <a:ext uri="{FF2B5EF4-FFF2-40B4-BE49-F238E27FC236}">
                <a16:creationId xmlns:a16="http://schemas.microsoft.com/office/drawing/2014/main" id="{716E879F-4050-529C-4C8E-EA82479E23F1}"/>
              </a:ext>
            </a:extLst>
          </p:cNvPr>
          <p:cNvSpPr txBox="1"/>
          <p:nvPr/>
        </p:nvSpPr>
        <p:spPr>
          <a:xfrm>
            <a:off x="617034" y="227800"/>
            <a:ext cx="3962816" cy="523220"/>
          </a:xfrm>
          <a:prstGeom prst="rect">
            <a:avLst/>
          </a:prstGeom>
          <a:noFill/>
        </p:spPr>
        <p:txBody>
          <a:bodyPr wrap="none" rtlCol="0">
            <a:spAutoFit/>
          </a:bodyPr>
          <a:lstStyle/>
          <a:p>
            <a:r>
              <a:rPr lang="en-US" sz="2800" dirty="0"/>
              <a:t>Too high to see anything!</a:t>
            </a:r>
          </a:p>
        </p:txBody>
      </p:sp>
    </p:spTree>
    <p:extLst>
      <p:ext uri="{BB962C8B-B14F-4D97-AF65-F5344CB8AC3E}">
        <p14:creationId xmlns:p14="http://schemas.microsoft.com/office/powerpoint/2010/main" val="3566571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BF10A-D5A3-5A9A-924F-0BE8AB92EDD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2972E1-14FF-3454-6C81-5149ED6C745B}"/>
              </a:ext>
            </a:extLst>
          </p:cNvPr>
          <p:cNvPicPr>
            <a:picLocks noChangeAspect="1"/>
          </p:cNvPicPr>
          <p:nvPr/>
        </p:nvPicPr>
        <p:blipFill>
          <a:blip r:embed="rId2"/>
          <a:stretch>
            <a:fillRect/>
          </a:stretch>
        </p:blipFill>
        <p:spPr>
          <a:xfrm>
            <a:off x="903249" y="488168"/>
            <a:ext cx="10661313" cy="6213715"/>
          </a:xfrm>
          <a:prstGeom prst="rect">
            <a:avLst/>
          </a:prstGeom>
        </p:spPr>
      </p:pic>
      <p:sp>
        <p:nvSpPr>
          <p:cNvPr id="5" name="TextBox 4">
            <a:extLst>
              <a:ext uri="{FF2B5EF4-FFF2-40B4-BE49-F238E27FC236}">
                <a16:creationId xmlns:a16="http://schemas.microsoft.com/office/drawing/2014/main" id="{8B03ABDA-4A12-CB78-AFCB-3FFA03D603BB}"/>
              </a:ext>
            </a:extLst>
          </p:cNvPr>
          <p:cNvSpPr txBox="1"/>
          <p:nvPr/>
        </p:nvSpPr>
        <p:spPr>
          <a:xfrm>
            <a:off x="9344082" y="707302"/>
            <a:ext cx="2220480" cy="523220"/>
          </a:xfrm>
          <a:prstGeom prst="rect">
            <a:avLst/>
          </a:prstGeom>
          <a:noFill/>
        </p:spPr>
        <p:txBody>
          <a:bodyPr wrap="none" rtlCol="0">
            <a:spAutoFit/>
          </a:bodyPr>
          <a:lstStyle/>
          <a:p>
            <a:r>
              <a:rPr lang="en-US" sz="2800" dirty="0"/>
              <a:t>Big peak on Z</a:t>
            </a:r>
          </a:p>
        </p:txBody>
      </p:sp>
      <p:sp>
        <p:nvSpPr>
          <p:cNvPr id="7" name="TextBox 6">
            <a:extLst>
              <a:ext uri="{FF2B5EF4-FFF2-40B4-BE49-F238E27FC236}">
                <a16:creationId xmlns:a16="http://schemas.microsoft.com/office/drawing/2014/main" id="{40928240-0BED-6548-143A-A770CD5FEA91}"/>
              </a:ext>
            </a:extLst>
          </p:cNvPr>
          <p:cNvSpPr txBox="1"/>
          <p:nvPr/>
        </p:nvSpPr>
        <p:spPr>
          <a:xfrm>
            <a:off x="2794225" y="884834"/>
            <a:ext cx="5192896" cy="523220"/>
          </a:xfrm>
          <a:prstGeom prst="rect">
            <a:avLst/>
          </a:prstGeom>
          <a:noFill/>
        </p:spPr>
        <p:txBody>
          <a:bodyPr wrap="none" rtlCol="0">
            <a:spAutoFit/>
          </a:bodyPr>
          <a:lstStyle/>
          <a:p>
            <a:r>
              <a:rPr lang="en-US" sz="2800" dirty="0"/>
              <a:t>Other peaks on large autosomes</a:t>
            </a:r>
          </a:p>
        </p:txBody>
      </p:sp>
    </p:spTree>
    <p:extLst>
      <p:ext uri="{BB962C8B-B14F-4D97-AF65-F5344CB8AC3E}">
        <p14:creationId xmlns:p14="http://schemas.microsoft.com/office/powerpoint/2010/main" val="2258472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5169</TotalTime>
  <Words>873</Words>
  <Application>Microsoft Office PowerPoint</Application>
  <PresentationFormat>Widescreen</PresentationFormat>
  <Paragraphs>90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Abadi</vt:lpstr>
      <vt:lpstr>Aharoni</vt:lpstr>
      <vt:lpstr>Aptos</vt:lpstr>
      <vt:lpstr>Aptos Display</vt:lpstr>
      <vt:lpstr>Arial</vt:lpstr>
      <vt:lpstr>GillSansRegular</vt:lpstr>
      <vt:lpstr>Office Theme</vt:lpstr>
      <vt:lpstr>Windowed summary stats</vt:lpstr>
      <vt:lpstr>Windowed analyses </vt:lpstr>
      <vt:lpstr>Windowed analyses </vt:lpstr>
      <vt:lpstr>PowerPoint Presentation</vt:lpstr>
      <vt:lpstr>Choosing populations to compare</vt:lpstr>
      <vt:lpstr>Making new input</vt:lpstr>
      <vt:lpstr>Running the windowed FST</vt:lpstr>
      <vt:lpstr>Preparing the output to plot</vt:lpstr>
      <vt:lpstr>Plotting</vt:lpstr>
      <vt:lpstr>Interpretting the output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Gyllenhaal</dc:creator>
  <cp:lastModifiedBy>Ethan Gyllenhaal</cp:lastModifiedBy>
  <cp:revision>933</cp:revision>
  <dcterms:created xsi:type="dcterms:W3CDTF">2026-07-08T01:44:49Z</dcterms:created>
  <dcterms:modified xsi:type="dcterms:W3CDTF">2026-07-22T09:44:06Z</dcterms:modified>
</cp:coreProperties>
</file>